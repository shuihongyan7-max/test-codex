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 20 秒。论文标题中的 Catch-all 指优先消除漏报，No-false-alarm 指优先消除误报。不要把无误报解释为完美审计。封面汇报人与日期为可编辑字段，避免沿用模板的旧汇报日期。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 25 秒。作者为 Chengzhang Li 和 Yuanchen Li，分别来自上海交通大学和同济大学相关单位。本文 2026 年发表于 POM，所提供 PDF 是 21 页的在线文章版本。左边保留原文首页片段。基准模型中只有买方做序贯决策，供应商的合规概率外生；供应商策略性努力在第 6.1 节引入。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 15 秒。七部分与用户提供的模板一致。正文 32 页，其中模型构建与均衡分析是重点。附录 6 页放完整条件、计算依据和复杂拓展命题，不计入常规汇报时间。可根据现场讨论调整每页速度。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 55 秒。全球分工使品牌大量采购海外投入品，但供应商的劳动、人权、安全和环境问题可转化为买方声誉与经济损失。论文列举 Apple、IKEA、Walmart、Starbucks 的责任审计，以及整改和替换两类后续行动。案例仅用于说明动机，不是本文模型的实证检验。对 Dyson 的表述保持“被指控”，不把指控当作已判定事实。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 65 秒。表中是给定真实类型后的条件概率，α 和 β 不是无条件出错概率。Type I 是合规被判失败，Type II 是违规被判通过。误报后无论整改还是替换，都可能浪费治理成本；但本文的一类声誉损失 Dα 只在错误替换发生并被外部观察后产生。整改保持关系，在模型中避免该项损失。论文以 Maggi 检测争议和供应商指控争议说明误报风险。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 45 秒。先提出四个问题而不是立即给结论。第一是控制哪一种错误，第二是失败后整改还是替换，第三是在供应商间如何分配资源且审计多少家，第四是私益与社会效果是否一致。后续四组分析按这个顺序回答。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 45 秒。责任采购文献研究审计激励、信息披露和审计规避；响应治理文献研究发现问题后如何整改或退出；网络审计文献研究协作、结构和优先级。Guo 等 2017 已考虑两类错误，但错误率外生，重点在认证信号。本文的定位是内生选择错误组合，同时选择治理方案及网络资源分配。不要声称本文首次提出两类审计错误。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 55 秒。两个供应商不是互相替代的货源，各提供一个不同投入品，买方装配最终产品。基准假设供应商对称，合规状态由外生概率 e 决定，不主动调整努力。供应商状态独立的设定对应后文的乘积社会风险公式。整改和替换都能使被处理的投入品完全合规。主模型是单个买方的多阶段优化；只有内生责任努力拓展涉及买方与供应商的策略互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 55 秒。x 是是否审计，α 和 β 是条件误判率，Ai 是整体正确分类概率。o 为结果，未审计时记为空。Δs 与 Δr 是买方的治理成本，Dα 和 Dβ 则是已乘外部发现概率的预期声誉或经济损失。审计预算 B 在基准模型中是约束，并不再次作为成本从收益中扣除；第 6.2 节才内生化预算并减去真实审计成本。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 60 秒。Ai 等于两类真实状态下正确分类概率的加权和。固定 Ai 时，误报减少必然以漏报增加为代价，这是模型的等准确度线，不等于宣称任何真实审计技术都允许任意错误组合。二次支出使提升准确度的边际成本递增。原文叙述要求准确度优于先验，正式约束使用 ≥e；本汇报按正式公式列示，边界可视为弱不等式或极限。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 55 秒。原图列出了真实状态、报告和后续损失的分支。按三阶段讲：买方先选审计对象和误差组合，看到审计结果后决定替换或整改，最终获取交易利润并承担外部发现带来的损失。买方不能直接观察真实状态，所以失败后决策依赖贝叶斯后验。替换或整改是审计结果之后的响应，而不是在结果实现前固定一个与结果无关的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 55 秒。四个审计事件的无条件概率加起来等于 1。合规且失败的概率为 eα，若替换产生 Δs 及额外 Dα；若整改只有 Δr。违规且失败会被治理，避免违规投入品留在最终产品中。违规但通过的概率是 (1−e)β，只承担暴露时的预期 Dβ。未审计时不治理，期望损失为 (1−e)Dβ。表中的 D 都已加权了公众发现概率。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 85 秒。失败后可能是真违规，也可能是误报。后验合规概率等于误报事件的概率除以全部失败概率。替换的条件预期成本为 Δs 加后验合规概率乘 Dα，整改成本为 Δr。所以选择替换当且仅当替换成本优势超过错误替换的条件预期损失。若 pᵢ=0，失败事件不会发生，不需要定义该事件上的后验。装配网络下该阈值只取决于本供应商，治理动作可逐个求解。相等时买方无差异。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 90 秒。买方最大化固定交易利润 Π 减两家供应商的期望损失。给定审计误差，p 是失败概率，整改总损失 pΔr 加漏报损失；替换总损失 pΔs 加误报声誉损失及漏报损失，取二者较小者。未审计损失为 (1−e)Dβ。基准中审计成本只进入预算约束，不从 Π 中重复扣除。代入最优治理后，问题有离散覆盖决策、连续误差决策和二次预算约束。i 为未审计时相关误差变量不影响收益。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 55 秒。先解末阶段治理，得到后验阈值。再用一对一基准给出固定准确度的极端最优策略。扩展到两家时，先固定 b1、b2 解内层错误组合，再在预算圆弧上解外层分配。最后比较不审计、审计一家和两家三种覆盖方案。本章节沿用模板的“均衡分析”名称，但外生合规概率的主模型本质是买方的序贯最优决策，而不是供应商战略博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 65 秒。条件是买方决定审计，且预算能够支持有效审计。最大准确度 b0=min{1,√(2B)}。给定准确度时损失函数在整改和替换中取较小值，形成分段线性函数，最优误差可取端点。NFA 令 α=0，但只要 b&lt;1 就允许 β&gt;0；CA 令 β=0，但只要 b&lt;1 就允许 α&gt;0。若 e=1，公式 β 分母退化，需作为边界情形处理。审计门槛还要求治理成本低于违规损失，并满足最低资源要求。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 70 秒。横轴是整改成本，纵轴是替换成本；绿色横条表示 NFA，橙色竖条表示 CA，图中的 rectify/replace 又标记治理动作，二者不要混淆。左图 Dα=3，右图忽略一类损害 Dα=0。两类治理都很贵时，无效误判的治理浪费大，偏向避免误报；某一种治理很便宜时，偏向全面筛查。右上角两类治理成本都超过 Dβ 时不审计。中间政策与治理切换区才产生后续预算非单调结果。正文讲机制，完整不等式见附录。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 80 秒。数值参数 e=.5,Dα=3,Dβ=5.5,Δs=1.6,Δr=2，位于 (Dβ−Dα)/2&lt;Δs&lt;Δr&lt;Dβ/2 区间。条件为已审计单个供应商。低准确度采用 CA+整改，损失为 (2−e−b)Δr；高准确度 NFA+替换，损失为 (1−e)Δs+(1−b)(Dβ−Δs)。两条线相交于 b≈.8947，B≈.4003。b=.70 时选择 CA+整改，损失1.60且社会风险0；b=.95 时选择 NFA+替换，损失.995但社会风险.05。在阈值上，从0跃升到约.1053，之后随准确度提高下降。这里比较经济最优审计政策，不声称社会风险处处随预算增加。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 50 秒。红框区域是原文标明忽略 Dα 后可能决策不同的区域。失误有两类：错误地选择 CA 使误报风险暴露，或错误地替换本应整改的供应商。特别强调“忽略 type I damage”是令 Dα=0，不是强制令 α=0，也不是消除误报本身。误报仍会造成治理浪费。论文中的损失比较是把错误决策放回真实 Dα&gt;0 的环境评估，不是仅比较两个不同环境下的收益。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 65 秒。图3给定 b1=.88,b2=.72，是内层错误政策问题；它本身没有证明这组预算是最优分配。左图考虑 Dα=3，右图 Dα=0。成本组合处于切换区时，准确度较高者可享受低成本替换，较低者因误判风险需要整改；某些区域也会产生 NFA/CA 的混合。随后命题5才求外层最优预算。图中 b 是最大可达准确度，而实际资源金额为 b²/2。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 80 秒。此页条件是审计两家，图中采用前页算例 e=.5,Dα=3,Dβ=5.5,Δs=1.6,Δr=2。对每个 B 在二次预算可行圆弧上枚举8001个候选分配，并比较四类错误政策及治理损失。不同供应商可以位于不同政策分支，边际资源价值不同，因此对称不强制均分。低预算都整改，高预算都替换，中间可把一方推入低成本替换分支。此数值图是作者命题的解释性重算，不是原图或阈值的精确解析证明。命题5还允许两家都用CA但治理动作不同的不均分情形，不能把不均分限定为NFA/CA混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 75 秒。社会指标不是企业利润，而是至少一个违规投入品进入最终产品的概率。令单家漏出概率 qi=(1−e)βi，独立下 L=1−(1−q1)(1−q2)。两家CA时为0；一家NFA且另一家CA时等于1−b1；高预算均分且两家NFA时 b1=b2=√B，所以 L=1−B。在政策切换点，风险可能向上跳；每个固定分支内更高准确度仍改善筛查。图以已审计两家为条件，不能把这条线直接解释为所有预算下全局最优审计范围的社会效果。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 85 秒。图横轴 e，纵轴 B。固定一个 e，沿竖直方向增加预算观察审计数量。左图通常由不审计到一家再到两家。右图在一些先验参数下，中间预算可从两家回到一家，再回到两家。不是所有e都如此。左图 Dα=.306,Dβ=.72,Δr=.3,Δs=.6；右图 Dα=2.5,Dβ=3.6,Δr=1.3,Δs=.5。虚线 B=e² 是两家最低可行预算，实线下界 B=e²/2 是一家最低可行预算。右图不能与前面的自行计算参数混为一谈。e=1 是边界无差异情形。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 65 秒。低预算时集中资源提升一家准确度，中低预算足以审两家时用CA并整改。中高预算若集中一家可低误报地实施便宜替换，买方会宁愿承受另一家的固定违规风险，而不是分散资源后两家都只能昂贵整改。预算进一步升高，两家都能获得足够准确度，又恢复全覆盖。该解释既可适用于两家CA而治理切换，也可适用于错误政策同时切换，不能简单认定图4右图必须是从CA切NFA。未审计者的预期损失是 (1−e)Dβ。Dα=0 时这类覆盖反转消失。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 45 秒。这一页收束分析：根源是成本优势与误报风险共同导致政策和治理动作切换。预算仅扩大可行集合，企业最优收益弱增加，但社会指标不必单调。三个结果都是“可能”，不是一般情况下必然不均分、必须减少覆盖或预算一定有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 80 秒。该拓展针对一对一基准，不是完整两供应商装配博弈。供应商先选择 eS，成本 κeS²/2，然后买方观察努力选择审计及治理。供应商在交易中获得 ΠS，被整改自己承担 δr，被替换利润为0。δr 与买方整改成本 Δr 不同。命题8假定 κ/2&lt;δr&lt;ΠS&lt;κ 及足够预算。稳定整改分支努力 erS=δr/κ，稳定替换分支 esS=ΠS/κ，后者更高。中间区间存在边界努力，使买方正好愿意保留供应商，完整分段结果见附录，不能只用两个候选值覆盖所有情况。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 55 秒。如果纯策略候选合规努力 ePS 超过买方最大准确度 b0，就违反了有效审计条件；一旦不审计，供应商可能降低努力，买方又想审计，导致纯策略候选难以维持。文章提出买方事前承诺以 q 的概率启动审计。命题9在 1/2&lt;b0&lt;ePS 且 ePS属于稳定整改或替换分支时，用 q=b0/ePS 支持一个均衡。不要把这描述为证明所有低预算环境都有同一个混合策略纳什均衡；它是特定条件下的承诺随机政策。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 85 秒。恢复成本系数 c，买方现在最大化 π*(B)−B，因此不仅在预算内分配，还要决定是否值得投入。每个固定分支的期望毛利对 A 是线性的，斜率 w 为提高准确度的边际收益；减去 cA²/2 后一阶候选 A*=w/c，B*=w²/(2c)。表中列4个分支的 w，最终要比较分支是否自洽、A是否在(e,1]，以及不审计的收益。不能不加条件地使用 w/c 超过1的结果。核心切换区，c较低时偏向 NFA+替换，较高时偏向CA+整改，审计技术效率影响的不只是准确度。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 45 秒。把结论带回最初四个研究问题。第一，不能忽略误报，因为它不仅改变声誉损失，还会改变治理动作。第二，政策依赖成本和可达准确度，不能只问审计力度多大。第三，中等预算下可能出现不均分和覆盖反转。第四，企业利润最优与社会筛查最优有差距。拓展说明供应商激励与技术成本又会反馈至政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 45 秒。该页明确是汇报者评价，不是作者已验证的结果。线性等准确度线和自由选择误差组合使端点政策有明确表达；真实审计可行集合可能是受技术限制的ROC曲线。整改和替换完全成功使漏报是主要残余风险，若治理会失败则结论可能改变。两家对称、状态独立、逐供应商损失可加总使治理可分解，只有共享预算耦合；相关违规状态或非线性品牌声誉损失会改变分解。基准供应商不策略性响应，第6.1节仅在一对一扩展了努力内生化，不宜视为完整网络稳健性检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 30 秒。前三项来自作者结论部分：多个竞争买方共享上游供应商时存在外部性，需要协调；多层网络可能直接审计或委托审计，涉及激励；周期审计可与采购和风险状态动态演化结合。最后一项是汇报者补充：把真实ROC可行集合、治理失败及相关状态纳入，检验端点策略和非单调性是否稳健。区分作者提出的方向和个人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文到此结束。可讨论三个问题：如果整改可能失败，CA是否仍然保证零违规产品？如果误报只影响供应商、不影响买方声誉，谁会承担校验成本？如何用现实审计数据识别α、β与治理成本以检验覆盖反转？附录为讨论时备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附录供讨论查阅，不在30分钟主线中逐条念。条件为买方决定审计且可达准确度有效。这里将原文命题1完整主要分区译为表格。若Δs&gt;Δr，整改便宜，政策由Δr与Dβ/2决定。若Δr&gt;Δs且超出中间区间，政策由Δs与(Dβ−Dα)/2决定。中间区间中，若替换成本极低就总是CA，但治理仍能随预算切换；若替换成本在中等区间，政策会在b0跨过bbar后由CA转NFA。不能把极低替换成本区的不均预算误解为两家用了不同错误政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这四个式子由事件表逐项累加得到。NFA中失败概率是 b−e，CA中失败概率是2−e−b。NFA无误报损害，CA误报损害的无条件概率为1−b。每个b取四项的最小值，同时未审计损失为(1−e)Dβ。数值图对称下约束b1≥b2，沿两家预算圆弧枚举所有候选分配；每个候选比较全部四种政策，避免预先锁定治理动作。此表是汇报推导而不是复制原文新命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题5条件一：Δs&gt;Δr，或者Δr&gt;Δs且Δr&gt;min{Δs+Dα/2,Dβ/2}，预算总是均分。条件二的两种子情况为(a)Δs&lt;Δr&lt;Δs+Dα/2且Δs&lt;(Dβ−Dα)/2，(b)(Dβ−Dα)/2&lt;Δs&lt;Δr&lt;Dβ/2，均可在中等预算出现不均分。其中a两家仍然都采用CA，只是整改与替换动作可能不同；b还可能出现一方NFA另一方CA。这区分是汇报中容易混淆的关键。完整BL与BU闭式定义在补充材料，此上传正文没有EC附件，因此不伪造阈值表达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该公式把未审计与被审计统一起来。在独立供应商状态下，单家残余违规概率是 qi=(1−xi)(1−e)+xi(1−e)βi，治理成功使失败分支没有残余风险。最终装配产品只要任一输入违规就违规，所以总体是1−乘积。未审计两家为1−e²。只审一家CA也仍有未审计者风险1−e，不能宣称整个网络零违规。只审一家NFA时为1−e b0。主文命题6以审计两家为条件，而本文算例的社会曲线也使用该条件。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侧为论文第16页命题8的主要内容。其假设κ/2&lt;δr&lt;ΠS&lt;κ在第15页命题开头，见本页右侧。复杂中间区间用边界努力e-bar/e-doublebar维持买方对治理或错误政策的无差异。ε是足够小的扰动；阈值ΠS-bar等在原命题定义及补充证明中，不在汇报中擅自简化。这是单供应商拓展，不是两家装配网络预算分配的完整内生努力求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侧为原文命题10，右上保留内生预算优化约束。原文讨论的是审计最优且候选准确度在(e,1]的非平凡区间；超出该条件时，要检查完全准确边界、最低有效准确度边界或不审计。一个分支内若w为常量，A*=w/c、B*=w²/(2c)，因此成本系数上升使投入减少；跨分支时要比较净收益。不存在任意c下直接把未裁剪w/c当作完整全局解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Relationship Id="rId4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Relationship Id="rId4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Relationship Id="rId4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Relationship Id="rId4" Type="http://schemas.openxmlformats.org/officeDocument/2006/relationships/image" Target="../media/image2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Relationship Id="rId4" Type="http://schemas.openxmlformats.org/officeDocument/2006/relationships/image" Target="../media/image2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Relationship Id="rId4" Type="http://schemas.openxmlformats.org/officeDocument/2006/relationships/image" Target="../media/image2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Relationship Id="rId4" Type="http://schemas.openxmlformats.org/officeDocument/2006/relationships/image" Target="../media/image2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3.xml"/><Relationship Id="rId4" Type="http://schemas.openxmlformats.org/officeDocument/2006/relationships/image" Target="../media/image2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6.xml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7.xml"/><Relationship Id="rId4" Type="http://schemas.openxmlformats.org/officeDocument/2006/relationships/image" Target="../media/image2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8.xml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0472" y="585216"/>
            <a:ext cx="8046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243746"/>
                </a:solidFill>
                <a:latin typeface="Noto Sans CJK SC"/>
                <a:ea typeface="Noto Sans CJK SC"/>
              </a:rPr>
              <a:t>组会文献汇报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768096"/>
            <a:ext cx="287121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07281"/>
                </a:solidFill>
                <a:latin typeface="Noto Sans CJK SC"/>
                <a:ea typeface="Noto Sans CJK SC"/>
              </a:rPr>
              <a:t>文献精读  /  POM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6473952"/>
            <a:ext cx="10963656" cy="0"/>
          </a:xfrm>
          <a:prstGeom prst="line">
            <a:avLst/>
          </a:prstGeom>
          <a:ln w="1270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519672"/>
            <a:ext cx="100584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607281"/>
                </a:solidFill>
                <a:latin typeface="Noto Sans CJK SC"/>
                <a:ea typeface="Noto Sans CJK SC"/>
              </a:rPr>
              <a:t>Li &amp; Li (2026) · DOI: 10.1177/10591478261468995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50138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87C95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865376"/>
            <a:ext cx="10314432" cy="1399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2500" b="1">
                <a:solidFill>
                  <a:srgbClr val="243746"/>
                </a:solidFill>
                <a:latin typeface="Noto Sans CJK SC"/>
                <a:ea typeface="Noto Sans CJK SC"/>
              </a:rPr>
              <a:t>Catch-All or No-False-Alarm?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2500" b="1">
                <a:solidFill>
                  <a:srgbClr val="243746"/>
                </a:solidFill>
                <a:latin typeface="Noto Sans CJK SC"/>
                <a:ea typeface="Noto Sans CJK SC"/>
              </a:rPr>
              <a:t>Managing Socially Responsible Supply Chains with Imperfect Audits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502152"/>
            <a:ext cx="10085832" cy="11338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2900" b="1">
                <a:solidFill>
                  <a:srgbClr val="587C95"/>
                </a:solidFill>
                <a:latin typeface="Noto Sans CJK SC"/>
                <a:ea typeface="Noto Sans CJK SC"/>
              </a:rPr>
              <a:t>全面筛查还是避免误报？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2900" b="1">
                <a:solidFill>
                  <a:srgbClr val="587C95"/>
                </a:solidFill>
                <a:latin typeface="Noto Sans CJK SC"/>
                <a:ea typeface="Noto Sans CJK SC"/>
              </a:rPr>
              <a:t>不完美审计下的社会责任供应链管理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4818888"/>
            <a:ext cx="9180576" cy="7955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800" b="0">
                <a:solidFill>
                  <a:srgbClr val="243746"/>
                </a:solidFill>
                <a:latin typeface="Noto Sans CJK SC"/>
                <a:ea typeface="Noto Sans CJK SC"/>
              </a:rPr>
              <a:t>Chengzhang Li · Yuanchen Li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800" b="0">
                <a:solidFill>
                  <a:srgbClr val="243746"/>
                </a:solidFill>
                <a:latin typeface="Noto Sans CJK SC"/>
                <a:ea typeface="Noto Sans CJK SC"/>
              </a:rPr>
              <a:t>Production and Operations Management，2026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5815584"/>
            <a:ext cx="7223760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800" b="0">
                <a:solidFill>
                  <a:srgbClr val="243746"/>
                </a:solidFill>
                <a:latin typeface="Noto Sans CJK SC"/>
                <a:ea typeface="Noto Sans CJK SC"/>
              </a:rPr>
              <a:t>汇报人：待填写        汇报日期：待填写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0472" y="585216"/>
            <a:ext cx="8046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243746"/>
                </a:solidFill>
                <a:latin typeface="Noto Sans CJK SC"/>
                <a:ea typeface="Noto Sans CJK SC"/>
              </a:rPr>
              <a:t>论文信息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768096"/>
            <a:ext cx="287121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07281"/>
                </a:solidFill>
                <a:latin typeface="Noto Sans CJK SC"/>
                <a:ea typeface="Noto Sans CJK SC"/>
              </a:rPr>
              <a:t>文献精读  /  POM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09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243746"/>
                </a:solidFill>
                <a:latin typeface="Noto Sans CJK SC"/>
                <a:ea typeface="Noto Sans CJK SC"/>
              </a:rPr>
              <a:t>文章定位：从“只防漏报”走向“两类错误联合管理”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473952"/>
            <a:ext cx="10963656" cy="0"/>
          </a:xfrm>
          <a:prstGeom prst="line">
            <a:avLst/>
          </a:prstGeom>
          <a:ln w="1270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9672"/>
            <a:ext cx="100584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607281"/>
                </a:solidFill>
                <a:latin typeface="Noto Sans CJK SC"/>
                <a:ea typeface="Noto Sans CJK SC"/>
              </a:rPr>
              <a:t>论文首页与摘要，pp. 1–3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0138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87C95"/>
                </a:solidFill>
                <a:latin typeface="Noto Sans CJK SC"/>
                <a:ea typeface="Noto Sans CJK SC"/>
              </a:rPr>
              <a:t>02</a:t>
            </a:r>
          </a:p>
        </p:txBody>
      </p:sp>
      <p:pic>
        <p:nvPicPr>
          <p:cNvPr id="9" name="Picture 8" descr="paper_hea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728336"/>
            <a:ext cx="6126480" cy="281864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040880" y="2377440"/>
            <a:ext cx="4343400" cy="1188720"/>
          </a:xfrm>
          <a:prstGeom prst="roundRect">
            <a:avLst>
              <a:gd name="adj" fmla="val 8000"/>
            </a:avLst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0880" y="2377440"/>
            <a:ext cx="50292" cy="1188720"/>
          </a:xfrm>
          <a:prstGeom prst="rect">
            <a:avLst/>
          </a:prstGeom>
          <a:solidFill>
            <a:srgbClr val="587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2468880"/>
            <a:ext cx="3995928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800" b="1">
                <a:solidFill>
                  <a:srgbClr val="587C95"/>
                </a:solidFill>
                <a:latin typeface="Noto Sans CJK SC"/>
                <a:ea typeface="Noto Sans CJK SC"/>
              </a:rPr>
              <a:t>研究对象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880360"/>
            <a:ext cx="3977639" cy="612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0">
                <a:solidFill>
                  <a:srgbClr val="243746"/>
                </a:solidFill>
                <a:latin typeface="Noto Sans CJK SC"/>
                <a:ea typeface="Noto Sans CJK SC"/>
              </a:rPr>
              <a:t>一个买方 + 两个投入品供应商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3712463"/>
            <a:ext cx="4343400" cy="2130552"/>
          </a:xfrm>
          <a:prstGeom prst="roundRect">
            <a:avLst>
              <a:gd name="adj" fmla="val 8000"/>
            </a:avLst>
          </a:prstGeom>
          <a:solidFill>
            <a:srgbClr val="FC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712463"/>
            <a:ext cx="50292" cy="2130552"/>
          </a:xfrm>
          <a:prstGeom prst="rect">
            <a:avLst/>
          </a:prstGeom>
          <a:solidFill>
            <a:srgbClr val="DA5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3803903"/>
            <a:ext cx="3995928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1">
                <a:solidFill>
                  <a:srgbClr val="DA501B"/>
                </a:solidFill>
                <a:latin typeface="Noto Sans CJK SC"/>
                <a:ea typeface="Noto Sans CJK SC"/>
              </a:rPr>
              <a:t>核心贡献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4315968"/>
            <a:ext cx="3977639" cy="145389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900" b="0">
                <a:solidFill>
                  <a:srgbClr val="243746"/>
                </a:solidFill>
                <a:latin typeface="Noto Sans CJK SC"/>
                <a:ea typeface="Noto Sans CJK SC"/>
              </a:rPr>
              <a:t>将误报、漏报与事后治理联立，解释预算分配、审计覆盖与社会效果的反直觉变化。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0472" y="585216"/>
            <a:ext cx="8046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243746"/>
                </a:solidFill>
                <a:latin typeface="Noto Sans CJK SC"/>
                <a:ea typeface="Noto Sans CJK SC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768096"/>
            <a:ext cx="287121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07281"/>
                </a:solidFill>
                <a:latin typeface="Noto Sans CJK SC"/>
                <a:ea typeface="Noto Sans CJK SC"/>
              </a:rPr>
              <a:t>文献精读  /  POM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09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243746"/>
                </a:solidFill>
                <a:latin typeface="Noto Sans CJK SC"/>
                <a:ea typeface="Noto Sans CJK SC"/>
              </a:rPr>
              <a:t>沿用模板的七部分结构，突出模型与分析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473952"/>
            <a:ext cx="10963656" cy="0"/>
          </a:xfrm>
          <a:prstGeom prst="line">
            <a:avLst/>
          </a:prstGeom>
          <a:ln w="1270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9672"/>
            <a:ext cx="100584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607281"/>
                </a:solidFill>
                <a:latin typeface="Noto Sans CJK SC"/>
                <a:ea typeface="Noto Sans CJK SC"/>
              </a:rPr>
              <a:t>汇报安排：正文约 30 分钟；附录供讨论查阅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0138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87C95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487168"/>
            <a:ext cx="4160520" cy="4846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500" b="0">
                <a:solidFill>
                  <a:srgbClr val="243746"/>
                </a:solidFill>
                <a:latin typeface="Noto Sans CJK SC"/>
                <a:ea typeface="Noto Sans CJK SC"/>
              </a:rPr>
              <a:t>一、研究背景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8" y="2560320"/>
            <a:ext cx="1307592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50" b="0">
                <a:solidFill>
                  <a:srgbClr val="607281"/>
                </a:solidFill>
                <a:latin typeface="Noto Sans CJK SC"/>
                <a:ea typeface="Noto Sans CJK SC"/>
              </a:rPr>
              <a:t>2 分钟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310128"/>
            <a:ext cx="4160520" cy="4846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500" b="0">
                <a:solidFill>
                  <a:srgbClr val="243746"/>
                </a:solidFill>
                <a:latin typeface="Noto Sans CJK SC"/>
                <a:ea typeface="Noto Sans CJK SC"/>
              </a:rPr>
              <a:t>二、研究问题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3383280"/>
            <a:ext cx="1307592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50" b="0">
                <a:solidFill>
                  <a:srgbClr val="607281"/>
                </a:solidFill>
                <a:latin typeface="Noto Sans CJK SC"/>
                <a:ea typeface="Noto Sans CJK SC"/>
              </a:rPr>
              <a:t>约 1 分钟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133088"/>
            <a:ext cx="4160520" cy="4846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500" b="0">
                <a:solidFill>
                  <a:srgbClr val="243746"/>
                </a:solidFill>
                <a:latin typeface="Noto Sans CJK SC"/>
                <a:ea typeface="Noto Sans CJK SC"/>
              </a:rPr>
              <a:t>三、文献综述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4206240"/>
            <a:ext cx="1307592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50" b="0">
                <a:solidFill>
                  <a:srgbClr val="607281"/>
                </a:solidFill>
                <a:latin typeface="Noto Sans CJK SC"/>
                <a:ea typeface="Noto Sans CJK SC"/>
              </a:rPr>
              <a:t>约 1 分钟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956048"/>
            <a:ext cx="4160520" cy="4846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500" b="1">
                <a:solidFill>
                  <a:srgbClr val="587C95"/>
                </a:solidFill>
                <a:latin typeface="Noto Sans CJK SC"/>
                <a:ea typeface="Noto Sans CJK SC"/>
              </a:rPr>
              <a:t>四、模型构建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5029200"/>
            <a:ext cx="1307592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50" b="0">
                <a:solidFill>
                  <a:srgbClr val="607281"/>
                </a:solidFill>
                <a:latin typeface="Noto Sans CJK SC"/>
                <a:ea typeface="Noto Sans CJK SC"/>
              </a:rPr>
              <a:t>8–9 分钟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2487168"/>
            <a:ext cx="4160520" cy="4846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500" b="1">
                <a:solidFill>
                  <a:srgbClr val="243746"/>
                </a:solidFill>
                <a:latin typeface="Noto Sans CJK SC"/>
                <a:ea typeface="Noto Sans CJK SC"/>
              </a:rPr>
              <a:t>五、均衡分析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51008" y="2560320"/>
            <a:ext cx="1307592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50" b="0">
                <a:solidFill>
                  <a:srgbClr val="607281"/>
                </a:solidFill>
                <a:latin typeface="Noto Sans CJK SC"/>
                <a:ea typeface="Noto Sans CJK SC"/>
              </a:rPr>
              <a:t>11–12 分钟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3310128"/>
            <a:ext cx="4160520" cy="4846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500" b="0">
                <a:solidFill>
                  <a:srgbClr val="243746"/>
                </a:solidFill>
                <a:latin typeface="Noto Sans CJK SC"/>
                <a:ea typeface="Noto Sans CJK SC"/>
              </a:rPr>
              <a:t>六、扩展模型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51008" y="3383280"/>
            <a:ext cx="1307592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50" b="0">
                <a:solidFill>
                  <a:srgbClr val="607281"/>
                </a:solidFill>
                <a:latin typeface="Noto Sans CJK SC"/>
                <a:ea typeface="Noto Sans CJK SC"/>
              </a:rPr>
              <a:t>约 4 分钟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4133088"/>
            <a:ext cx="4160520" cy="4846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500" b="0">
                <a:solidFill>
                  <a:srgbClr val="243746"/>
                </a:solidFill>
                <a:latin typeface="Noto Sans CJK SC"/>
                <a:ea typeface="Noto Sans CJK SC"/>
              </a:rPr>
              <a:t>七、结论与未来展望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51008" y="4206240"/>
            <a:ext cx="1307592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50" b="0">
                <a:solidFill>
                  <a:srgbClr val="607281"/>
                </a:solidFill>
                <a:latin typeface="Noto Sans CJK SC"/>
                <a:ea typeface="Noto Sans CJK SC"/>
              </a:rPr>
              <a:t>2 分钟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0472" y="585216"/>
            <a:ext cx="8046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243746"/>
                </a:solidFill>
                <a:latin typeface="Noto Sans CJK SC"/>
                <a:ea typeface="Noto Sans CJK SC"/>
              </a:rPr>
              <a:t>一、研究背景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768096"/>
            <a:ext cx="287121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07281"/>
                </a:solidFill>
                <a:latin typeface="Noto Sans CJK SC"/>
                <a:ea typeface="Noto Sans CJK SC"/>
              </a:rPr>
              <a:t>文献精读  /  POM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09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243746"/>
                </a:solidFill>
                <a:latin typeface="Noto Sans CJK SC"/>
                <a:ea typeface="Noto Sans CJK SC"/>
              </a:rPr>
              <a:t>供应商违规会传导到品牌；审计之后还必须决定如何治理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473952"/>
            <a:ext cx="10963656" cy="0"/>
          </a:xfrm>
          <a:prstGeom prst="line">
            <a:avLst/>
          </a:prstGeom>
          <a:ln w="1270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9672"/>
            <a:ext cx="100584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607281"/>
                </a:solidFill>
                <a:latin typeface="Noto Sans CJK SC"/>
                <a:ea typeface="Noto Sans CJK SC"/>
              </a:rPr>
              <a:t>引言，pp. 1–2；案例按论文叙述整理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0138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87C95"/>
                </a:solidFill>
                <a:latin typeface="Noto Sans CJK SC"/>
                <a:ea typeface="Noto Sans CJK SC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23160"/>
            <a:ext cx="3529584" cy="2697480"/>
          </a:xfrm>
          <a:prstGeom prst="roundRect">
            <a:avLst>
              <a:gd name="adj" fmla="val 8000"/>
            </a:avLst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423160"/>
            <a:ext cx="50292" cy="2697480"/>
          </a:xfrm>
          <a:prstGeom prst="rect">
            <a:avLst/>
          </a:prstGeom>
          <a:solidFill>
            <a:srgbClr val="587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514600"/>
            <a:ext cx="3182112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1">
                <a:solidFill>
                  <a:srgbClr val="587C95"/>
                </a:solidFill>
                <a:latin typeface="Noto Sans CJK SC"/>
                <a:ea typeface="Noto Sans CJK SC"/>
              </a:rPr>
              <a:t>风险传导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026664"/>
            <a:ext cx="3163824" cy="20208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900" b="0">
                <a:solidFill>
                  <a:srgbClr val="243746"/>
                </a:solidFill>
                <a:latin typeface="Noto Sans CJK SC"/>
                <a:ea typeface="Noto Sans CJK SC"/>
              </a:rPr>
              <a:t>上游违规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900" b="0">
                <a:solidFill>
                  <a:srgbClr val="243746"/>
                </a:solidFill>
                <a:latin typeface="Noto Sans CJK SC"/>
                <a:ea typeface="Noto Sans CJK SC"/>
              </a:rPr>
              <a:t>→ 媒体 / 监管发现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900" b="0">
                <a:solidFill>
                  <a:srgbClr val="243746"/>
                </a:solidFill>
                <a:latin typeface="Noto Sans CJK SC"/>
                <a:ea typeface="Noto Sans CJK SC"/>
              </a:rPr>
              <a:t>→ 下游品牌受损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900" b="0">
                <a:solidFill>
                  <a:srgbClr val="243746"/>
                </a:solidFill>
                <a:latin typeface="Noto Sans CJK SC"/>
                <a:ea typeface="Noto Sans CJK SC"/>
              </a:rPr>
              <a:t>例：Dyson 供应链被指控存在强迫劳动。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2423160"/>
            <a:ext cx="3529584" cy="2697480"/>
          </a:xfrm>
          <a:prstGeom prst="roundRect">
            <a:avLst>
              <a:gd name="adj" fmla="val 8000"/>
            </a:avLst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4256" y="2423160"/>
            <a:ext cx="50292" cy="2697480"/>
          </a:xfrm>
          <a:prstGeom prst="rect">
            <a:avLst/>
          </a:prstGeom>
          <a:solidFill>
            <a:srgbClr val="587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514600"/>
            <a:ext cx="3182112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1">
                <a:solidFill>
                  <a:srgbClr val="587C95"/>
                </a:solidFill>
                <a:latin typeface="Noto Sans CJK SC"/>
                <a:ea typeface="Noto Sans CJK SC"/>
              </a:rPr>
              <a:t>常规应对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3026664"/>
            <a:ext cx="3163824" cy="20208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900" b="0">
                <a:solidFill>
                  <a:srgbClr val="243746"/>
                </a:solidFill>
                <a:latin typeface="Noto Sans CJK SC"/>
                <a:ea typeface="Noto Sans CJK SC"/>
              </a:rPr>
              <a:t>Apple、IKEA 等开展责任审计。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900" b="0">
                <a:solidFill>
                  <a:srgbClr val="243746"/>
                </a:solidFill>
                <a:latin typeface="Noto Sans CJK SC"/>
                <a:ea typeface="Noto Sans CJK SC"/>
              </a:rPr>
              <a:t>审计未通过后：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900" b="0">
                <a:solidFill>
                  <a:srgbClr val="243746"/>
                </a:solidFill>
                <a:latin typeface="Noto Sans CJK SC"/>
                <a:ea typeface="Noto Sans CJK SC"/>
              </a:rPr>
              <a:t>整改原供应商，或改用合规供应商。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2423160"/>
            <a:ext cx="3529584" cy="2697480"/>
          </a:xfrm>
          <a:prstGeom prst="roundRect">
            <a:avLst>
              <a:gd name="adj" fmla="val 8000"/>
            </a:avLst>
          </a:prstGeom>
          <a:solidFill>
            <a:srgbClr val="FC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2423160"/>
            <a:ext cx="50292" cy="2697480"/>
          </a:xfrm>
          <a:prstGeom prst="rect">
            <a:avLst/>
          </a:prstGeom>
          <a:solidFill>
            <a:srgbClr val="DA5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1" y="2514600"/>
            <a:ext cx="3182112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1">
                <a:solidFill>
                  <a:srgbClr val="DA501B"/>
                </a:solidFill>
                <a:latin typeface="Noto Sans CJK SC"/>
                <a:ea typeface="Noto Sans CJK SC"/>
              </a:rPr>
              <a:t>现实约束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1" y="3026664"/>
            <a:ext cx="3163824" cy="20208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900" b="0">
                <a:solidFill>
                  <a:srgbClr val="243746"/>
                </a:solidFill>
                <a:latin typeface="Noto Sans CJK SC"/>
                <a:ea typeface="Noto Sans CJK SC"/>
              </a:rPr>
              <a:t>审计不完美，而且预算有限。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900" b="0">
                <a:solidFill>
                  <a:srgbClr val="243746"/>
                </a:solidFill>
                <a:latin typeface="Noto Sans CJK SC"/>
                <a:ea typeface="Noto Sans CJK SC"/>
              </a:rPr>
              <a:t>既可能“放过违规者”，也可能“误判合规者”。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900" b="0">
                <a:solidFill>
                  <a:srgbClr val="243746"/>
                </a:solidFill>
                <a:latin typeface="Noto Sans CJK SC"/>
                <a:ea typeface="Noto Sans CJK SC"/>
              </a:rPr>
              <a:t>例：Maggi 面条检测争议提示误报风险。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" y="5696712"/>
            <a:ext cx="10945368" cy="448056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728716"/>
            <a:ext cx="10652760" cy="4069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1">
                <a:solidFill>
                  <a:srgbClr val="587C95"/>
                </a:solidFill>
                <a:latin typeface="Noto Sans CJK SC"/>
                <a:ea typeface="Noto Sans CJK SC"/>
              </a:rPr>
              <a:t>研究动机：审计范围、错误控制与事后治理，应当作为一套方案设计。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0472" y="585216"/>
            <a:ext cx="8046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243746"/>
                </a:solidFill>
                <a:latin typeface="Noto Sans CJK SC"/>
                <a:ea typeface="Noto Sans CJK SC"/>
              </a:rPr>
              <a:t>一、研究背景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768096"/>
            <a:ext cx="287121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07281"/>
                </a:solidFill>
                <a:latin typeface="Noto Sans CJK SC"/>
                <a:ea typeface="Noto Sans CJK SC"/>
              </a:rPr>
              <a:t>文献精读  /  POM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09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243746"/>
                </a:solidFill>
                <a:latin typeface="Noto Sans CJK SC"/>
                <a:ea typeface="Noto Sans CJK SC"/>
              </a:rPr>
              <a:t>误报与漏报对应不同损失；“审计未通过”不等于真实违规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473952"/>
            <a:ext cx="10963656" cy="0"/>
          </a:xfrm>
          <a:prstGeom prst="line">
            <a:avLst/>
          </a:prstGeom>
          <a:ln w="1270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9672"/>
            <a:ext cx="100584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607281"/>
                </a:solidFill>
                <a:latin typeface="Noto Sans CJK SC"/>
                <a:ea typeface="Noto Sans CJK SC"/>
              </a:rPr>
              <a:t>两类错误定义与损失机制，pp. 2、5–6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0138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87C95"/>
                </a:solidFill>
                <a:latin typeface="Noto Sans CJK SC"/>
                <a:ea typeface="Noto Sans CJK SC"/>
              </a:rPr>
              <a:t>05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331720"/>
          <a:ext cx="10908792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3310128"/>
                <a:gridCol w="3300984"/>
              </a:tblGrid>
              <a:tr h="694944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真实状态 / 审计结果</a:t>
                      </a:r>
                    </a:p>
                  </a:txBody>
                  <a:tcPr marL="118872" marR="118872" marT="73152" marB="73152" anchor="ctr">
                    <a:solidFill>
                      <a:srgbClr val="587C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通过 o = 0</a:t>
                      </a:r>
                    </a:p>
                  </a:txBody>
                  <a:tcPr marL="118872" marR="118872" marT="73152" marB="73152" anchor="ctr">
                    <a:solidFill>
                      <a:srgbClr val="587C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未通过 o = 1</a:t>
                      </a:r>
                    </a:p>
                  </a:txBody>
                  <a:tcPr marL="118872" marR="118872" marT="73152" marB="73152" anchor="ctr">
                    <a:solidFill>
                      <a:srgbClr val="587C95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20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合规（先验概率 e）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20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正确通过：1 − αᵢ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20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误报 / Type I：αᵢ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20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违规（先验概率 1 − e）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20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漏报 / Type II：βᵢ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20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正确发现：1 − βᵢ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58368" y="4599432"/>
            <a:ext cx="5257800" cy="1143000"/>
          </a:xfrm>
          <a:prstGeom prst="roundRect">
            <a:avLst>
              <a:gd name="adj" fmla="val 8000"/>
            </a:avLst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4599432"/>
            <a:ext cx="50292" cy="1143000"/>
          </a:xfrm>
          <a:prstGeom prst="rect">
            <a:avLst/>
          </a:prstGeom>
          <a:solidFill>
            <a:srgbClr val="587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4690872"/>
            <a:ext cx="4910328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800" b="1">
                <a:solidFill>
                  <a:srgbClr val="587C95"/>
                </a:solidFill>
                <a:latin typeface="Noto Sans CJK SC"/>
                <a:ea typeface="Noto Sans CJK SC"/>
              </a:rPr>
              <a:t>误报的后果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5102352"/>
            <a:ext cx="489204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0">
                <a:solidFill>
                  <a:srgbClr val="243746"/>
                </a:solidFill>
                <a:latin typeface="Noto Sans CJK SC"/>
                <a:ea typeface="Noto Sans CJK SC"/>
              </a:rPr>
              <a:t>不必要治理；错误替换还可能触发 Dα。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08192" y="4599432"/>
            <a:ext cx="5431536" cy="1143000"/>
          </a:xfrm>
          <a:prstGeom prst="roundRect">
            <a:avLst>
              <a:gd name="adj" fmla="val 8000"/>
            </a:avLst>
          </a:prstGeom>
          <a:solidFill>
            <a:srgbClr val="FC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08192" y="4599432"/>
            <a:ext cx="50292" cy="1143000"/>
          </a:xfrm>
          <a:prstGeom prst="rect">
            <a:avLst/>
          </a:prstGeom>
          <a:solidFill>
            <a:srgbClr val="DA5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4690872"/>
            <a:ext cx="5084064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800" b="1">
                <a:solidFill>
                  <a:srgbClr val="DA501B"/>
                </a:solidFill>
                <a:latin typeface="Noto Sans CJK SC"/>
                <a:ea typeface="Noto Sans CJK SC"/>
              </a:rPr>
              <a:t>漏报的后果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5102352"/>
            <a:ext cx="5065776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0">
                <a:solidFill>
                  <a:srgbClr val="243746"/>
                </a:solidFill>
                <a:latin typeface="Noto Sans CJK SC"/>
                <a:ea typeface="Noto Sans CJK SC"/>
              </a:rPr>
              <a:t>违规投入品留在供应链；曝光后损失 Dβ。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" y="5971032"/>
            <a:ext cx="105613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0">
                <a:solidFill>
                  <a:srgbClr val="607281"/>
                </a:solidFill>
                <a:latin typeface="Noto Sans CJK SC"/>
                <a:ea typeface="Noto Sans CJK SC"/>
              </a:rPr>
              <a:t>Dα 与 Dβ 已包含外部发现概率；不是把每次误判都视为已被公众发现。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0472" y="585216"/>
            <a:ext cx="8046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243746"/>
                </a:solidFill>
                <a:latin typeface="Noto Sans CJK SC"/>
                <a:ea typeface="Noto Sans CJK SC"/>
              </a:rPr>
              <a:t>二、研究问题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768096"/>
            <a:ext cx="287121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07281"/>
                </a:solidFill>
                <a:latin typeface="Noto Sans CJK SC"/>
                <a:ea typeface="Noto Sans CJK SC"/>
              </a:rPr>
              <a:t>文献精读  /  POM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09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243746"/>
                </a:solidFill>
                <a:latin typeface="Noto Sans CJK SC"/>
                <a:ea typeface="Noto Sans CJK SC"/>
              </a:rPr>
              <a:t>有限预算下，买方如何联合设计审计与治理？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473952"/>
            <a:ext cx="10963656" cy="0"/>
          </a:xfrm>
          <a:prstGeom prst="line">
            <a:avLst/>
          </a:prstGeom>
          <a:ln w="1270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9672"/>
            <a:ext cx="100584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607281"/>
                </a:solidFill>
                <a:latin typeface="Noto Sans CJK SC"/>
                <a:ea typeface="Noto Sans CJK SC"/>
              </a:rPr>
              <a:t>研究问题，pp. 2–3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0138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87C95"/>
                </a:solidFill>
                <a:latin typeface="Noto Sans CJK SC"/>
                <a:ea typeface="Noto Sans CJK SC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2386584"/>
            <a:ext cx="576072" cy="548640"/>
          </a:xfrm>
          <a:prstGeom prst="rect">
            <a:avLst/>
          </a:prstGeom>
          <a:solidFill>
            <a:srgbClr val="587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2450591"/>
            <a:ext cx="576072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2414015"/>
            <a:ext cx="18288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200" b="1">
                <a:solidFill>
                  <a:srgbClr val="587C95"/>
                </a:solidFill>
                <a:latin typeface="Noto Sans CJK SC"/>
                <a:ea typeface="Noto Sans CJK SC"/>
              </a:rPr>
              <a:t>错误控制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414015"/>
            <a:ext cx="8037575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100" b="0">
                <a:solidFill>
                  <a:srgbClr val="243746"/>
                </a:solidFill>
                <a:latin typeface="Noto Sans CJK SC"/>
                <a:ea typeface="Noto Sans CJK SC"/>
              </a:rPr>
              <a:t>应优先消除误报，还是优先消除漏报？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" y="3236976"/>
            <a:ext cx="576072" cy="548640"/>
          </a:xfrm>
          <a:prstGeom prst="rect">
            <a:avLst/>
          </a:prstGeom>
          <a:solidFill>
            <a:srgbClr val="587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3300984"/>
            <a:ext cx="576072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3264408"/>
            <a:ext cx="18288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200" b="1">
                <a:solidFill>
                  <a:srgbClr val="587C95"/>
                </a:solidFill>
                <a:latin typeface="Noto Sans CJK SC"/>
                <a:ea typeface="Noto Sans CJK SC"/>
              </a:rPr>
              <a:t>治理动作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264408"/>
            <a:ext cx="8037575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100" b="0">
                <a:solidFill>
                  <a:srgbClr val="243746"/>
                </a:solidFill>
                <a:latin typeface="Noto Sans CJK SC"/>
                <a:ea typeface="Noto Sans CJK SC"/>
              </a:rPr>
              <a:t>审计未通过后，应整改原供应商还是替换它？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4087368"/>
            <a:ext cx="576072" cy="548640"/>
          </a:xfrm>
          <a:prstGeom prst="rect">
            <a:avLst/>
          </a:prstGeom>
          <a:solidFill>
            <a:srgbClr val="587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4151376"/>
            <a:ext cx="576072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4114800"/>
            <a:ext cx="18288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200" b="1">
                <a:solidFill>
                  <a:srgbClr val="587C95"/>
                </a:solidFill>
                <a:latin typeface="Noto Sans CJK SC"/>
                <a:ea typeface="Noto Sans CJK SC"/>
              </a:rPr>
              <a:t>资源与范围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114800"/>
            <a:ext cx="8037575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100" b="0">
                <a:solidFill>
                  <a:srgbClr val="243746"/>
                </a:solidFill>
                <a:latin typeface="Noto Sans CJK SC"/>
                <a:ea typeface="Noto Sans CJK SC"/>
              </a:rPr>
              <a:t>如何分配预算？是否必须平均分配、覆盖更多供应商？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" y="4937760"/>
            <a:ext cx="576072" cy="548640"/>
          </a:xfrm>
          <a:prstGeom prst="rect">
            <a:avLst/>
          </a:prstGeom>
          <a:solidFill>
            <a:srgbClr val="DA5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5001768"/>
            <a:ext cx="576072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4752" y="4965192"/>
            <a:ext cx="18288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200" b="1">
                <a:solidFill>
                  <a:srgbClr val="587C95"/>
                </a:solidFill>
                <a:latin typeface="Noto Sans CJK SC"/>
                <a:ea typeface="Noto Sans CJK SC"/>
              </a:rPr>
              <a:t>社会效果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4965192"/>
            <a:ext cx="8037575" cy="6035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100" b="0">
                <a:solidFill>
                  <a:srgbClr val="243746"/>
                </a:solidFill>
                <a:latin typeface="Noto Sans CJK SC"/>
                <a:ea typeface="Noto Sans CJK SC"/>
              </a:rPr>
              <a:t>预算增加、企业收益改善，是否一定减少市场中的违规产品？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0472" y="585216"/>
            <a:ext cx="8046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243746"/>
                </a:solidFill>
                <a:latin typeface="Noto Sans CJK SC"/>
                <a:ea typeface="Noto Sans CJK SC"/>
              </a:rPr>
              <a:t>三、文献综述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768096"/>
            <a:ext cx="287121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07281"/>
                </a:solidFill>
                <a:latin typeface="Noto Sans CJK SC"/>
                <a:ea typeface="Noto Sans CJK SC"/>
              </a:rPr>
              <a:t>文献精读  /  POM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09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243746"/>
                </a:solidFill>
                <a:latin typeface="Noto Sans CJK SC"/>
                <a:ea typeface="Noto Sans CJK SC"/>
              </a:rPr>
              <a:t>研究缺口：错误率、治理动作与网络预算不能分开看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473952"/>
            <a:ext cx="10963656" cy="0"/>
          </a:xfrm>
          <a:prstGeom prst="line">
            <a:avLst/>
          </a:prstGeom>
          <a:ln w="1270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9672"/>
            <a:ext cx="100584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607281"/>
                </a:solidFill>
                <a:latin typeface="Noto Sans CJK SC"/>
                <a:ea typeface="Noto Sans CJK SC"/>
              </a:rPr>
              <a:t>文献综述，pp. 3–4；此表为汇报整理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0138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87C95"/>
                </a:solidFill>
                <a:latin typeface="Noto Sans CJK SC"/>
                <a:ea typeface="Noto Sans CJK SC"/>
              </a:rPr>
              <a:t>07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331720"/>
          <a:ext cx="1090879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4114800"/>
                <a:gridCol w="4005072"/>
              </a:tblGrid>
              <a:tr h="722376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文献线索</a:t>
                      </a:r>
                    </a:p>
                  </a:txBody>
                  <a:tcPr marL="118872" marR="118872" marT="73152" marB="73152" anchor="ctr">
                    <a:solidFill>
                      <a:srgbClr val="587C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代表研究（按原文）</a:t>
                      </a:r>
                    </a:p>
                  </a:txBody>
                  <a:tcPr marL="118872" marR="118872" marT="73152" marB="73152" anchor="ctr">
                    <a:solidFill>
                      <a:srgbClr val="587C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本文补充</a:t>
                      </a:r>
                    </a:p>
                  </a:txBody>
                  <a:tcPr marL="118872" marR="118872" marT="73152" marB="73152" anchor="ctr">
                    <a:solidFill>
                      <a:srgbClr val="587C95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责任采购与审计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Plambeck &amp; Taylor (2016)</a:t>
                      </a:r>
                    </a:p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Cho et al. (2019)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从主要关注漏报，转向误报—漏报权衡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审计后的响应治理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Kalkanci &amp; Plambeck (2020a)</a:t>
                      </a:r>
                    </a:p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Zhang et al. (2022)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将整改 / 替换与错误率联合优化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网络审计与资源配置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Caro et al. (2018)</a:t>
                      </a:r>
                    </a:p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Chen et al. (2020a)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装配网络中研究预算分配与覆盖数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不准确认证与分类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Guo et al. (2017)</a:t>
                      </a:r>
                    </a:p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Cezar et al. (2020)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错误率内生；连接治理成本与社会后果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21792" y="5961888"/>
            <a:ext cx="10945368" cy="448056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5993892"/>
            <a:ext cx="10652760" cy="4069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800" b="1">
                <a:solidFill>
                  <a:srgbClr val="587C95"/>
                </a:solidFill>
                <a:latin typeface="Noto Sans CJK SC"/>
                <a:ea typeface="Noto Sans CJK SC"/>
              </a:rPr>
              <a:t>文章定位：不完美审计 + 两类治理 + 有限预算 + 装配网络。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0472" y="585216"/>
            <a:ext cx="8046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243746"/>
                </a:solidFill>
                <a:latin typeface="Noto Sans CJK SC"/>
                <a:ea typeface="Noto Sans CJK SC"/>
              </a:rPr>
              <a:t>四、模型构建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768096"/>
            <a:ext cx="287121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07281"/>
                </a:solidFill>
                <a:latin typeface="Noto Sans CJK SC"/>
                <a:ea typeface="Noto Sans CJK SC"/>
              </a:rPr>
              <a:t>文献精读  /  POM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09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243746"/>
                </a:solidFill>
                <a:latin typeface="Noto Sans CJK SC"/>
                <a:ea typeface="Noto Sans CJK SC"/>
              </a:rPr>
              <a:t>装配网络：一个买方需要两个不同投入品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473952"/>
            <a:ext cx="10963656" cy="0"/>
          </a:xfrm>
          <a:prstGeom prst="line">
            <a:avLst/>
          </a:prstGeom>
          <a:ln w="1270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9672"/>
            <a:ext cx="100584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607281"/>
                </a:solidFill>
                <a:latin typeface="Noto Sans CJK SC"/>
                <a:ea typeface="Noto Sans CJK SC"/>
              </a:rPr>
              <a:t>模型设定，§3，p. 5；网络示意为汇报重绘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0138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87C95"/>
                </a:solidFill>
                <a:latin typeface="Noto Sans CJK SC"/>
                <a:ea typeface="Noto Sans CJK SC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2496312"/>
            <a:ext cx="3182112" cy="1188720"/>
          </a:xfrm>
          <a:prstGeom prst="roundRect">
            <a:avLst>
              <a:gd name="adj" fmla="val 8000"/>
            </a:avLst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" y="2496312"/>
            <a:ext cx="50292" cy="1188720"/>
          </a:xfrm>
          <a:prstGeom prst="rect">
            <a:avLst/>
          </a:prstGeom>
          <a:solidFill>
            <a:srgbClr val="587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587752"/>
            <a:ext cx="283464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800" b="1">
                <a:solidFill>
                  <a:srgbClr val="587C95"/>
                </a:solidFill>
                <a:latin typeface="Noto Sans CJK SC"/>
                <a:ea typeface="Noto Sans CJK SC"/>
              </a:rPr>
              <a:t>供应商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999232"/>
            <a:ext cx="2816352" cy="612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0">
                <a:solidFill>
                  <a:srgbClr val="243746"/>
                </a:solidFill>
                <a:latin typeface="Noto Sans CJK SC"/>
                <a:ea typeface="Noto Sans CJK SC"/>
              </a:rPr>
              <a:t>投入品 1；合规概率 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4215384"/>
            <a:ext cx="3182112" cy="1188720"/>
          </a:xfrm>
          <a:prstGeom prst="roundRect">
            <a:avLst>
              <a:gd name="adj" fmla="val 8000"/>
            </a:avLst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" y="4215384"/>
            <a:ext cx="50292" cy="1188720"/>
          </a:xfrm>
          <a:prstGeom prst="rect">
            <a:avLst/>
          </a:prstGeom>
          <a:solidFill>
            <a:srgbClr val="587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4306824"/>
            <a:ext cx="283464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800" b="1">
                <a:solidFill>
                  <a:srgbClr val="587C95"/>
                </a:solidFill>
                <a:latin typeface="Noto Sans CJK SC"/>
                <a:ea typeface="Noto Sans CJK SC"/>
              </a:rPr>
              <a:t>供应商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4718304"/>
            <a:ext cx="2816352" cy="6126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0">
                <a:solidFill>
                  <a:srgbClr val="243746"/>
                </a:solidFill>
                <a:latin typeface="Noto Sans CJK SC"/>
                <a:ea typeface="Noto Sans CJK SC"/>
              </a:rPr>
              <a:t>投入品 2；合规概率 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270248" y="2999232"/>
            <a:ext cx="640080" cy="292608"/>
          </a:xfrm>
          <a:prstGeom prst="rightArrow">
            <a:avLst/>
          </a:prstGeom>
          <a:solidFill>
            <a:srgbClr val="587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4270248" y="4718304"/>
            <a:ext cx="640080" cy="292608"/>
          </a:xfrm>
          <a:prstGeom prst="rightArrow">
            <a:avLst/>
          </a:prstGeom>
          <a:solidFill>
            <a:srgbClr val="587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66360" y="3127248"/>
            <a:ext cx="2350008" cy="1581912"/>
          </a:xfrm>
          <a:prstGeom prst="roundRect">
            <a:avLst>
              <a:gd name="adj" fmla="val 8000"/>
            </a:avLst>
          </a:prstGeom>
          <a:solidFill>
            <a:srgbClr val="587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66944" y="3328416"/>
            <a:ext cx="2148840" cy="11155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</a:rPr>
              <a:t>买方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</a:rPr>
              <a:t>审计 + 装配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744968" y="3794760"/>
            <a:ext cx="576072" cy="292608"/>
          </a:xfrm>
          <a:prstGeom prst="rightArrow">
            <a:avLst/>
          </a:prstGeom>
          <a:solidFill>
            <a:srgbClr val="587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49640" y="3127248"/>
            <a:ext cx="2715768" cy="1581912"/>
          </a:xfrm>
          <a:prstGeom prst="roundRect">
            <a:avLst>
              <a:gd name="adj" fmla="val 8000"/>
            </a:avLst>
          </a:prstGeom>
          <a:solidFill>
            <a:srgbClr val="FC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49640" y="3127248"/>
            <a:ext cx="50292" cy="1581912"/>
          </a:xfrm>
          <a:prstGeom prst="rect">
            <a:avLst/>
          </a:prstGeom>
          <a:solidFill>
            <a:srgbClr val="DA5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32519" y="3218688"/>
            <a:ext cx="2368296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1">
                <a:solidFill>
                  <a:srgbClr val="DA501B"/>
                </a:solidFill>
                <a:latin typeface="Noto Sans CJK SC"/>
                <a:ea typeface="Noto Sans CJK SC"/>
              </a:rPr>
              <a:t>最终产品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19" y="3730752"/>
            <a:ext cx="2350008" cy="90525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800" b="0">
                <a:solidFill>
                  <a:srgbClr val="243746"/>
                </a:solidFill>
                <a:latin typeface="Noto Sans CJK SC"/>
                <a:ea typeface="Noto Sans CJK SC"/>
              </a:rPr>
              <a:t>任一投入品违规，最终产品即不合规。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5943600"/>
            <a:ext cx="10945368" cy="448056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5975604"/>
            <a:ext cx="10652760" cy="4069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800" b="1">
                <a:solidFill>
                  <a:srgbClr val="587C95"/>
                </a:solidFill>
                <a:latin typeface="Noto Sans CJK SC"/>
                <a:ea typeface="Noto Sans CJK SC"/>
              </a:rPr>
              <a:t>基准：供应商不策略性调整努力；第 6.1 节再将合规努力内生化。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0472" y="585216"/>
            <a:ext cx="8046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243746"/>
                </a:solidFill>
                <a:latin typeface="Noto Sans CJK SC"/>
                <a:ea typeface="Noto Sans CJK SC"/>
              </a:rPr>
              <a:t>四、模型构建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768096"/>
            <a:ext cx="287121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07281"/>
                </a:solidFill>
                <a:latin typeface="Noto Sans CJK SC"/>
                <a:ea typeface="Noto Sans CJK SC"/>
              </a:rPr>
              <a:t>文献精读  /  POM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09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243746"/>
                </a:solidFill>
                <a:latin typeface="Noto Sans CJK SC"/>
                <a:ea typeface="Noto Sans CJK SC"/>
              </a:rPr>
              <a:t>符号与决策变量：区分先验、错误率、治理成本和损失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473952"/>
            <a:ext cx="10963656" cy="0"/>
          </a:xfrm>
          <a:prstGeom prst="line">
            <a:avLst/>
          </a:prstGeom>
          <a:ln w="1270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9672"/>
            <a:ext cx="100584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607281"/>
                </a:solidFill>
                <a:latin typeface="Noto Sans CJK SC"/>
                <a:ea typeface="Noto Sans CJK SC"/>
              </a:rPr>
              <a:t>符号整理自 §3，pp. 5–6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0138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87C95"/>
                </a:solidFill>
                <a:latin typeface="Noto Sans CJK SC"/>
                <a:ea typeface="Noto Sans CJK SC"/>
              </a:rPr>
              <a:t>09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331720"/>
          <a:ext cx="10908792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3456432"/>
                <a:gridCol w="1993392"/>
                <a:gridCol w="3401568"/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符号</a:t>
                      </a:r>
                    </a:p>
                  </a:txBody>
                  <a:tcPr marL="118872" marR="118872" marT="73152" marB="73152" anchor="ctr">
                    <a:solidFill>
                      <a:srgbClr val="587C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含义</a:t>
                      </a:r>
                    </a:p>
                  </a:txBody>
                  <a:tcPr marL="118872" marR="118872" marT="73152" marB="73152" anchor="ctr">
                    <a:solidFill>
                      <a:srgbClr val="587C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符号</a:t>
                      </a:r>
                    </a:p>
                  </a:txBody>
                  <a:tcPr marL="118872" marR="118872" marT="73152" marB="73152" anchor="ctr">
                    <a:solidFill>
                      <a:srgbClr val="587C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含义</a:t>
                      </a:r>
                    </a:p>
                  </a:txBody>
                  <a:tcPr marL="118872" marR="118872" marT="73152" marB="73152" anchor="ctr">
                    <a:solidFill>
                      <a:srgbClr val="587C9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e ∈ [1/2, 1]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供应商先验合规概率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B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外生审计预算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xᵢ ∈ {0, 1}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是否审计供应商 i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Aᵢ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整体审计准确度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αᵢ / βᵢ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误报率 / 漏报率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oᵢ ∈ {0, 1, ∅}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通过 / 未通过 / 未审计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fᵢ ∈ {s, r, ∅}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替换 / 整改 / 无行动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Δs / Δr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买方替换成本 / 整改成本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Dα = rα D̃α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错误替换的预期损失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Dβ = rβ D̃β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遗漏违规的预期损失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Π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无治理与损害时的交易利润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c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审计成本系数；基准归一化为 1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13816" y="6007608"/>
            <a:ext cx="10607040" cy="338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1">
                <a:solidFill>
                  <a:srgbClr val="587C95"/>
                </a:solidFill>
                <a:latin typeface="Noto Sans CJK SC"/>
                <a:ea typeface="Noto Sans CJK SC"/>
              </a:rPr>
              <a:t>注意：αᵢ、βᵢ 是条件概率；eαᵢ、(1 − e)βᵢ 才是无条件误判概率。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0472" y="585216"/>
            <a:ext cx="8046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243746"/>
                </a:solidFill>
                <a:latin typeface="Noto Sans CJK SC"/>
                <a:ea typeface="Noto Sans CJK SC"/>
              </a:rPr>
              <a:t>四、模型构建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768096"/>
            <a:ext cx="287121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07281"/>
                </a:solidFill>
                <a:latin typeface="Noto Sans CJK SC"/>
                <a:ea typeface="Noto Sans CJK SC"/>
              </a:rPr>
              <a:t>文献精读  /  POM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09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243746"/>
                </a:solidFill>
                <a:latin typeface="Noto Sans CJK SC"/>
                <a:ea typeface="Noto Sans CJK SC"/>
              </a:rPr>
              <a:t>准确度连接两类错误；提高准确度需要凸性的审计支出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473952"/>
            <a:ext cx="10963656" cy="0"/>
          </a:xfrm>
          <a:prstGeom prst="line">
            <a:avLst/>
          </a:prstGeom>
          <a:ln w="1270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9672"/>
            <a:ext cx="100584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607281"/>
                </a:solidFill>
                <a:latin typeface="Noto Sans CJK SC"/>
                <a:ea typeface="Noto Sans CJK SC"/>
              </a:rPr>
              <a:t>审计技术与约束，§3，p. 5；公式对应原文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0138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87C95"/>
                </a:solidFill>
                <a:latin typeface="Noto Sans CJK SC"/>
                <a:ea typeface="Noto Sans CJK SC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2404872"/>
            <a:ext cx="6501384" cy="1060704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th_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2744883"/>
            <a:ext cx="6208776" cy="32581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04088" y="3657600"/>
            <a:ext cx="6501384" cy="932688"/>
          </a:xfrm>
          <a:prstGeom prst="rect">
            <a:avLst/>
          </a:prstGeom>
          <a:solidFill>
            <a:srgbClr val="FC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ath_0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5043" y="3831336"/>
            <a:ext cx="4810329" cy="5577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9536" y="4773168"/>
            <a:ext cx="6089904" cy="9326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100" b="0">
                <a:solidFill>
                  <a:srgbClr val="243746"/>
                </a:solidFill>
                <a:latin typeface="Noto Sans CJK SC"/>
                <a:ea typeface="Noto Sans CJK SC"/>
              </a:rPr>
              <a:t>固定准确度：降低误报 αᵢ，会提高漏报 βᵢ。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100" b="0">
                <a:solidFill>
                  <a:srgbClr val="243746"/>
                </a:solidFill>
                <a:latin typeface="Noto Sans CJK SC"/>
                <a:ea typeface="Noto Sans CJK SC"/>
              </a:rPr>
              <a:t>增加资源：可同时降低两类错误。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0648" y="2404872"/>
            <a:ext cx="3995928" cy="3172968"/>
          </a:xfrm>
          <a:prstGeom prst="roundRect">
            <a:avLst>
              <a:gd name="adj" fmla="val 8000"/>
            </a:avLst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70648" y="2404872"/>
            <a:ext cx="50292" cy="3172968"/>
          </a:xfrm>
          <a:prstGeom prst="rect">
            <a:avLst/>
          </a:prstGeom>
          <a:solidFill>
            <a:srgbClr val="587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53527" y="2496312"/>
            <a:ext cx="3648456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1">
                <a:solidFill>
                  <a:srgbClr val="587C95"/>
                </a:solidFill>
                <a:latin typeface="Noto Sans CJK SC"/>
                <a:ea typeface="Noto Sans CJK SC"/>
              </a:rPr>
              <a:t>成本与可行性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53527" y="3008376"/>
            <a:ext cx="3630168" cy="2496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0">
                <a:solidFill>
                  <a:srgbClr val="243746"/>
                </a:solidFill>
                <a:latin typeface="Noto Sans CJK SC"/>
                <a:ea typeface="Noto Sans CJK SC"/>
              </a:rPr>
              <a:t>审计支出：cAᵢ² / 2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0">
                <a:solidFill>
                  <a:srgbClr val="243746"/>
                </a:solidFill>
                <a:latin typeface="Noto Sans CJK SC"/>
                <a:ea typeface="Noto Sans CJK SC"/>
              </a:rPr>
              <a:t>基准：c = 1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0">
                <a:solidFill>
                  <a:srgbClr val="243746"/>
                </a:solidFill>
                <a:latin typeface="Noto Sans CJK SC"/>
                <a:ea typeface="Noto Sans CJK SC"/>
              </a:rPr>
              <a:t>有效审计要求：Aᵢ ≥ 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0">
                <a:solidFill>
                  <a:srgbClr val="243746"/>
                </a:solidFill>
                <a:latin typeface="Noto Sans CJK SC"/>
                <a:ea typeface="Noto Sans CJK SC"/>
              </a:rPr>
              <a:t>总支出不能超过 B。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5943600"/>
            <a:ext cx="10945368" cy="448056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5975604"/>
            <a:ext cx="10652760" cy="4069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900" b="1">
                <a:solidFill>
                  <a:srgbClr val="587C95"/>
                </a:solidFill>
                <a:latin typeface="Noto Sans CJK SC"/>
                <a:ea typeface="Noto Sans CJK SC"/>
              </a:rPr>
              <a:t>“高准确度”和“优先控制哪类错误”是两个不同的决策维度。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0472" y="585216"/>
            <a:ext cx="8046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243746"/>
                </a:solidFill>
                <a:latin typeface="Noto Sans CJK SC"/>
                <a:ea typeface="Noto Sans CJK SC"/>
              </a:rPr>
              <a:t>四、模型构建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768096"/>
            <a:ext cx="287121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07281"/>
                </a:solidFill>
                <a:latin typeface="Noto Sans CJK SC"/>
                <a:ea typeface="Noto Sans CJK SC"/>
              </a:rPr>
              <a:t>文献精读  /  POM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09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243746"/>
                </a:solidFill>
                <a:latin typeface="Noto Sans CJK SC"/>
                <a:ea typeface="Noto Sans CJK SC"/>
              </a:rPr>
              <a:t>决策时序：先设计审计，再观察结果，最后治理与交易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473952"/>
            <a:ext cx="10963656" cy="0"/>
          </a:xfrm>
          <a:prstGeom prst="line">
            <a:avLst/>
          </a:prstGeom>
          <a:ln w="1270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9672"/>
            <a:ext cx="100584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607281"/>
                </a:solidFill>
                <a:latin typeface="Noto Sans CJK SC"/>
                <a:ea typeface="Noto Sans CJK SC"/>
              </a:rPr>
              <a:t>原文 Figure 1，p. 7；右侧为中文流程说明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0138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87C95"/>
                </a:solidFill>
                <a:latin typeface="Noto Sans CJK SC"/>
                <a:ea typeface="Noto Sans CJK SC"/>
              </a:rPr>
              <a:t>11</a:t>
            </a:r>
          </a:p>
        </p:txBody>
      </p:sp>
      <p:pic>
        <p:nvPicPr>
          <p:cNvPr id="9" name="Picture 8" descr="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724" y="2377440"/>
            <a:ext cx="6605071" cy="363016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57031" y="2359152"/>
            <a:ext cx="3255264" cy="1216152"/>
          </a:xfrm>
          <a:prstGeom prst="roundRect">
            <a:avLst>
              <a:gd name="adj" fmla="val 8000"/>
            </a:avLst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57031" y="2359152"/>
            <a:ext cx="50292" cy="1216152"/>
          </a:xfrm>
          <a:prstGeom prst="rect">
            <a:avLst/>
          </a:prstGeom>
          <a:solidFill>
            <a:srgbClr val="587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9911" y="2450592"/>
            <a:ext cx="2907792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800" b="1">
                <a:solidFill>
                  <a:srgbClr val="587C95"/>
                </a:solidFill>
                <a:latin typeface="Noto Sans CJK SC"/>
                <a:ea typeface="Noto Sans CJK SC"/>
              </a:rPr>
              <a:t>1. 审计阶段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9911" y="2862072"/>
            <a:ext cx="2889504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0">
                <a:solidFill>
                  <a:srgbClr val="243746"/>
                </a:solidFill>
                <a:latin typeface="Noto Sans CJK SC"/>
                <a:ea typeface="Noto Sans CJK SC"/>
              </a:rPr>
              <a:t>选择 xᵢ、αᵢ、βᵢ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0">
                <a:solidFill>
                  <a:srgbClr val="243746"/>
                </a:solidFill>
                <a:latin typeface="Noto Sans CJK SC"/>
                <a:ea typeface="Noto Sans CJK SC"/>
              </a:rPr>
              <a:t>满足预算与准确度约束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57031" y="3657600"/>
            <a:ext cx="3255264" cy="1216152"/>
          </a:xfrm>
          <a:prstGeom prst="roundRect">
            <a:avLst>
              <a:gd name="adj" fmla="val 8000"/>
            </a:avLst>
          </a:prstGeom>
          <a:solidFill>
            <a:srgbClr val="FC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57031" y="3657600"/>
            <a:ext cx="50292" cy="1216152"/>
          </a:xfrm>
          <a:prstGeom prst="rect">
            <a:avLst/>
          </a:prstGeom>
          <a:solidFill>
            <a:srgbClr val="DA5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9911" y="3749039"/>
            <a:ext cx="2907792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800" b="1">
                <a:solidFill>
                  <a:srgbClr val="DA501B"/>
                </a:solidFill>
                <a:latin typeface="Noto Sans CJK SC"/>
                <a:ea typeface="Noto Sans CJK SC"/>
              </a:rPr>
              <a:t>2. 治理阶段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1" y="4160520"/>
            <a:ext cx="2889504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0">
                <a:solidFill>
                  <a:srgbClr val="243746"/>
                </a:solidFill>
                <a:latin typeface="Noto Sans CJK SC"/>
                <a:ea typeface="Noto Sans CJK SC"/>
              </a:rPr>
              <a:t>观察 oᵢ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0">
                <a:solidFill>
                  <a:srgbClr val="243746"/>
                </a:solidFill>
                <a:latin typeface="Noto Sans CJK SC"/>
                <a:ea typeface="Noto Sans CJK SC"/>
              </a:rPr>
              <a:t>未通过：选择替换或整改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57031" y="4956048"/>
            <a:ext cx="3255264" cy="1216152"/>
          </a:xfrm>
          <a:prstGeom prst="roundRect">
            <a:avLst>
              <a:gd name="adj" fmla="val 8000"/>
            </a:avLst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57031" y="4956048"/>
            <a:ext cx="50292" cy="1216152"/>
          </a:xfrm>
          <a:prstGeom prst="rect">
            <a:avLst/>
          </a:prstGeom>
          <a:solidFill>
            <a:srgbClr val="587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9911" y="5047488"/>
            <a:ext cx="2907792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800" b="1">
                <a:solidFill>
                  <a:srgbClr val="587C95"/>
                </a:solidFill>
                <a:latin typeface="Noto Sans CJK SC"/>
                <a:ea typeface="Noto Sans CJK SC"/>
              </a:rPr>
              <a:t>3. 交易与损害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1" y="5458968"/>
            <a:ext cx="2889504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0">
                <a:solidFill>
                  <a:srgbClr val="243746"/>
                </a:solidFill>
                <a:latin typeface="Noto Sans CJK SC"/>
                <a:ea typeface="Noto Sans CJK SC"/>
              </a:rPr>
              <a:t>两个投入品装配并销售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0">
                <a:solidFill>
                  <a:srgbClr val="243746"/>
                </a:solidFill>
                <a:latin typeface="Noto Sans CJK SC"/>
                <a:ea typeface="Noto Sans CJK SC"/>
              </a:rPr>
              <a:t>损害可能被外部发现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0472" y="585216"/>
            <a:ext cx="8046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243746"/>
                </a:solidFill>
                <a:latin typeface="Noto Sans CJK SC"/>
                <a:ea typeface="Noto Sans CJK SC"/>
              </a:rPr>
              <a:t>四、模型构建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768096"/>
            <a:ext cx="287121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07281"/>
                </a:solidFill>
                <a:latin typeface="Noto Sans CJK SC"/>
                <a:ea typeface="Noto Sans CJK SC"/>
              </a:rPr>
              <a:t>文献精读  /  POM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09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243746"/>
                </a:solidFill>
                <a:latin typeface="Noto Sans CJK SC"/>
                <a:ea typeface="Noto Sans CJK SC"/>
              </a:rPr>
              <a:t>每个供应商的事件概率与后果：模型目标函数的来源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473952"/>
            <a:ext cx="10963656" cy="0"/>
          </a:xfrm>
          <a:prstGeom prst="line">
            <a:avLst/>
          </a:prstGeom>
          <a:ln w="1270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9672"/>
            <a:ext cx="100584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607281"/>
                </a:solidFill>
                <a:latin typeface="Noto Sans CJK SC"/>
                <a:ea typeface="Noto Sans CJK SC"/>
              </a:rPr>
              <a:t>§3–4，pp. 5–7；表格为按原模型整理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0138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87C95"/>
                </a:solidFill>
                <a:latin typeface="Noto Sans CJK SC"/>
                <a:ea typeface="Noto Sans CJK SC"/>
              </a:rPr>
              <a:t>12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331720"/>
          <a:ext cx="10908792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3320"/>
                <a:gridCol w="2862072"/>
                <a:gridCol w="4343400"/>
              </a:tblGrid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真实类型 × 审计结果</a:t>
                      </a:r>
                    </a:p>
                  </a:txBody>
                  <a:tcPr marL="118872" marR="118872" marT="73152" marB="73152" anchor="ctr">
                    <a:solidFill>
                      <a:srgbClr val="587C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无条件概率</a:t>
                      </a:r>
                    </a:p>
                  </a:txBody>
                  <a:tcPr marL="118872" marR="118872" marT="73152" marB="73152" anchor="ctr">
                    <a:solidFill>
                      <a:srgbClr val="587C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治理 / 预期后果</a:t>
                      </a:r>
                    </a:p>
                  </a:txBody>
                  <a:tcPr marL="118872" marR="118872" marT="73152" marB="73152" anchor="ctr">
                    <a:solidFill>
                      <a:srgbClr val="587C95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合规 × 通过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e(1 − αᵢ)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无治理；无错误损失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合规 × 未通过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eαᵢ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替换：Δs + Dα；整改：Δr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违规 × 通过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(1 − e)βᵢ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无治理；预期损失 Dβ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违规 × 未通过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(1 − e)(1 − βᵢ)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替换：Δs；整改：Δr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未审计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xᵢ = 0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无治理；预期损失 (1 − e)Dβ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21792" y="5961888"/>
            <a:ext cx="10945368" cy="448056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5993892"/>
            <a:ext cx="10652760" cy="4069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800" b="1">
                <a:solidFill>
                  <a:srgbClr val="587C95"/>
                </a:solidFill>
                <a:latin typeface="Noto Sans CJK SC"/>
                <a:ea typeface="Noto Sans CJK SC"/>
              </a:rPr>
              <a:t>“审计未通过”的总概率：pᵢ = eαᵢ + (1 − e)(1 − βᵢ)。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0472" y="585216"/>
            <a:ext cx="8046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243746"/>
                </a:solidFill>
                <a:latin typeface="Noto Sans CJK SC"/>
                <a:ea typeface="Noto Sans CJK SC"/>
              </a:rPr>
              <a:t>四、模型构建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768096"/>
            <a:ext cx="287121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07281"/>
                </a:solidFill>
                <a:latin typeface="Noto Sans CJK SC"/>
                <a:ea typeface="Noto Sans CJK SC"/>
              </a:rPr>
              <a:t>文献精读  /  POM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09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243746"/>
                </a:solidFill>
                <a:latin typeface="Noto Sans CJK SC"/>
                <a:ea typeface="Noto Sans CJK SC"/>
              </a:rPr>
              <a:t>贝叶斯更新决定治理：替换节省的钱，能否覆盖误判风险？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473952"/>
            <a:ext cx="10963656" cy="0"/>
          </a:xfrm>
          <a:prstGeom prst="line">
            <a:avLst/>
          </a:prstGeom>
          <a:ln w="1270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9672"/>
            <a:ext cx="100584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607281"/>
                </a:solidFill>
                <a:latin typeface="Noto Sans CJK SC"/>
                <a:ea typeface="Noto Sans CJK SC"/>
              </a:rPr>
              <a:t>Lemma 1 / Proposition 3，pp. 7、10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0138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87C95"/>
                </a:solidFill>
                <a:latin typeface="Noto Sans CJK SC"/>
                <a:ea typeface="Noto Sans CJK SC"/>
              </a:rPr>
              <a:t>13</a:t>
            </a:r>
          </a:p>
        </p:txBody>
      </p:sp>
      <p:pic>
        <p:nvPicPr>
          <p:cNvPr id="9" name="Picture 8" descr="math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227" y="2432304"/>
            <a:ext cx="6934632" cy="868680"/>
          </a:xfrm>
          <a:prstGeom prst="rect">
            <a:avLst/>
          </a:prstGeom>
        </p:spPr>
      </p:pic>
      <p:pic>
        <p:nvPicPr>
          <p:cNvPr id="10" name="Picture 9" descr="math_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8229" y="3502152"/>
            <a:ext cx="6308628" cy="640080"/>
          </a:xfrm>
          <a:prstGeom prst="rect">
            <a:avLst/>
          </a:prstGeom>
        </p:spPr>
      </p:pic>
      <p:pic>
        <p:nvPicPr>
          <p:cNvPr id="11" name="Picture 10" descr="math_0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765" y="4480560"/>
            <a:ext cx="6785556" cy="6858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229600" y="2505456"/>
            <a:ext cx="3264408" cy="2679192"/>
          </a:xfrm>
          <a:prstGeom prst="roundRect">
            <a:avLst>
              <a:gd name="adj" fmla="val 8000"/>
            </a:avLst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2505456"/>
            <a:ext cx="50292" cy="2679192"/>
          </a:xfrm>
          <a:prstGeom prst="rect">
            <a:avLst/>
          </a:prstGeom>
          <a:solidFill>
            <a:srgbClr val="587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596896"/>
            <a:ext cx="2916936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1">
                <a:solidFill>
                  <a:srgbClr val="587C95"/>
                </a:solidFill>
                <a:latin typeface="Noto Sans CJK SC"/>
                <a:ea typeface="Noto Sans CJK SC"/>
              </a:rPr>
              <a:t>经济含义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108960"/>
            <a:ext cx="2898648" cy="20025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0">
                <a:solidFill>
                  <a:srgbClr val="243746"/>
                </a:solidFill>
                <a:latin typeface="Noto Sans CJK SC"/>
                <a:ea typeface="Noto Sans CJK SC"/>
              </a:rPr>
              <a:t>替换：成本低，但可能误伤合规者。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0">
                <a:solidFill>
                  <a:srgbClr val="243746"/>
                </a:solidFill>
                <a:latin typeface="Noto Sans CJK SC"/>
                <a:ea typeface="Noto Sans CJK SC"/>
              </a:rPr>
              <a:t>整改：可能更贵，但保留关系、避免 Dα。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5943600"/>
            <a:ext cx="10945368" cy="448056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5975604"/>
            <a:ext cx="10652760" cy="4069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1">
                <a:solidFill>
                  <a:srgbClr val="587C95"/>
                </a:solidFill>
                <a:latin typeface="Noto Sans CJK SC"/>
                <a:ea typeface="Noto Sans CJK SC"/>
              </a:rPr>
              <a:t>相反的不等式选择整改；等号时无差异。治理阈值只依赖本供应商的审计。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0472" y="585216"/>
            <a:ext cx="8046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243746"/>
                </a:solidFill>
                <a:latin typeface="Noto Sans CJK SC"/>
                <a:ea typeface="Noto Sans CJK SC"/>
              </a:rPr>
              <a:t>四、模型构建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768096"/>
            <a:ext cx="287121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07281"/>
                </a:solidFill>
                <a:latin typeface="Noto Sans CJK SC"/>
                <a:ea typeface="Noto Sans CJK SC"/>
              </a:rPr>
              <a:t>文献精读  /  POM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09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243746"/>
                </a:solidFill>
                <a:latin typeface="Noto Sans CJK SC"/>
                <a:ea typeface="Noto Sans CJK SC"/>
              </a:rPr>
              <a:t>买方的优化问题：最小化期望损失，同时满足总预算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473952"/>
            <a:ext cx="10963656" cy="0"/>
          </a:xfrm>
          <a:prstGeom prst="line">
            <a:avLst/>
          </a:prstGeom>
          <a:ln w="1270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9672"/>
            <a:ext cx="100584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607281"/>
                </a:solidFill>
                <a:latin typeface="Noto Sans CJK SC"/>
                <a:ea typeface="Noto Sans CJK SC"/>
              </a:rPr>
              <a:t>原文 eqs. (9)–(12)，p. 10；期望损失为等价整理式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0138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87C95"/>
                </a:solidFill>
                <a:latin typeface="Noto Sans CJK SC"/>
                <a:ea typeface="Noto Sans CJK SC"/>
              </a:rPr>
              <a:t>14</a:t>
            </a:r>
          </a:p>
        </p:txBody>
      </p:sp>
      <p:pic>
        <p:nvPicPr>
          <p:cNvPr id="9" name="Picture 8" descr="math_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2746" y="2267712"/>
            <a:ext cx="5872019" cy="859536"/>
          </a:xfrm>
          <a:prstGeom prst="rect">
            <a:avLst/>
          </a:prstGeom>
        </p:spPr>
      </p:pic>
      <p:pic>
        <p:nvPicPr>
          <p:cNvPr id="10" name="Picture 9" descr="math_0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2946" y="3383280"/>
            <a:ext cx="7200763" cy="484632"/>
          </a:xfrm>
          <a:prstGeom prst="rect">
            <a:avLst/>
          </a:prstGeom>
        </p:spPr>
      </p:pic>
      <p:pic>
        <p:nvPicPr>
          <p:cNvPr id="11" name="Picture 10" descr="math_0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1470" y="4087368"/>
            <a:ext cx="3296930" cy="795528"/>
          </a:xfrm>
          <a:prstGeom prst="rect">
            <a:avLst/>
          </a:prstGeom>
        </p:spPr>
      </p:pic>
      <p:pic>
        <p:nvPicPr>
          <p:cNvPr id="12" name="Picture 11" descr="math_00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811" y="5120640"/>
            <a:ext cx="10228185" cy="52120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0" y="4224528"/>
            <a:ext cx="4178808" cy="9052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800" b="0">
                <a:solidFill>
                  <a:srgbClr val="607281"/>
                </a:solidFill>
                <a:latin typeface="Noto Sans CJK SC"/>
                <a:ea typeface="Noto Sans CJK SC"/>
              </a:rPr>
              <a:t>pᵢ = eαᵢ + (1 − e)(1 − βᵢ)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800" b="0">
                <a:solidFill>
                  <a:srgbClr val="607281"/>
                </a:solidFill>
                <a:latin typeface="Noto Sans CJK SC"/>
                <a:ea typeface="Noto Sans CJK SC"/>
              </a:rPr>
              <a:t>先代入最优治理，再求审计方案。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5961888"/>
            <a:ext cx="10945368" cy="448056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5993892"/>
            <a:ext cx="10652760" cy="4069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1">
                <a:solidFill>
                  <a:srgbClr val="587C95"/>
                </a:solidFill>
                <a:latin typeface="Noto Sans CJK SC"/>
                <a:ea typeface="Noto Sans CJK SC"/>
              </a:rPr>
              <a:t>基准 B 是预算上限；第 6.2 节才将审计支出计入净利润。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0472" y="585216"/>
            <a:ext cx="8046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243746"/>
                </a:solidFill>
                <a:latin typeface="Noto Sans CJK SC"/>
                <a:ea typeface="Noto Sans CJK SC"/>
              </a:rPr>
              <a:t>四、模型构建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768096"/>
            <a:ext cx="287121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07281"/>
                </a:solidFill>
                <a:latin typeface="Noto Sans CJK SC"/>
                <a:ea typeface="Noto Sans CJK SC"/>
              </a:rPr>
              <a:t>文献精读  /  POM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09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243746"/>
                </a:solidFill>
                <a:latin typeface="Noto Sans CJK SC"/>
                <a:ea typeface="Noto Sans CJK SC"/>
              </a:rPr>
              <a:t>求解路径：后向归纳 + 内外层分解 + 覆盖数比较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473952"/>
            <a:ext cx="10963656" cy="0"/>
          </a:xfrm>
          <a:prstGeom prst="line">
            <a:avLst/>
          </a:prstGeom>
          <a:ln w="1270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9672"/>
            <a:ext cx="100584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607281"/>
                </a:solidFill>
                <a:latin typeface="Noto Sans CJK SC"/>
                <a:ea typeface="Noto Sans CJK SC"/>
              </a:rPr>
              <a:t>§4–5，pp. 6–14；方法流程为汇报整理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0138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87C95"/>
                </a:solidFill>
                <a:latin typeface="Noto Sans CJK SC"/>
                <a:ea typeface="Noto Sans CJK SC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578608"/>
            <a:ext cx="2596896" cy="2075688"/>
          </a:xfrm>
          <a:prstGeom prst="roundRect">
            <a:avLst>
              <a:gd name="adj" fmla="val 8000"/>
            </a:avLst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578608"/>
            <a:ext cx="50292" cy="2075688"/>
          </a:xfrm>
          <a:prstGeom prst="rect">
            <a:avLst/>
          </a:prstGeom>
          <a:solidFill>
            <a:srgbClr val="587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670048"/>
            <a:ext cx="2249424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1">
                <a:solidFill>
                  <a:srgbClr val="587C95"/>
                </a:solidFill>
                <a:latin typeface="Noto Sans CJK SC"/>
                <a:ea typeface="Noto Sans CJK SC"/>
              </a:rPr>
              <a:t>治理最优响应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182112"/>
            <a:ext cx="2231136" cy="139903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900" b="0">
                <a:solidFill>
                  <a:srgbClr val="243746"/>
                </a:solidFill>
                <a:latin typeface="Noto Sans CJK SC"/>
                <a:ea typeface="Noto Sans CJK SC"/>
              </a:rPr>
              <a:t>后验风险 → 整改 / 替换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91839" y="3401568"/>
            <a:ext cx="164592" cy="201168"/>
          </a:xfrm>
          <a:prstGeom prst="rightArrow">
            <a:avLst/>
          </a:prstGeom>
          <a:solidFill>
            <a:srgbClr val="587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93008" y="2578608"/>
            <a:ext cx="2596896" cy="2075688"/>
          </a:xfrm>
          <a:prstGeom prst="roundRect">
            <a:avLst>
              <a:gd name="adj" fmla="val 8000"/>
            </a:avLst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93008" y="2578608"/>
            <a:ext cx="50292" cy="2075688"/>
          </a:xfrm>
          <a:prstGeom prst="rect">
            <a:avLst/>
          </a:prstGeom>
          <a:solidFill>
            <a:srgbClr val="587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8" y="2670048"/>
            <a:ext cx="2249424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1">
                <a:solidFill>
                  <a:srgbClr val="587C95"/>
                </a:solidFill>
                <a:latin typeface="Noto Sans CJK SC"/>
                <a:ea typeface="Noto Sans CJK SC"/>
              </a:rPr>
              <a:t>一对一基准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8" y="3182112"/>
            <a:ext cx="2231136" cy="139903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900" b="0">
                <a:solidFill>
                  <a:srgbClr val="243746"/>
                </a:solidFill>
                <a:latin typeface="Noto Sans CJK SC"/>
                <a:ea typeface="Noto Sans CJK SC"/>
              </a:rPr>
              <a:t>固定 b → 选 α、β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126480" y="3401568"/>
            <a:ext cx="164592" cy="201168"/>
          </a:xfrm>
          <a:prstGeom prst="rightArrow">
            <a:avLst/>
          </a:prstGeom>
          <a:solidFill>
            <a:srgbClr val="587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27648" y="2578608"/>
            <a:ext cx="2596896" cy="2075688"/>
          </a:xfrm>
          <a:prstGeom prst="roundRect">
            <a:avLst>
              <a:gd name="adj" fmla="val 8000"/>
            </a:avLst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27648" y="2578608"/>
            <a:ext cx="50292" cy="2075688"/>
          </a:xfrm>
          <a:prstGeom prst="rect">
            <a:avLst/>
          </a:prstGeom>
          <a:solidFill>
            <a:srgbClr val="587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2670048"/>
            <a:ext cx="2249424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1">
                <a:solidFill>
                  <a:srgbClr val="587C95"/>
                </a:solidFill>
                <a:latin typeface="Noto Sans CJK SC"/>
                <a:ea typeface="Noto Sans CJK SC"/>
              </a:rPr>
              <a:t>两家内层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182112"/>
            <a:ext cx="2231136" cy="139903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900" b="0">
                <a:solidFill>
                  <a:srgbClr val="243746"/>
                </a:solidFill>
                <a:latin typeface="Noto Sans CJK SC"/>
                <a:ea typeface="Noto Sans CJK SC"/>
              </a:rPr>
              <a:t>给定 b₁、b₂ → 错误政策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961120" y="3401568"/>
            <a:ext cx="164592" cy="201168"/>
          </a:xfrm>
          <a:prstGeom prst="rightArrow">
            <a:avLst/>
          </a:prstGeom>
          <a:solidFill>
            <a:srgbClr val="587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62288" y="2578608"/>
            <a:ext cx="2596896" cy="2075688"/>
          </a:xfrm>
          <a:prstGeom prst="roundRect">
            <a:avLst>
              <a:gd name="adj" fmla="val 8000"/>
            </a:avLst>
          </a:prstGeom>
          <a:solidFill>
            <a:srgbClr val="FC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62288" y="2578608"/>
            <a:ext cx="50292" cy="2075688"/>
          </a:xfrm>
          <a:prstGeom prst="rect">
            <a:avLst/>
          </a:prstGeom>
          <a:solidFill>
            <a:srgbClr val="DA5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5168" y="2670048"/>
            <a:ext cx="2249424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1">
                <a:solidFill>
                  <a:srgbClr val="DA501B"/>
                </a:solidFill>
                <a:latin typeface="Noto Sans CJK SC"/>
                <a:ea typeface="Noto Sans CJK SC"/>
              </a:rPr>
              <a:t>两家外层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5168" y="3182112"/>
            <a:ext cx="2231136" cy="139903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900" b="0">
                <a:solidFill>
                  <a:srgbClr val="243746"/>
                </a:solidFill>
                <a:latin typeface="Noto Sans CJK SC"/>
                <a:ea typeface="Noto Sans CJK SC"/>
              </a:rPr>
              <a:t>预算约束 → 最优 b₁、b₂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5074920"/>
            <a:ext cx="8503920" cy="768096"/>
          </a:xfrm>
          <a:prstGeom prst="rect">
            <a:avLst/>
          </a:prstGeom>
          <a:solidFill>
            <a:srgbClr val="FC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84248" y="5230368"/>
            <a:ext cx="8193024" cy="4297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2200" b="1">
                <a:solidFill>
                  <a:srgbClr val="DA501B"/>
                </a:solidFill>
                <a:latin typeface="Noto Sans CJK SC"/>
                <a:ea typeface="Noto Sans CJK SC"/>
              </a:rPr>
              <a:t>最后比较覆盖方案：不审计 vs 审计 1 家 vs 审计 2 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6035040"/>
            <a:ext cx="10533888" cy="3017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0">
                <a:solidFill>
                  <a:srgbClr val="607281"/>
                </a:solidFill>
                <a:latin typeface="Noto Sans CJK SC"/>
                <a:ea typeface="Noto Sans CJK SC"/>
              </a:rPr>
              <a:t>主模型为单个买方的序贯优化；供应商内生努力拓展才引入策略互动。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0472" y="585216"/>
            <a:ext cx="8046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243746"/>
                </a:solidFill>
                <a:latin typeface="Noto Sans CJK SC"/>
                <a:ea typeface="Noto Sans CJK SC"/>
              </a:rPr>
              <a:t>五、均衡分析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768096"/>
            <a:ext cx="287121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07281"/>
                </a:solidFill>
                <a:latin typeface="Noto Sans CJK SC"/>
                <a:ea typeface="Noto Sans CJK SC"/>
              </a:rPr>
              <a:t>文献精读  /  POM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09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243746"/>
                </a:solidFill>
                <a:latin typeface="Noto Sans CJK SC"/>
                <a:ea typeface="Noto Sans CJK SC"/>
              </a:rPr>
              <a:t>一对一基准：最优错误组合落在等准确度线的两个端点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473952"/>
            <a:ext cx="10963656" cy="0"/>
          </a:xfrm>
          <a:prstGeom prst="line">
            <a:avLst/>
          </a:prstGeom>
          <a:ln w="1270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9672"/>
            <a:ext cx="100584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607281"/>
                </a:solidFill>
                <a:latin typeface="Noto Sans CJK SC"/>
                <a:ea typeface="Noto Sans CJK SC"/>
              </a:rPr>
              <a:t>§4；Lemma 2 / Proposition 1，pp. 7–8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0138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87C95"/>
                </a:solidFill>
                <a:latin typeface="Noto Sans CJK SC"/>
                <a:ea typeface="Noto Sans CJK SC"/>
              </a:rPr>
              <a:t>16</a:t>
            </a:r>
          </a:p>
        </p:txBody>
      </p:sp>
      <p:pic>
        <p:nvPicPr>
          <p:cNvPr id="9" name="Picture 8" descr="math_0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0866" y="2340864"/>
            <a:ext cx="3365467" cy="59436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3282696"/>
          <a:ext cx="10908791" cy="2551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9816"/>
                <a:gridCol w="3831336"/>
                <a:gridCol w="3977639"/>
              </a:tblGrid>
              <a:tr h="850392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策略</a:t>
                      </a:r>
                    </a:p>
                  </a:txBody>
                  <a:tcPr marL="118872" marR="118872" marT="73152" marB="73152" anchor="ctr">
                    <a:solidFill>
                      <a:srgbClr val="587C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最优错误率</a:t>
                      </a:r>
                    </a:p>
                  </a:txBody>
                  <a:tcPr marL="118872" marR="118872" marT="73152" marB="73152" anchor="ctr">
                    <a:solidFill>
                      <a:srgbClr val="587C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20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治理含义</a:t>
                      </a:r>
                    </a:p>
                  </a:txBody>
                  <a:tcPr marL="118872" marR="118872" marT="73152" marB="73152" anchor="ctr">
                    <a:solidFill>
                      <a:srgbClr val="587C95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9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No-false-alarm</a:t>
                      </a:r>
                    </a:p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9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避免误报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9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α* = 0</a:t>
                      </a:r>
                    </a:p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9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β* = (1 − b₀)/(1 − e)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9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未通过者必为违规者；</a:t>
                      </a:r>
                    </a:p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9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治理动作由成本比较决定。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9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Catch-all</a:t>
                      </a:r>
                    </a:p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9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全面筛查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9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α* = (1 − b₀)/e</a:t>
                      </a:r>
                    </a:p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9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β* = 0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9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不放过违规者；</a:t>
                      </a:r>
                    </a:p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9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未通过者可能合规，治理需防误伤。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21792" y="5961888"/>
            <a:ext cx="10945368" cy="448056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5993892"/>
            <a:ext cx="10652760" cy="4069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1">
                <a:solidFill>
                  <a:srgbClr val="587C95"/>
                </a:solidFill>
                <a:latin typeface="Noto Sans CJK SC"/>
                <a:ea typeface="Noto Sans CJK SC"/>
              </a:rPr>
              <a:t>审计需要有治理价值：min{Δs, Δr} &lt; Dβ；并满足最低准确度的预算要求。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0472" y="585216"/>
            <a:ext cx="8046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243746"/>
                </a:solidFill>
                <a:latin typeface="Noto Sans CJK SC"/>
                <a:ea typeface="Noto Sans CJK SC"/>
              </a:rPr>
              <a:t>五、均衡分析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768096"/>
            <a:ext cx="287121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07281"/>
                </a:solidFill>
                <a:latin typeface="Noto Sans CJK SC"/>
                <a:ea typeface="Noto Sans CJK SC"/>
              </a:rPr>
              <a:t>文献精读  /  POM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09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243746"/>
                </a:solidFill>
                <a:latin typeface="Noto Sans CJK SC"/>
                <a:ea typeface="Noto Sans CJK SC"/>
              </a:rPr>
              <a:t>原文图 2：治理成本决定优先控制哪类错误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473952"/>
            <a:ext cx="10963656" cy="0"/>
          </a:xfrm>
          <a:prstGeom prst="line">
            <a:avLst/>
          </a:prstGeom>
          <a:ln w="1270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9672"/>
            <a:ext cx="100584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607281"/>
                </a:solidFill>
                <a:latin typeface="Noto Sans CJK SC"/>
                <a:ea typeface="Noto Sans CJK SC"/>
              </a:rPr>
              <a:t>原文 Figure 2 / Proposition 1，p. 8；e = 0.5，Dβ = 5.5，b₀ = 0.8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0138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87C95"/>
                </a:solidFill>
                <a:latin typeface="Noto Sans CJK SC"/>
                <a:ea typeface="Noto Sans CJK SC"/>
              </a:rPr>
              <a:t>17</a:t>
            </a:r>
          </a:p>
        </p:txBody>
      </p:sp>
      <p:pic>
        <p:nvPicPr>
          <p:cNvPr id="9" name="Picture 8" descr="fi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500" y="2304288"/>
            <a:ext cx="7516982" cy="40050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50224" y="2478024"/>
            <a:ext cx="2779776" cy="4937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100" b="1">
                <a:solidFill>
                  <a:srgbClr val="587C95"/>
                </a:solidFill>
                <a:latin typeface="Noto Sans CJK SC"/>
                <a:ea typeface="Noto Sans CJK SC"/>
              </a:rPr>
              <a:t>读图顺序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50224" y="3118104"/>
            <a:ext cx="2761488" cy="2670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800" b="0">
                <a:solidFill>
                  <a:srgbClr val="243746"/>
                </a:solidFill>
                <a:latin typeface="Noto Sans CJK SC"/>
                <a:ea typeface="Noto Sans CJK SC"/>
              </a:rPr>
              <a:t>① 横轴 Δr，纵轴 Δs。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800" b="0">
                <a:solidFill>
                  <a:srgbClr val="243746"/>
                </a:solidFill>
                <a:latin typeface="Noto Sans CJK SC"/>
                <a:ea typeface="Noto Sans CJK SC"/>
              </a:rPr>
              <a:t>② 纹理表示错误政策。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800" b="0">
                <a:solidFill>
                  <a:srgbClr val="243746"/>
                </a:solidFill>
                <a:latin typeface="Noto Sans CJK SC"/>
                <a:ea typeface="Noto Sans CJK SC"/>
              </a:rPr>
              <a:t>③ rectify / replace 表示治理动作。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800" b="0">
                <a:solidFill>
                  <a:srgbClr val="243746"/>
                </a:solidFill>
                <a:latin typeface="Noto Sans CJK SC"/>
                <a:ea typeface="Noto Sans CJK SC"/>
              </a:rPr>
              <a:t>④ 右图是 Dα = 0 对照。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0224" y="5532120"/>
            <a:ext cx="2743200" cy="7406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DA501B"/>
                </a:solidFill>
                <a:latin typeface="Noto Sans CJK SC"/>
                <a:ea typeface="Noto Sans CJK SC"/>
              </a:rPr>
              <a:t>高成本：优先防误报。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DA501B"/>
                </a:solidFill>
                <a:latin typeface="Noto Sans CJK SC"/>
                <a:ea typeface="Noto Sans CJK SC"/>
              </a:rPr>
              <a:t>低成本：优先防漏报。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0472" y="585216"/>
            <a:ext cx="8046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243746"/>
                </a:solidFill>
                <a:latin typeface="Noto Sans CJK SC"/>
                <a:ea typeface="Noto Sans CJK SC"/>
              </a:rPr>
              <a:t>五、均衡分析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768096"/>
            <a:ext cx="287121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07281"/>
                </a:solidFill>
                <a:latin typeface="Noto Sans CJK SC"/>
                <a:ea typeface="Noto Sans CJK SC"/>
              </a:rPr>
              <a:t>文献精读  /  POM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09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243746"/>
                </a:solidFill>
                <a:latin typeface="Noto Sans CJK SC"/>
                <a:ea typeface="Noto Sans CJK SC"/>
              </a:rPr>
              <a:t>预算触发政策切换：企业损失下降，社会筛查却可能变弱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473952"/>
            <a:ext cx="10963656" cy="0"/>
          </a:xfrm>
          <a:prstGeom prst="line">
            <a:avLst/>
          </a:prstGeom>
          <a:ln w="1270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9672"/>
            <a:ext cx="100584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607281"/>
                </a:solidFill>
                <a:latin typeface="Noto Sans CJK SC"/>
                <a:ea typeface="Noto Sans CJK SC"/>
              </a:rPr>
              <a:t>依据 Proposition 1(iii.b) / Proposition 2 自行计算；不是论文原图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0138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87C95"/>
                </a:solidFill>
                <a:latin typeface="Noto Sans CJK SC"/>
                <a:ea typeface="Noto Sans CJK SC"/>
              </a:rPr>
              <a:t>18</a:t>
            </a:r>
          </a:p>
        </p:txBody>
      </p:sp>
      <p:pic>
        <p:nvPicPr>
          <p:cNvPr id="9" name="Picture 8" descr="benchmark_cal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8049" y="2331720"/>
            <a:ext cx="9278573" cy="3099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8096" y="5513832"/>
            <a:ext cx="10707624" cy="3749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0">
                <a:solidFill>
                  <a:srgbClr val="607281"/>
                </a:solidFill>
                <a:latin typeface="Noto Sans CJK SC"/>
                <a:ea typeface="Noto Sans CJK SC"/>
              </a:rPr>
              <a:t>算例：e = 0.5，Dα = 3，Dβ = 5.5，Δs = 1.6，Δr = 2；切换点 b̄̄ ≈ 0.895。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5961888"/>
            <a:ext cx="10945368" cy="448056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5993892"/>
            <a:ext cx="10652760" cy="4069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800" b="1">
                <a:solidFill>
                  <a:srgbClr val="587C95"/>
                </a:solidFill>
                <a:latin typeface="Noto Sans CJK SC"/>
                <a:ea typeface="Noto Sans CJK SC"/>
              </a:rPr>
              <a:t>低预算：Catch-all + 整改；高预算：No-false-alarm + 低成本替换。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0472" y="585216"/>
            <a:ext cx="8046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243746"/>
                </a:solidFill>
                <a:latin typeface="Noto Sans CJK SC"/>
                <a:ea typeface="Noto Sans CJK SC"/>
              </a:rPr>
              <a:t>五、均衡分析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768096"/>
            <a:ext cx="287121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07281"/>
                </a:solidFill>
                <a:latin typeface="Noto Sans CJK SC"/>
                <a:ea typeface="Noto Sans CJK SC"/>
              </a:rPr>
              <a:t>文献精读  /  POM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09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243746"/>
                </a:solidFill>
                <a:latin typeface="Noto Sans CJK SC"/>
                <a:ea typeface="Noto Sans CJK SC"/>
              </a:rPr>
              <a:t>忽略误报损失：既可能选错错误政策，也可能选错治理动作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473952"/>
            <a:ext cx="10963656" cy="0"/>
          </a:xfrm>
          <a:prstGeom prst="line">
            <a:avLst/>
          </a:prstGeom>
          <a:ln w="1270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9672"/>
            <a:ext cx="100584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607281"/>
                </a:solidFill>
                <a:latin typeface="Noto Sans CJK SC"/>
                <a:ea typeface="Noto Sans CJK SC"/>
              </a:rPr>
              <a:t>原文 Figure 2(b) / Corollary 1，pp. 8–9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0138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87C95"/>
                </a:solidFill>
                <a:latin typeface="Noto Sans CJK SC"/>
                <a:ea typeface="Noto Sans CJK SC"/>
              </a:rPr>
              <a:t>19</a:t>
            </a:r>
          </a:p>
        </p:txBody>
      </p:sp>
      <p:pic>
        <p:nvPicPr>
          <p:cNvPr id="9" name="Picture 8" descr="fig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1098" y="2331720"/>
            <a:ext cx="4066074" cy="38404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45352" y="2487168"/>
            <a:ext cx="5047488" cy="1316736"/>
          </a:xfrm>
          <a:prstGeom prst="roundRect">
            <a:avLst>
              <a:gd name="adj" fmla="val 8000"/>
            </a:avLst>
          </a:prstGeom>
          <a:solidFill>
            <a:srgbClr val="FC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2487168"/>
            <a:ext cx="50292" cy="1316736"/>
          </a:xfrm>
          <a:prstGeom prst="rect">
            <a:avLst/>
          </a:prstGeom>
          <a:solidFill>
            <a:srgbClr val="DA5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2578608"/>
            <a:ext cx="4700016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800" b="1">
                <a:solidFill>
                  <a:srgbClr val="DA501B"/>
                </a:solidFill>
                <a:latin typeface="Noto Sans CJK SC"/>
                <a:ea typeface="Noto Sans CJK SC"/>
              </a:rPr>
              <a:t>失误 1：政策选错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990088"/>
            <a:ext cx="4681727" cy="7406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0">
                <a:solidFill>
                  <a:srgbClr val="243746"/>
                </a:solidFill>
                <a:latin typeface="Noto Sans CJK SC"/>
                <a:ea typeface="Noto Sans CJK SC"/>
              </a:rPr>
              <a:t>过度强调漏报，低估错误替换的声誉风险。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3977639"/>
            <a:ext cx="5047488" cy="1517904"/>
          </a:xfrm>
          <a:prstGeom prst="roundRect">
            <a:avLst>
              <a:gd name="adj" fmla="val 8000"/>
            </a:avLst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5352" y="3977639"/>
            <a:ext cx="50292" cy="1517904"/>
          </a:xfrm>
          <a:prstGeom prst="rect">
            <a:avLst/>
          </a:prstGeom>
          <a:solidFill>
            <a:srgbClr val="587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4069079"/>
            <a:ext cx="4700016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1">
                <a:solidFill>
                  <a:srgbClr val="587C95"/>
                </a:solidFill>
                <a:latin typeface="Noto Sans CJK SC"/>
                <a:ea typeface="Noto Sans CJK SC"/>
              </a:rPr>
              <a:t>失误 2：动作选错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4581144"/>
            <a:ext cx="4681727" cy="8412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900" b="0">
                <a:solidFill>
                  <a:srgbClr val="243746"/>
                </a:solidFill>
                <a:latin typeface="Noto Sans CJK SC"/>
                <a:ea typeface="Noto Sans CJK SC"/>
              </a:rPr>
              <a:t>审计政策可能正确，但把本应整改的供应商替换，暴露于 Dα。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5614416"/>
            <a:ext cx="4754880" cy="7040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1">
                <a:solidFill>
                  <a:srgbClr val="587C95"/>
                </a:solidFill>
                <a:latin typeface="Noto Sans CJK SC"/>
                <a:ea typeface="Noto Sans CJK SC"/>
              </a:rPr>
              <a:t>预算紧、Dα 大、Dβ 较小时，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1">
                <a:solidFill>
                  <a:srgbClr val="587C95"/>
                </a:solidFill>
                <a:latin typeface="Noto Sans CJK SC"/>
                <a:ea typeface="Noto Sans CJK SC"/>
              </a:rPr>
              <a:t>忽略误报的损失更明显。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0472" y="585216"/>
            <a:ext cx="8046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243746"/>
                </a:solidFill>
                <a:latin typeface="Noto Sans CJK SC"/>
                <a:ea typeface="Noto Sans CJK SC"/>
              </a:rPr>
              <a:t>五、均衡分析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768096"/>
            <a:ext cx="287121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07281"/>
                </a:solidFill>
                <a:latin typeface="Noto Sans CJK SC"/>
                <a:ea typeface="Noto Sans CJK SC"/>
              </a:rPr>
              <a:t>文献精读  /  POM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09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243746"/>
                </a:solidFill>
                <a:latin typeface="Noto Sans CJK SC"/>
                <a:ea typeface="Noto Sans CJK SC"/>
              </a:rPr>
              <a:t>原文图 3：给定不同预算，两个供应商可采用不同政策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473952"/>
            <a:ext cx="10963656" cy="0"/>
          </a:xfrm>
          <a:prstGeom prst="line">
            <a:avLst/>
          </a:prstGeom>
          <a:ln w="1270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9672"/>
            <a:ext cx="100584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607281"/>
                </a:solidFill>
                <a:latin typeface="Noto Sans CJK SC"/>
                <a:ea typeface="Noto Sans CJK SC"/>
              </a:rPr>
              <a:t>原文 Figure 3 / Proposition 4，p. 12；e = 0.5，Dβ = 5.5，b₁ = 0.88，b₂ = 0.72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0138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87C95"/>
                </a:solidFill>
                <a:latin typeface="Noto Sans CJK SC"/>
                <a:ea typeface="Noto Sans CJK SC"/>
              </a:rPr>
              <a:t>20</a:t>
            </a:r>
          </a:p>
        </p:txBody>
      </p:sp>
      <p:pic>
        <p:nvPicPr>
          <p:cNvPr id="9" name="Picture 8" descr="fi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801" y="2313432"/>
            <a:ext cx="7921244" cy="39684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05088" y="2468880"/>
            <a:ext cx="2670048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1">
                <a:solidFill>
                  <a:srgbClr val="587C95"/>
                </a:solidFill>
                <a:latin typeface="Noto Sans CJK SC"/>
                <a:ea typeface="Noto Sans CJK SC"/>
              </a:rPr>
              <a:t>这一图回答内层问题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5088" y="3191256"/>
            <a:ext cx="2660904" cy="2286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800" b="0">
                <a:solidFill>
                  <a:srgbClr val="243746"/>
                </a:solidFill>
                <a:latin typeface="Noto Sans CJK SC"/>
                <a:ea typeface="Noto Sans CJK SC"/>
              </a:rPr>
              <a:t>b₁ &gt; b₂：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800" b="0">
                <a:solidFill>
                  <a:srgbClr val="243746"/>
                </a:solidFill>
                <a:latin typeface="Noto Sans CJK SC"/>
                <a:ea typeface="Noto Sans CJK SC"/>
              </a:rPr>
              <a:t>供应商 1 的审计更准。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800" b="0">
                <a:solidFill>
                  <a:srgbClr val="243746"/>
                </a:solidFill>
                <a:latin typeface="Noto Sans CJK SC"/>
                <a:ea typeface="Noto Sans CJK SC"/>
              </a:rPr>
              <a:t/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800" b="0">
                <a:solidFill>
                  <a:srgbClr val="243746"/>
                </a:solidFill>
                <a:latin typeface="Noto Sans CJK SC"/>
                <a:ea typeface="Noto Sans CJK SC"/>
              </a:rPr>
              <a:t>中间区域可能出现不同的治理动作，或不同的错误政策。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5088" y="5577840"/>
            <a:ext cx="2688336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1">
                <a:solidFill>
                  <a:srgbClr val="DA501B"/>
                </a:solidFill>
                <a:latin typeface="Noto Sans CJK SC"/>
                <a:ea typeface="Noto Sans CJK SC"/>
              </a:rPr>
              <a:t>“给定不均分”不等于“已经证明不均分最优”。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0472" y="585216"/>
            <a:ext cx="8046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243746"/>
                </a:solidFill>
                <a:latin typeface="Noto Sans CJK SC"/>
                <a:ea typeface="Noto Sans CJK SC"/>
              </a:rPr>
              <a:t>五、均衡分析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768096"/>
            <a:ext cx="287121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07281"/>
                </a:solidFill>
                <a:latin typeface="Noto Sans CJK SC"/>
                <a:ea typeface="Noto Sans CJK SC"/>
              </a:rPr>
              <a:t>文献精读  /  POM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09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243746"/>
                </a:solidFill>
                <a:latin typeface="Noto Sans CJK SC"/>
                <a:ea typeface="Noto Sans CJK SC"/>
              </a:rPr>
              <a:t>外层预算分配：对称网络也可能“不均等配置”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473952"/>
            <a:ext cx="10963656" cy="0"/>
          </a:xfrm>
          <a:prstGeom prst="line">
            <a:avLst/>
          </a:prstGeom>
          <a:ln w="1270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9672"/>
            <a:ext cx="100584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607281"/>
                </a:solidFill>
                <a:latin typeface="Noto Sans CJK SC"/>
                <a:ea typeface="Noto Sans CJK SC"/>
              </a:rPr>
              <a:t>Proposition 5 / Corollary 3，pp. 11–13；图为按模型自行计算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0138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87C95"/>
                </a:solidFill>
                <a:latin typeface="Noto Sans CJK SC"/>
                <a:ea typeface="Noto Sans CJK SC"/>
              </a:rPr>
              <a:t>21</a:t>
            </a:r>
          </a:p>
        </p:txBody>
      </p:sp>
      <p:pic>
        <p:nvPicPr>
          <p:cNvPr id="9" name="Picture 8" descr="allocation_cal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397200"/>
            <a:ext cx="7342631" cy="317916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38744" y="2551176"/>
            <a:ext cx="3291840" cy="2651760"/>
          </a:xfrm>
          <a:prstGeom prst="roundRect">
            <a:avLst>
              <a:gd name="adj" fmla="val 8000"/>
            </a:avLst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38744" y="2551176"/>
            <a:ext cx="50292" cy="2651760"/>
          </a:xfrm>
          <a:prstGeom prst="rect">
            <a:avLst/>
          </a:prstGeom>
          <a:solidFill>
            <a:srgbClr val="587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21624" y="2642616"/>
            <a:ext cx="2944368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1">
                <a:solidFill>
                  <a:srgbClr val="587C95"/>
                </a:solidFill>
                <a:latin typeface="Noto Sans CJK SC"/>
                <a:ea typeface="Noto Sans CJK SC"/>
              </a:rPr>
              <a:t>不均分的机制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1624" y="3154680"/>
            <a:ext cx="2926080" cy="197510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900" b="0">
                <a:solidFill>
                  <a:srgbClr val="243746"/>
                </a:solidFill>
                <a:latin typeface="Noto Sans CJK SC"/>
                <a:ea typeface="Noto Sans CJK SC"/>
              </a:rPr>
              <a:t>同样的一元资源，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900" b="0">
                <a:solidFill>
                  <a:srgbClr val="243746"/>
                </a:solidFill>
                <a:latin typeface="Noto Sans CJK SC"/>
                <a:ea typeface="Noto Sans CJK SC"/>
              </a:rPr>
              <a:t>在不同政策 / 治理分支上带来的损失降低不同。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900" b="0">
                <a:solidFill>
                  <a:srgbClr val="243746"/>
                </a:solidFill>
                <a:latin typeface="Noto Sans CJK SC"/>
                <a:ea typeface="Noto Sans CJK SC"/>
              </a:rPr>
              <a:t>先让一家跨越切换点。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632704"/>
            <a:ext cx="10689336" cy="2834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50" b="0">
                <a:solidFill>
                  <a:srgbClr val="607281"/>
                </a:solidFill>
                <a:latin typeface="Noto Sans CJK SC"/>
                <a:ea typeface="Noto Sans CJK SC"/>
              </a:rPr>
              <a:t>算例：e = 0.5，Dα = 3，Dβ = 5.5，Δs = 1.6，Δr = 2；条件：审计两家；预算金额为 bᵢ²/2。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5961888"/>
            <a:ext cx="10945368" cy="448056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5993892"/>
            <a:ext cx="10652760" cy="4069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800" b="1">
                <a:solidFill>
                  <a:srgbClr val="587C95"/>
                </a:solidFill>
                <a:latin typeface="Noto Sans CJK SC"/>
                <a:ea typeface="Noto Sans CJK SC"/>
              </a:rPr>
              <a:t>典型结构：低预算均分 → 中等预算不均分 → 高预算重新均分。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0472" y="585216"/>
            <a:ext cx="8046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243746"/>
                </a:solidFill>
                <a:latin typeface="Noto Sans CJK SC"/>
                <a:ea typeface="Noto Sans CJK SC"/>
              </a:rPr>
              <a:t>五、均衡分析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768096"/>
            <a:ext cx="287121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07281"/>
                </a:solidFill>
                <a:latin typeface="Noto Sans CJK SC"/>
                <a:ea typeface="Noto Sans CJK SC"/>
              </a:rPr>
              <a:t>文献精读  /  POM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09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243746"/>
                </a:solidFill>
                <a:latin typeface="Noto Sans CJK SC"/>
                <a:ea typeface="Noto Sans CJK SC"/>
              </a:rPr>
              <a:t>社会效果：审计两家时，预算增加可能使违规风险跳升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473952"/>
            <a:ext cx="10963656" cy="0"/>
          </a:xfrm>
          <a:prstGeom prst="line">
            <a:avLst/>
          </a:prstGeom>
          <a:ln w="1270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9672"/>
            <a:ext cx="100584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607281"/>
                </a:solidFill>
                <a:latin typeface="Noto Sans CJK SC"/>
                <a:ea typeface="Noto Sans CJK SC"/>
              </a:rPr>
              <a:t>Proposition 6，p. 13；图为同一算例自行计算，条件：审计两家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0138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87C95"/>
                </a:solidFill>
                <a:latin typeface="Noto Sans CJK SC"/>
                <a:ea typeface="Noto Sans CJK SC"/>
              </a:rPr>
              <a:t>22</a:t>
            </a:r>
          </a:p>
        </p:txBody>
      </p:sp>
      <p:pic>
        <p:nvPicPr>
          <p:cNvPr id="9" name="Picture 8" descr="math_0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8590" y="2331720"/>
            <a:ext cx="7404338" cy="576072"/>
          </a:xfrm>
          <a:prstGeom prst="rect">
            <a:avLst/>
          </a:prstGeom>
        </p:spPr>
      </p:pic>
      <p:pic>
        <p:nvPicPr>
          <p:cNvPr id="10" name="Picture 9" descr="social_cal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591" y="3154680"/>
            <a:ext cx="6969289" cy="3017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36992" y="3273552"/>
            <a:ext cx="3611880" cy="2880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800" b="0">
                <a:solidFill>
                  <a:srgbClr val="243746"/>
                </a:solidFill>
                <a:latin typeface="Noto Sans CJK SC"/>
                <a:ea typeface="Noto Sans CJK SC"/>
              </a:rPr>
              <a:t>两家 Catch-all：L* = 0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800" b="0">
                <a:solidFill>
                  <a:srgbClr val="243746"/>
                </a:solidFill>
                <a:latin typeface="Noto Sans CJK SC"/>
                <a:ea typeface="Noto Sans CJK SC"/>
              </a:rPr>
              <a:t>混合政策：L* = 1 − b₁*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800" b="0">
                <a:solidFill>
                  <a:srgbClr val="243746"/>
                </a:solidFill>
                <a:latin typeface="Noto Sans CJK SC"/>
                <a:ea typeface="Noto Sans CJK SC"/>
              </a:rPr>
              <a:t>两家 No-false-alarm 且均分：L* = 1 − B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800" b="0">
                <a:solidFill>
                  <a:srgbClr val="243746"/>
                </a:solidFill>
                <a:latin typeface="Noto Sans CJK SC"/>
                <a:ea typeface="Noto Sans CJK SC"/>
              </a:rPr>
              <a:t/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800" b="0">
                <a:solidFill>
                  <a:srgbClr val="243746"/>
                </a:solidFill>
                <a:latin typeface="Noto Sans CJK SC"/>
                <a:ea typeface="Noto Sans CJK SC"/>
              </a:rPr>
              <a:t>跳升来自政策改变，不是准确度下降。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0472" y="585216"/>
            <a:ext cx="8046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243746"/>
                </a:solidFill>
                <a:latin typeface="Noto Sans CJK SC"/>
                <a:ea typeface="Noto Sans CJK SC"/>
              </a:rPr>
              <a:t>五、均衡分析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768096"/>
            <a:ext cx="287121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07281"/>
                </a:solidFill>
                <a:latin typeface="Noto Sans CJK SC"/>
                <a:ea typeface="Noto Sans CJK SC"/>
              </a:rPr>
              <a:t>文献精读  /  POM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09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243746"/>
                </a:solidFill>
                <a:latin typeface="Noto Sans CJK SC"/>
                <a:ea typeface="Noto Sans CJK SC"/>
              </a:rPr>
              <a:t>原文图 4：审计覆盖数可能随预算出现“1 → 2 → 1 → 2”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473952"/>
            <a:ext cx="10963656" cy="0"/>
          </a:xfrm>
          <a:prstGeom prst="line">
            <a:avLst/>
          </a:prstGeom>
          <a:ln w="1270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9672"/>
            <a:ext cx="100584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607281"/>
                </a:solidFill>
                <a:latin typeface="Noto Sans CJK SC"/>
                <a:ea typeface="Noto Sans CJK SC"/>
              </a:rPr>
              <a:t>图4，p. 14｜左：Dα=.306，Dβ=.72，Δr=.3，Δs=.6；右：Dα=2.5，Dβ=3.6，Δr=1.3，Δs=.5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0138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87C95"/>
                </a:solidFill>
                <a:latin typeface="Noto Sans CJK SC"/>
                <a:ea typeface="Noto Sans CJK SC"/>
              </a:rPr>
              <a:t>23</a:t>
            </a:r>
          </a:p>
        </p:txBody>
      </p:sp>
      <p:pic>
        <p:nvPicPr>
          <p:cNvPr id="9" name="Picture 8" descr="fig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8348" y="2350008"/>
            <a:ext cx="8732254" cy="359359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21792" y="5961888"/>
            <a:ext cx="10945368" cy="448056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5993892"/>
            <a:ext cx="10652760" cy="4069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1">
                <a:solidFill>
                  <a:srgbClr val="587C95"/>
                </a:solidFill>
                <a:latin typeface="Noto Sans CJK SC"/>
                <a:ea typeface="Noto Sans CJK SC"/>
              </a:rPr>
              <a:t>读法：固定横轴 e，竖直向上提高 B；右图的部分区间中，审计数量反而减少。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0472" y="585216"/>
            <a:ext cx="8046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243746"/>
                </a:solidFill>
                <a:latin typeface="Noto Sans CJK SC"/>
                <a:ea typeface="Noto Sans CJK SC"/>
              </a:rPr>
              <a:t>五、均衡分析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768096"/>
            <a:ext cx="287121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07281"/>
                </a:solidFill>
                <a:latin typeface="Noto Sans CJK SC"/>
                <a:ea typeface="Noto Sans CJK SC"/>
              </a:rPr>
              <a:t>文献精读  /  POM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09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243746"/>
                </a:solidFill>
                <a:latin typeface="Noto Sans CJK SC"/>
                <a:ea typeface="Noto Sans CJK SC"/>
              </a:rPr>
              <a:t>为什么更多预算可能只审一家？覆盖与精度的收益发生切换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473952"/>
            <a:ext cx="10963656" cy="0"/>
          </a:xfrm>
          <a:prstGeom prst="line">
            <a:avLst/>
          </a:prstGeom>
          <a:ln w="1270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9672"/>
            <a:ext cx="100584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607281"/>
                </a:solidFill>
                <a:latin typeface="Noto Sans CJK SC"/>
                <a:ea typeface="Noto Sans CJK SC"/>
              </a:rPr>
              <a:t>Proposition 7 / Corollary 5，pp. 14–15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0138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87C95"/>
                </a:solidFill>
                <a:latin typeface="Noto Sans CJK SC"/>
                <a:ea typeface="Noto Sans CJK SC"/>
              </a:rPr>
              <a:t>24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331720"/>
          <a:ext cx="10908792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3209544"/>
                <a:gridCol w="5394960"/>
              </a:tblGrid>
              <a:tr h="713232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预算阶段</a:t>
                      </a:r>
                    </a:p>
                  </a:txBody>
                  <a:tcPr marL="118872" marR="118872" marT="73152" marB="73152" anchor="ctr">
                    <a:solidFill>
                      <a:srgbClr val="587C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资源选择</a:t>
                      </a:r>
                    </a:p>
                  </a:txBody>
                  <a:tcPr marL="118872" marR="118872" marT="73152" marB="73152" anchor="ctr">
                    <a:solidFill>
                      <a:srgbClr val="587C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经济机制</a:t>
                      </a:r>
                    </a:p>
                  </a:txBody>
                  <a:tcPr marL="118872" marR="118872" marT="73152" marB="73152" anchor="ctr">
                    <a:solidFill>
                      <a:srgbClr val="587C9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低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集中审计 1 家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先获得足够的有效准确度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中低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审计 2 家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覆盖收益提升；失败后偏向整改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中高（特定参数）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重新集中审计 1 家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一家的高精度允许低成本替换；</a:t>
                      </a:r>
                    </a:p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接受另一家的固定预期风险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高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审计 2 家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两家均可降低错误，重新获得覆盖优势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21792" y="5961888"/>
            <a:ext cx="10945368" cy="448056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5993892"/>
            <a:ext cx="10652760" cy="4069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1">
                <a:solidFill>
                  <a:srgbClr val="587C95"/>
                </a:solidFill>
                <a:latin typeface="Noto Sans CJK SC"/>
                <a:ea typeface="Noto Sans CJK SC"/>
              </a:rPr>
              <a:t>Dα = 0 时，审计覆盖随预算扩张；误报损失使这一直觉不再普遍成立。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0472" y="585216"/>
            <a:ext cx="8046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243746"/>
                </a:solidFill>
                <a:latin typeface="Noto Sans CJK SC"/>
                <a:ea typeface="Noto Sans CJK SC"/>
              </a:rPr>
              <a:t>五、均衡分析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768096"/>
            <a:ext cx="287121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07281"/>
                </a:solidFill>
                <a:latin typeface="Noto Sans CJK SC"/>
                <a:ea typeface="Noto Sans CJK SC"/>
              </a:rPr>
              <a:t>文献精读  /  POM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09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243746"/>
                </a:solidFill>
                <a:latin typeface="Noto Sans CJK SC"/>
                <a:ea typeface="Noto Sans CJK SC"/>
              </a:rPr>
              <a:t>三条反直觉结果，来自同一个联动机制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473952"/>
            <a:ext cx="10963656" cy="0"/>
          </a:xfrm>
          <a:prstGeom prst="line">
            <a:avLst/>
          </a:prstGeom>
          <a:ln w="1270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9672"/>
            <a:ext cx="100584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607281"/>
                </a:solidFill>
                <a:latin typeface="Noto Sans CJK SC"/>
                <a:ea typeface="Noto Sans CJK SC"/>
              </a:rPr>
              <a:t>综合 Proposition 1、5–7；所有结论均有参数条件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0138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87C95"/>
                </a:solidFill>
                <a:latin typeface="Noto Sans CJK SC"/>
                <a:ea typeface="Noto Sans CJK SC"/>
              </a:rP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87168"/>
            <a:ext cx="3511296" cy="2331720"/>
          </a:xfrm>
          <a:prstGeom prst="roundRect">
            <a:avLst>
              <a:gd name="adj" fmla="val 8000"/>
            </a:avLst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487168"/>
            <a:ext cx="50292" cy="2331720"/>
          </a:xfrm>
          <a:prstGeom prst="rect">
            <a:avLst/>
          </a:prstGeom>
          <a:solidFill>
            <a:srgbClr val="587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578608"/>
            <a:ext cx="3163824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1">
                <a:solidFill>
                  <a:srgbClr val="587C95"/>
                </a:solidFill>
                <a:latin typeface="Noto Sans CJK SC"/>
                <a:ea typeface="Noto Sans CJK SC"/>
              </a:rPr>
              <a:t>对称 ≠ 必须均分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090672"/>
            <a:ext cx="3145536" cy="165506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100" b="0">
                <a:solidFill>
                  <a:srgbClr val="243746"/>
                </a:solidFill>
                <a:latin typeface="Noto Sans CJK SC"/>
                <a:ea typeface="Noto Sans CJK SC"/>
              </a:rPr>
              <a:t>政策 / 治理分支不同，资源的边际价值不同。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487168"/>
            <a:ext cx="3511296" cy="2331720"/>
          </a:xfrm>
          <a:prstGeom prst="roundRect">
            <a:avLst>
              <a:gd name="adj" fmla="val 8000"/>
            </a:avLst>
          </a:prstGeom>
          <a:solidFill>
            <a:srgbClr val="FC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2487168"/>
            <a:ext cx="50292" cy="2331720"/>
          </a:xfrm>
          <a:prstGeom prst="rect">
            <a:avLst/>
          </a:prstGeom>
          <a:solidFill>
            <a:srgbClr val="DA5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578608"/>
            <a:ext cx="3163824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1">
                <a:solidFill>
                  <a:srgbClr val="DA501B"/>
                </a:solidFill>
                <a:latin typeface="Noto Sans CJK SC"/>
                <a:ea typeface="Noto Sans CJK SC"/>
              </a:rPr>
              <a:t>预算多 ≠ 覆盖更多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090672"/>
            <a:ext cx="3145536" cy="165506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0">
                <a:solidFill>
                  <a:srgbClr val="243746"/>
                </a:solidFill>
                <a:latin typeface="Noto Sans CJK SC"/>
                <a:ea typeface="Noto Sans CJK SC"/>
              </a:rPr>
              <a:t>高精度带来的低成本治理优势，可能超过多审一家的收益。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2487168"/>
            <a:ext cx="3511296" cy="2331720"/>
          </a:xfrm>
          <a:prstGeom prst="roundRect">
            <a:avLst>
              <a:gd name="adj" fmla="val 8000"/>
            </a:avLst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2487168"/>
            <a:ext cx="50292" cy="2331720"/>
          </a:xfrm>
          <a:prstGeom prst="rect">
            <a:avLst/>
          </a:prstGeom>
          <a:solidFill>
            <a:srgbClr val="587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1" y="2578608"/>
            <a:ext cx="3163824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1">
                <a:solidFill>
                  <a:srgbClr val="587C95"/>
                </a:solidFill>
                <a:latin typeface="Noto Sans CJK SC"/>
                <a:ea typeface="Noto Sans CJK SC"/>
              </a:rPr>
              <a:t>私益提升 ≠ 风险下降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1" y="3090672"/>
            <a:ext cx="3145536" cy="165506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0">
                <a:solidFill>
                  <a:srgbClr val="243746"/>
                </a:solidFill>
                <a:latin typeface="Noto Sans CJK SC"/>
                <a:ea typeface="Noto Sans CJK SC"/>
              </a:rPr>
              <a:t>从 Catch-all 转向 No-false-alarm，可改善收益却允许漏报。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5285232"/>
            <a:ext cx="10186416" cy="749808"/>
          </a:xfrm>
          <a:prstGeom prst="rect">
            <a:avLst/>
          </a:prstGeom>
          <a:solidFill>
            <a:srgbClr val="FC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52144" y="5449824"/>
            <a:ext cx="9893808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2000" b="1">
                <a:solidFill>
                  <a:srgbClr val="DA501B"/>
                </a:solidFill>
                <a:latin typeface="Noto Sans CJK SC"/>
                <a:ea typeface="Noto Sans CJK SC"/>
              </a:rPr>
              <a:t>预算 → 准确度 → 错误政策 → 治理动作 → 资源配置与社会结果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0472" y="585216"/>
            <a:ext cx="8046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243746"/>
                </a:solidFill>
                <a:latin typeface="Noto Sans CJK SC"/>
                <a:ea typeface="Noto Sans CJK SC"/>
              </a:rPr>
              <a:t>六、扩展模型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768096"/>
            <a:ext cx="287121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07281"/>
                </a:solidFill>
                <a:latin typeface="Noto Sans CJK SC"/>
                <a:ea typeface="Noto Sans CJK SC"/>
              </a:rPr>
              <a:t>文献精读  /  POM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09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243746"/>
                </a:solidFill>
                <a:latin typeface="Noto Sans CJK SC"/>
                <a:ea typeface="Noto Sans CJK SC"/>
              </a:rPr>
              <a:t>拓展 1：供应商主动选择责任努力，审计会反向塑造激励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473952"/>
            <a:ext cx="10963656" cy="0"/>
          </a:xfrm>
          <a:prstGeom prst="line">
            <a:avLst/>
          </a:prstGeom>
          <a:ln w="1270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9672"/>
            <a:ext cx="100584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607281"/>
                </a:solidFill>
                <a:latin typeface="Noto Sans CJK SC"/>
                <a:ea typeface="Noto Sans CJK SC"/>
              </a:rPr>
              <a:t>§6.1 / Proposition 8，pp. 15–16；一对一渠道拓展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0138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87C95"/>
                </a:solidFill>
                <a:latin typeface="Noto Sans CJK SC"/>
                <a:ea typeface="Noto Sans CJK SC"/>
              </a:rPr>
              <a:t>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2432304"/>
            <a:ext cx="3493008" cy="1463040"/>
          </a:xfrm>
          <a:prstGeom prst="roundRect">
            <a:avLst>
              <a:gd name="adj" fmla="val 8000"/>
            </a:avLst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432304"/>
            <a:ext cx="50292" cy="1463040"/>
          </a:xfrm>
          <a:prstGeom prst="rect">
            <a:avLst/>
          </a:prstGeom>
          <a:solidFill>
            <a:srgbClr val="587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523744"/>
            <a:ext cx="3145536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1">
                <a:solidFill>
                  <a:srgbClr val="587C95"/>
                </a:solidFill>
                <a:latin typeface="Noto Sans CJK SC"/>
                <a:ea typeface="Noto Sans CJK SC"/>
              </a:rPr>
              <a:t>供应商先行动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035808"/>
            <a:ext cx="3127248" cy="7863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900" b="0">
                <a:solidFill>
                  <a:srgbClr val="243746"/>
                </a:solidFill>
                <a:latin typeface="Noto Sans CJK SC"/>
                <a:ea typeface="Noto Sans CJK SC"/>
              </a:rPr>
              <a:t>选择 eS；成本 κeS²/2。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900" b="0">
                <a:solidFill>
                  <a:srgbClr val="243746"/>
                </a:solidFill>
                <a:latin typeface="Noto Sans CJK SC"/>
                <a:ea typeface="Noto Sans CJK SC"/>
              </a:rPr>
              <a:t>买方观察 eS 后设计审计。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279392" y="3026664"/>
            <a:ext cx="329184" cy="256032"/>
          </a:xfrm>
          <a:prstGeom prst="rightArrow">
            <a:avLst/>
          </a:prstGeom>
          <a:solidFill>
            <a:srgbClr val="587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80" y="2432304"/>
            <a:ext cx="3044952" cy="1463040"/>
          </a:xfrm>
          <a:prstGeom prst="roundRect">
            <a:avLst>
              <a:gd name="adj" fmla="val 8000"/>
            </a:avLst>
          </a:prstGeom>
          <a:solidFill>
            <a:srgbClr val="FC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2432304"/>
            <a:ext cx="50292" cy="1463040"/>
          </a:xfrm>
          <a:prstGeom prst="rect">
            <a:avLst/>
          </a:prstGeom>
          <a:solidFill>
            <a:srgbClr val="DA5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2523744"/>
            <a:ext cx="269748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1">
                <a:solidFill>
                  <a:srgbClr val="DA501B"/>
                </a:solidFill>
                <a:latin typeface="Noto Sans CJK SC"/>
                <a:ea typeface="Noto Sans CJK SC"/>
              </a:rPr>
              <a:t>治理影响收益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035808"/>
            <a:ext cx="2679192" cy="7863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800" b="0">
                <a:solidFill>
                  <a:srgbClr val="243746"/>
                </a:solidFill>
                <a:latin typeface="Noto Sans CJK SC"/>
                <a:ea typeface="Noto Sans CJK SC"/>
              </a:rPr>
              <a:t>整改：供应商付 δr。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800" b="0">
                <a:solidFill>
                  <a:srgbClr val="243746"/>
                </a:solidFill>
                <a:latin typeface="Noto Sans CJK SC"/>
                <a:ea typeface="Noto Sans CJK SC"/>
              </a:rPr>
              <a:t>替换：供应商利润为 0。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909560" y="3026664"/>
            <a:ext cx="329184" cy="256032"/>
          </a:xfrm>
          <a:prstGeom prst="rightArrow">
            <a:avLst/>
          </a:prstGeom>
          <a:solidFill>
            <a:srgbClr val="587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94192" y="2432304"/>
            <a:ext cx="3136392" cy="1463040"/>
          </a:xfrm>
          <a:prstGeom prst="roundRect">
            <a:avLst>
              <a:gd name="adj" fmla="val 8000"/>
            </a:avLst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94192" y="2432304"/>
            <a:ext cx="50292" cy="1463040"/>
          </a:xfrm>
          <a:prstGeom prst="rect">
            <a:avLst/>
          </a:prstGeom>
          <a:solidFill>
            <a:srgbClr val="587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77072" y="2523744"/>
            <a:ext cx="2788920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1">
                <a:solidFill>
                  <a:srgbClr val="587C95"/>
                </a:solidFill>
                <a:latin typeface="Noto Sans CJK SC"/>
                <a:ea typeface="Noto Sans CJK SC"/>
              </a:rPr>
              <a:t>供应商预期响应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7072" y="3035808"/>
            <a:ext cx="2770632" cy="7863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900" b="0">
                <a:solidFill>
                  <a:srgbClr val="243746"/>
                </a:solidFill>
                <a:latin typeface="Noto Sans CJK SC"/>
                <a:ea typeface="Noto Sans CJK SC"/>
              </a:rPr>
              <a:t>保住交易关系的价值，决定主动合规的动力。</a:t>
            </a:r>
          </a:p>
        </p:txBody>
      </p:sp>
      <p:pic>
        <p:nvPicPr>
          <p:cNvPr id="23" name="Picture 22" descr="math_0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8291" y="4306824"/>
            <a:ext cx="3555209" cy="70408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59536" y="5193792"/>
            <a:ext cx="10479024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100" b="0">
                <a:solidFill>
                  <a:srgbClr val="243746"/>
                </a:solidFill>
                <a:latin typeface="Noto Sans CJK SC"/>
                <a:ea typeface="Noto Sans CJK SC"/>
              </a:rPr>
              <a:t>稳定整改 / 替换分支：替换威胁提高合规努力；中间区间还可能出现阈值努力。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6007608"/>
            <a:ext cx="10442448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0">
                <a:solidFill>
                  <a:srgbClr val="607281"/>
                </a:solidFill>
                <a:latin typeface="Noto Sans CJK SC"/>
                <a:ea typeface="Noto Sans CJK SC"/>
              </a:rPr>
              <a:t>前提：κ/2 &lt; δr &lt; ΠS &lt; κ；并满足命题 8 的有效准确度与预算条件。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0472" y="585216"/>
            <a:ext cx="8046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243746"/>
                </a:solidFill>
                <a:latin typeface="Noto Sans CJK SC"/>
                <a:ea typeface="Noto Sans CJK SC"/>
              </a:rPr>
              <a:t>六、扩展模型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768096"/>
            <a:ext cx="287121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07281"/>
                </a:solidFill>
                <a:latin typeface="Noto Sans CJK SC"/>
                <a:ea typeface="Noto Sans CJK SC"/>
              </a:rPr>
              <a:t>文献精读  /  POM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09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243746"/>
                </a:solidFill>
                <a:latin typeface="Noto Sans CJK SC"/>
                <a:ea typeface="Noto Sans CJK SC"/>
              </a:rPr>
              <a:t>低预算下的随机审计：通过事前承诺协调努力与审计能力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473952"/>
            <a:ext cx="10963656" cy="0"/>
          </a:xfrm>
          <a:prstGeom prst="line">
            <a:avLst/>
          </a:prstGeom>
          <a:ln w="1270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9672"/>
            <a:ext cx="100584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607281"/>
                </a:solidFill>
                <a:latin typeface="Noto Sans CJK SC"/>
                <a:ea typeface="Noto Sans CJK SC"/>
              </a:rPr>
              <a:t>§6.1 / Proposition 9，pp. 16–17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0138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87C95"/>
                </a:solidFill>
                <a:latin typeface="Noto Sans CJK SC"/>
                <a:ea typeface="Noto Sans CJK SC"/>
              </a:rPr>
              <a:t>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" y="2532888"/>
            <a:ext cx="5120640" cy="2578608"/>
          </a:xfrm>
          <a:prstGeom prst="roundRect">
            <a:avLst>
              <a:gd name="adj" fmla="val 8000"/>
            </a:avLst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" y="2532888"/>
            <a:ext cx="50292" cy="2578608"/>
          </a:xfrm>
          <a:prstGeom prst="rect">
            <a:avLst/>
          </a:prstGeom>
          <a:solidFill>
            <a:srgbClr val="587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624328"/>
            <a:ext cx="4773168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1">
                <a:solidFill>
                  <a:srgbClr val="587C95"/>
                </a:solidFill>
                <a:latin typeface="Noto Sans CJK SC"/>
                <a:ea typeface="Noto Sans CJK SC"/>
              </a:rPr>
              <a:t>纯策略可能无法维持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136392"/>
            <a:ext cx="4754879" cy="190195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0">
                <a:solidFill>
                  <a:srgbClr val="243746"/>
                </a:solidFill>
                <a:latin typeface="Noto Sans CJK SC"/>
                <a:ea typeface="Noto Sans CJK SC"/>
              </a:rPr>
              <a:t>供应商努力高于可达审计准确度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0">
                <a:solidFill>
                  <a:srgbClr val="243746"/>
                </a:solidFill>
                <a:latin typeface="Noto Sans CJK SC"/>
                <a:ea typeface="Noto Sans CJK SC"/>
              </a:rPr>
              <a:t>→ 有效审计条件不满足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0">
                <a:solidFill>
                  <a:srgbClr val="243746"/>
                </a:solidFill>
                <a:latin typeface="Noto Sans CJK SC"/>
                <a:ea typeface="Noto Sans CJK SC"/>
              </a:rPr>
              <a:t>→ 买方停止审计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0">
                <a:solidFill>
                  <a:srgbClr val="243746"/>
                </a:solidFill>
                <a:latin typeface="Noto Sans CJK SC"/>
                <a:ea typeface="Noto Sans CJK SC"/>
              </a:rPr>
              <a:t>→ 供应商又降低努力。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2532888"/>
            <a:ext cx="5120640" cy="2578608"/>
          </a:xfrm>
          <a:prstGeom prst="roundRect">
            <a:avLst>
              <a:gd name="adj" fmla="val 8000"/>
            </a:avLst>
          </a:prstGeom>
          <a:solidFill>
            <a:srgbClr val="FC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63056" y="2532888"/>
            <a:ext cx="50292" cy="2578608"/>
          </a:xfrm>
          <a:prstGeom prst="rect">
            <a:avLst/>
          </a:prstGeom>
          <a:solidFill>
            <a:srgbClr val="DA5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2624328"/>
            <a:ext cx="4773168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1">
                <a:solidFill>
                  <a:srgbClr val="DA501B"/>
                </a:solidFill>
                <a:latin typeface="Noto Sans CJK SC"/>
                <a:ea typeface="Noto Sans CJK SC"/>
              </a:rPr>
              <a:t>事前随机承诺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3136392"/>
            <a:ext cx="4754879" cy="190195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0">
                <a:solidFill>
                  <a:srgbClr val="243746"/>
                </a:solidFill>
                <a:latin typeface="Noto Sans CJK SC"/>
                <a:ea typeface="Noto Sans CJK SC"/>
              </a:rPr>
              <a:t>买方以 q ∈ (0, 1) 的概率审计。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0">
                <a:solidFill>
                  <a:srgbClr val="243746"/>
                </a:solidFill>
                <a:latin typeface="Noto Sans CJK SC"/>
                <a:ea typeface="Noto Sans CJK SC"/>
              </a:rPr>
              <a:t>降低供应商的有效审计暴露，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0">
                <a:solidFill>
                  <a:srgbClr val="243746"/>
                </a:solidFill>
                <a:latin typeface="Noto Sans CJK SC"/>
                <a:ea typeface="Noto Sans CJK SC"/>
              </a:rPr>
              <a:t>使诱导努力与预算能力一致。</a:t>
            </a:r>
          </a:p>
        </p:txBody>
      </p:sp>
      <p:pic>
        <p:nvPicPr>
          <p:cNvPr id="17" name="Picture 16" descr="math_0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019" y="5458968"/>
            <a:ext cx="3210625" cy="63093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0472" y="585216"/>
            <a:ext cx="8046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243746"/>
                </a:solidFill>
                <a:latin typeface="Noto Sans CJK SC"/>
                <a:ea typeface="Noto Sans CJK SC"/>
              </a:rPr>
              <a:t>六、扩展模型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768096"/>
            <a:ext cx="287121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07281"/>
                </a:solidFill>
                <a:latin typeface="Noto Sans CJK SC"/>
                <a:ea typeface="Noto Sans CJK SC"/>
              </a:rPr>
              <a:t>文献精读  /  POM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09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243746"/>
                </a:solidFill>
                <a:latin typeface="Noto Sans CJK SC"/>
                <a:ea typeface="Noto Sans CJK SC"/>
              </a:rPr>
              <a:t>拓展 2：预算内生化，以治理收益与审计边际成本确定投入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473952"/>
            <a:ext cx="10963656" cy="0"/>
          </a:xfrm>
          <a:prstGeom prst="line">
            <a:avLst/>
          </a:prstGeom>
          <a:ln w="1270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9672"/>
            <a:ext cx="100584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607281"/>
                </a:solidFill>
                <a:latin typeface="Noto Sans CJK SC"/>
                <a:ea typeface="Noto Sans CJK SC"/>
              </a:rPr>
              <a:t>§6.2 / Proposition 10，p. 17；条件：一对一且审计最优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0138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87C95"/>
                </a:solidFill>
                <a:latin typeface="Noto Sans CJK SC"/>
                <a:ea typeface="Noto Sans CJK SC"/>
              </a:rPr>
              <a:t>28</a:t>
            </a:r>
          </a:p>
        </p:txBody>
      </p:sp>
      <p:pic>
        <p:nvPicPr>
          <p:cNvPr id="9" name="Picture 8" descr="math_0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9878" y="2340864"/>
            <a:ext cx="4234914" cy="557784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3200400"/>
          <a:ext cx="1090879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4176"/>
                <a:gridCol w="3154680"/>
                <a:gridCol w="4059936"/>
              </a:tblGrid>
              <a:tr h="493776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候选政策 / 治理</a:t>
                      </a:r>
                    </a:p>
                  </a:txBody>
                  <a:tcPr marL="118872" marR="118872" marT="73152" marB="73152" anchor="ctr">
                    <a:solidFill>
                      <a:srgbClr val="587C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准确度边际收益 w</a:t>
                      </a:r>
                    </a:p>
                  </a:txBody>
                  <a:tcPr marL="118872" marR="118872" marT="73152" marB="73152" anchor="ctr">
                    <a:solidFill>
                      <a:srgbClr val="587C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内点候选</a:t>
                      </a:r>
                    </a:p>
                  </a:txBody>
                  <a:tcPr marL="118872" marR="118872" marT="73152" marB="73152" anchor="ctr">
                    <a:solidFill>
                      <a:srgbClr val="587C9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No-false-alarm + 整改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Dβ − Δr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A* = w/c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Catch-all + 整改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Δr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B* = c(A*)²/2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No-false-alarm + 替换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Dβ − Δs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比较候选分支与不审计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Catch-all + 替换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Dα + Δs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检查 A* ∈ (e, 1] 及分支条件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21792" y="5961888"/>
            <a:ext cx="10945368" cy="448056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5993892"/>
            <a:ext cx="10652760" cy="4069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1">
                <a:solidFill>
                  <a:srgbClr val="587C95"/>
                </a:solidFill>
                <a:latin typeface="Noto Sans CJK SC"/>
                <a:ea typeface="Noto Sans CJK SC"/>
              </a:rPr>
              <a:t>技术效率提高（c 下降）可能改变治理模式，而不只是提高同一模式下的准确度。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0472" y="585216"/>
            <a:ext cx="8046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243746"/>
                </a:solidFill>
                <a:latin typeface="Noto Sans CJK SC"/>
                <a:ea typeface="Noto Sans CJK SC"/>
              </a:rPr>
              <a:t>七、结论与未来展望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768096"/>
            <a:ext cx="287121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07281"/>
                </a:solidFill>
                <a:latin typeface="Noto Sans CJK SC"/>
                <a:ea typeface="Noto Sans CJK SC"/>
              </a:rPr>
              <a:t>文献精读  /  POM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09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243746"/>
                </a:solidFill>
                <a:latin typeface="Noto Sans CJK SC"/>
                <a:ea typeface="Noto Sans CJK SC"/>
              </a:rPr>
              <a:t>主要结论：责任审计应与治理动作、资源配置共同设计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473952"/>
            <a:ext cx="10963656" cy="0"/>
          </a:xfrm>
          <a:prstGeom prst="line">
            <a:avLst/>
          </a:prstGeom>
          <a:ln w="1270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9672"/>
            <a:ext cx="100584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607281"/>
                </a:solidFill>
                <a:latin typeface="Noto Sans CJK SC"/>
                <a:ea typeface="Noto Sans CJK SC"/>
              </a:rPr>
              <a:t>总结 §7，p. 18；结合 Proposition 1–10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0138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87C95"/>
                </a:solidFill>
                <a:latin typeface="Noto Sans CJK SC"/>
                <a:ea typeface="Noto Sans CJK SC"/>
              </a:rPr>
              <a:t>29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514600"/>
            <a:ext cx="86868" cy="86868"/>
          </a:xfrm>
          <a:prstGeom prst="rect">
            <a:avLst/>
          </a:prstGeom>
          <a:solidFill>
            <a:srgbClr val="DA5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2404872"/>
            <a:ext cx="10552176" cy="7589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200" b="0">
                <a:solidFill>
                  <a:srgbClr val="243746"/>
                </a:solidFill>
                <a:latin typeface="Noto Sans CJK SC"/>
                <a:ea typeface="Noto Sans CJK SC"/>
              </a:rPr>
              <a:t>两类错误必须联合管理：误报会改变治理方式，也会改变预算与覆盖决策。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346704"/>
            <a:ext cx="86868" cy="86868"/>
          </a:xfrm>
          <a:prstGeom prst="rect">
            <a:avLst/>
          </a:prstGeom>
          <a:solidFill>
            <a:srgbClr val="DA5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3236976"/>
            <a:ext cx="10552176" cy="7589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200" b="0">
                <a:solidFill>
                  <a:srgbClr val="243746"/>
                </a:solidFill>
                <a:latin typeface="Noto Sans CJK SC"/>
                <a:ea typeface="Noto Sans CJK SC"/>
              </a:rPr>
              <a:t>成本与预算共同决定政策：有限资源下可能选择全面筛查 + 整改。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178808"/>
            <a:ext cx="86868" cy="86868"/>
          </a:xfrm>
          <a:prstGeom prst="rect">
            <a:avLst/>
          </a:prstGeom>
          <a:solidFill>
            <a:srgbClr val="DA5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4069080"/>
            <a:ext cx="10552176" cy="7589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200" b="0">
                <a:solidFill>
                  <a:srgbClr val="243746"/>
                </a:solidFill>
                <a:latin typeface="Noto Sans CJK SC"/>
                <a:ea typeface="Noto Sans CJK SC"/>
              </a:rPr>
              <a:t>资源配置可能非单调：对称不保证均分；更多预算不保证覆盖更多。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010912"/>
            <a:ext cx="86868" cy="86868"/>
          </a:xfrm>
          <a:prstGeom prst="rect">
            <a:avLst/>
          </a:prstGeom>
          <a:solidFill>
            <a:srgbClr val="DA5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" y="4901183"/>
            <a:ext cx="10552176" cy="7589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200" b="0">
                <a:solidFill>
                  <a:srgbClr val="243746"/>
                </a:solidFill>
                <a:latin typeface="Noto Sans CJK SC"/>
                <a:ea typeface="Noto Sans CJK SC"/>
              </a:rPr>
              <a:t>企业收益与社会筛查需分别评估：控制误报可能伴随正的漏报风险。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0472" y="585216"/>
            <a:ext cx="8046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243746"/>
                </a:solidFill>
                <a:latin typeface="Noto Sans CJK SC"/>
                <a:ea typeface="Noto Sans CJK SC"/>
              </a:rPr>
              <a:t>七、结论与未来展望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768096"/>
            <a:ext cx="287121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07281"/>
                </a:solidFill>
                <a:latin typeface="Noto Sans CJK SC"/>
                <a:ea typeface="Noto Sans CJK SC"/>
              </a:rPr>
              <a:t>文献精读  /  POM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09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243746"/>
                </a:solidFill>
                <a:latin typeface="Noto Sans CJK SC"/>
                <a:ea typeface="Noto Sans CJK SC"/>
              </a:rPr>
              <a:t>模型评价：结论清楚，但依赖若干关键结构假设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473952"/>
            <a:ext cx="10963656" cy="0"/>
          </a:xfrm>
          <a:prstGeom prst="line">
            <a:avLst/>
          </a:prstGeom>
          <a:ln w="1270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9672"/>
            <a:ext cx="100584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607281"/>
                </a:solidFill>
                <a:latin typeface="Noto Sans CJK SC"/>
                <a:ea typeface="Noto Sans CJK SC"/>
              </a:rPr>
              <a:t>此页为汇报者评述；依据 §3–6 的模型设定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0138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87C95"/>
                </a:solidFill>
                <a:latin typeface="Noto Sans CJK SC"/>
                <a:ea typeface="Noto Sans CJK SC"/>
              </a:rPr>
              <a:t>30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331720"/>
          <a:ext cx="10908791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5576"/>
                <a:gridCol w="3657600"/>
                <a:gridCol w="3785615"/>
              </a:tblGrid>
              <a:tr h="722376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关键假设</a:t>
                      </a:r>
                    </a:p>
                  </a:txBody>
                  <a:tcPr marL="118872" marR="118872" marT="73152" marB="73152" anchor="ctr">
                    <a:solidFill>
                      <a:srgbClr val="587C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作用</a:t>
                      </a:r>
                    </a:p>
                  </a:txBody>
                  <a:tcPr marL="118872" marR="118872" marT="73152" marB="73152" anchor="ctr">
                    <a:solidFill>
                      <a:srgbClr val="587C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可讨论的现实差异</a:t>
                      </a:r>
                    </a:p>
                  </a:txBody>
                  <a:tcPr marL="118872" marR="118872" marT="73152" marB="73152" anchor="ctr">
                    <a:solidFill>
                      <a:srgbClr val="587C95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等准确度线 + 二次成本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得到清晰的端点政策与预算分配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真实误差组合受审计技术 / ROC 限制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整改 / 替换后完全合规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失败被治理后不再形成残余违规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整改效果、替换质量可能不确定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对称、独立；损失可加总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治理逐家可分；预算形成耦合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供应商风险相关；品牌损失可能非线性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基准 e 外生；单期决策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隔离两类错误与治理的联动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努力激励、周期审计和学习会反馈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13816" y="6117336"/>
            <a:ext cx="10616184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0">
                <a:solidFill>
                  <a:srgbClr val="607281"/>
                </a:solidFill>
                <a:latin typeface="Noto Sans CJK SC"/>
                <a:ea typeface="Noto Sans CJK SC"/>
              </a:rPr>
              <a:t>这些是模型适用边界与研究机会，不能据此直接判定论文结论不成立。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0472" y="585216"/>
            <a:ext cx="8046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243746"/>
                </a:solidFill>
                <a:latin typeface="Noto Sans CJK SC"/>
                <a:ea typeface="Noto Sans CJK SC"/>
              </a:rPr>
              <a:t>七、结论与未来展望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768096"/>
            <a:ext cx="287121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07281"/>
                </a:solidFill>
                <a:latin typeface="Noto Sans CJK SC"/>
                <a:ea typeface="Noto Sans CJK SC"/>
              </a:rPr>
              <a:t>文献精读  /  POM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09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243746"/>
                </a:solidFill>
                <a:latin typeface="Noto Sans CJK SC"/>
                <a:ea typeface="Noto Sans CJK SC"/>
              </a:rPr>
              <a:t>未来方向：从单买方、单期和简单装配，走向网络协调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473952"/>
            <a:ext cx="10963656" cy="0"/>
          </a:xfrm>
          <a:prstGeom prst="line">
            <a:avLst/>
          </a:prstGeom>
          <a:ln w="1270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9672"/>
            <a:ext cx="100584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607281"/>
                </a:solidFill>
                <a:latin typeface="Noto Sans CJK SC"/>
                <a:ea typeface="Noto Sans CJK SC"/>
              </a:rPr>
              <a:t>作者展望：§7，p. 18；末项明确为汇报者补充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0138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87C95"/>
                </a:solidFill>
                <a:latin typeface="Noto Sans CJK SC"/>
                <a:ea typeface="Noto Sans CJK SC"/>
              </a:rPr>
              <a:t>31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514600"/>
            <a:ext cx="86868" cy="86868"/>
          </a:xfrm>
          <a:prstGeom prst="rect">
            <a:avLst/>
          </a:prstGeom>
          <a:solidFill>
            <a:srgbClr val="DA5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2404872"/>
            <a:ext cx="10552176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100" b="0">
                <a:solidFill>
                  <a:srgbClr val="243746"/>
                </a:solidFill>
                <a:latin typeface="Noto Sans CJK SC"/>
                <a:ea typeface="Noto Sans CJK SC"/>
              </a:rPr>
              <a:t>多买方与共享供应商：竞争、责任风险外部性与合作审计机制。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364992"/>
            <a:ext cx="86868" cy="86868"/>
          </a:xfrm>
          <a:prstGeom prst="rect">
            <a:avLst/>
          </a:prstGeom>
          <a:solidFill>
            <a:srgbClr val="DA5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3255264"/>
            <a:ext cx="10552176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100" b="0">
                <a:solidFill>
                  <a:srgbClr val="243746"/>
                </a:solidFill>
                <a:latin typeface="Noto Sans CJK SC"/>
                <a:ea typeface="Noto Sans CJK SC"/>
              </a:rPr>
              <a:t>多层级供应网络：直接审计、委托审计及上游监督激励。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215384"/>
            <a:ext cx="86868" cy="86868"/>
          </a:xfrm>
          <a:prstGeom prst="rect">
            <a:avLst/>
          </a:prstGeom>
          <a:solidFill>
            <a:srgbClr val="DA5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4105656"/>
            <a:ext cx="10552176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100" b="0">
                <a:solidFill>
                  <a:srgbClr val="243746"/>
                </a:solidFill>
                <a:latin typeface="Noto Sans CJK SC"/>
                <a:ea typeface="Noto Sans CJK SC"/>
              </a:rPr>
              <a:t>周期审计与采购联动：动态风险、信息学习和长期治理安排。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065776"/>
            <a:ext cx="86868" cy="86868"/>
          </a:xfrm>
          <a:prstGeom prst="rect">
            <a:avLst/>
          </a:prstGeom>
          <a:solidFill>
            <a:srgbClr val="DA5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" y="4956048"/>
            <a:ext cx="10552176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100" b="0">
                <a:solidFill>
                  <a:srgbClr val="243746"/>
                </a:solidFill>
                <a:latin typeface="Noto Sans CJK SC"/>
                <a:ea typeface="Noto Sans CJK SC"/>
              </a:rPr>
              <a:t>汇报者补充：受技术限制的错误率组合、治理失败与相关合规状态。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0472" y="585216"/>
            <a:ext cx="8046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243746"/>
                </a:solidFill>
                <a:latin typeface="Noto Sans CJK SC"/>
                <a:ea typeface="Noto Sans CJK SC"/>
              </a:rPr>
              <a:t>讨论与交流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768096"/>
            <a:ext cx="287121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07281"/>
                </a:solidFill>
                <a:latin typeface="Noto Sans CJK SC"/>
                <a:ea typeface="Noto Sans CJK SC"/>
              </a:rPr>
              <a:t>文献精读  /  POM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6473952"/>
            <a:ext cx="10963656" cy="0"/>
          </a:xfrm>
          <a:prstGeom prst="line">
            <a:avLst/>
          </a:prstGeom>
          <a:ln w="1270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6519672"/>
            <a:ext cx="100584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607281"/>
                </a:solidFill>
                <a:latin typeface="Noto Sans CJK SC"/>
                <a:ea typeface="Noto Sans CJK SC"/>
              </a:rPr>
              <a:t>Li &amp; Li (2026) · DOI: 10.1177/10591478261468995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50138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87C95"/>
                </a:solidFill>
                <a:latin typeface="Noto Sans CJK SC"/>
                <a:ea typeface="Noto Sans CJK SC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7088" y="2340864"/>
            <a:ext cx="8485632" cy="1554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3700" b="1">
                <a:solidFill>
                  <a:srgbClr val="587C95"/>
                </a:solidFill>
                <a:latin typeface="Noto Sans CJK SC"/>
                <a:ea typeface="Noto Sans CJK SC"/>
              </a:rPr>
              <a:t>感谢聆听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3700" b="1">
                <a:solidFill>
                  <a:srgbClr val="587C95"/>
                </a:solidFill>
                <a:latin typeface="Noto Sans CJK SC"/>
                <a:ea typeface="Noto Sans CJK SC"/>
              </a:rPr>
              <a:t>敬请批评指正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462272"/>
            <a:ext cx="10003536" cy="8595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2200" b="0">
                <a:solidFill>
                  <a:srgbClr val="243746"/>
                </a:solidFill>
                <a:latin typeface="Noto Sans CJK SC"/>
                <a:ea typeface="Noto Sans CJK SC"/>
              </a:rPr>
              <a:t>讨论：企业最优审计方案，应如何兼顾供应商权益与社会责任风险？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11095" y="5678424"/>
            <a:ext cx="8357616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800" b="0">
                <a:solidFill>
                  <a:srgbClr val="607281"/>
                </a:solidFill>
                <a:latin typeface="Noto Sans CJK SC"/>
                <a:ea typeface="Noto Sans CJK SC"/>
              </a:rPr>
              <a:t>附录：命题条件、损失函数与拓展结果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0472" y="585216"/>
            <a:ext cx="8046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243746"/>
                </a:solidFill>
                <a:latin typeface="Noto Sans CJK SC"/>
                <a:ea typeface="Noto Sans CJK SC"/>
              </a:rPr>
              <a:t>附录 A｜一对一完整政策条件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768096"/>
            <a:ext cx="287121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07281"/>
                </a:solidFill>
                <a:latin typeface="Noto Sans CJK SC"/>
                <a:ea typeface="Noto Sans CJK SC"/>
              </a:rPr>
              <a:t>文献精读  /  POM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09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243746"/>
                </a:solidFill>
                <a:latin typeface="Noto Sans CJK SC"/>
                <a:ea typeface="Noto Sans CJK SC"/>
              </a:rPr>
              <a:t>Proposition 1：审计政策的分区条件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473952"/>
            <a:ext cx="10963656" cy="0"/>
          </a:xfrm>
          <a:prstGeom prst="line">
            <a:avLst/>
          </a:prstGeom>
          <a:ln w="1270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9672"/>
            <a:ext cx="100584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607281"/>
                </a:solidFill>
                <a:latin typeface="Noto Sans CJK SC"/>
                <a:ea typeface="Noto Sans CJK SC"/>
              </a:rPr>
              <a:t>原文 Proposition 1，pp. 7–8；省略等号无差异情形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0138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87C95"/>
                </a:solidFill>
                <a:latin typeface="Noto Sans CJK SC"/>
                <a:ea typeface="Noto Sans CJK SC"/>
              </a:rPr>
              <a:t>33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331720"/>
          <a:ext cx="10908792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26280"/>
                <a:gridCol w="3703320"/>
                <a:gridCol w="2679192"/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参数区间</a:t>
                      </a:r>
                    </a:p>
                  </a:txBody>
                  <a:tcPr marL="118872" marR="118872" marT="73152" marB="73152" anchor="ctr">
                    <a:solidFill>
                      <a:srgbClr val="587C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额外条件</a:t>
                      </a:r>
                    </a:p>
                  </a:txBody>
                  <a:tcPr marL="118872" marR="118872" marT="73152" marB="73152" anchor="ctr">
                    <a:solidFill>
                      <a:srgbClr val="587C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最优错误政策</a:t>
                      </a:r>
                    </a:p>
                  </a:txBody>
                  <a:tcPr marL="118872" marR="118872" marT="73152" marB="73152" anchor="ctr">
                    <a:solidFill>
                      <a:srgbClr val="587C9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Δs &gt; Δr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Δr &gt; Dβ/2；反之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NFA；反之 CA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Δr &gt; Δs；</a:t>
                      </a:r>
                    </a:p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Δr &gt; min{Δs + Dα/2, Dβ/2}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Δs &gt; (Dβ − Dα)/2；反之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NFA；反之 CA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Δs &lt; Δr &lt; min{Δs + Dα/2, Dβ/2}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Δs &lt; (Dβ − Dα)/2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始终 CA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同上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Δs &gt; (Dβ − Dα)/2；</a:t>
                      </a:r>
                    </a:p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b₀ &gt; b̄̄；反之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65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NFA；反之 CA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" name="Picture 9" descr="math_0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9169" y="5815584"/>
            <a:ext cx="2170029" cy="52120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0472" y="585216"/>
            <a:ext cx="8046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243746"/>
                </a:solidFill>
                <a:latin typeface="Noto Sans CJK SC"/>
                <a:ea typeface="Noto Sans CJK SC"/>
              </a:rPr>
              <a:t>附录 B｜四种损失分支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768096"/>
            <a:ext cx="287121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07281"/>
                </a:solidFill>
                <a:latin typeface="Noto Sans CJK SC"/>
                <a:ea typeface="Noto Sans CJK SC"/>
              </a:rPr>
              <a:t>文献精读  /  POM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09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243746"/>
                </a:solidFill>
                <a:latin typeface="Noto Sans CJK SC"/>
                <a:ea typeface="Noto Sans CJK SC"/>
              </a:rPr>
              <a:t>固定准确度 b 时，比较四条线性期望损失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473952"/>
            <a:ext cx="10963656" cy="0"/>
          </a:xfrm>
          <a:prstGeom prst="line">
            <a:avLst/>
          </a:prstGeom>
          <a:ln w="1270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9672"/>
            <a:ext cx="100584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607281"/>
                </a:solidFill>
                <a:latin typeface="Noto Sans CJK SC"/>
                <a:ea typeface="Noto Sans CJK SC"/>
              </a:rPr>
              <a:t>按 §3–4 等价推导；本文算例与预算数值图的计算基础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0138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87C95"/>
                </a:solidFill>
                <a:latin typeface="Noto Sans CJK SC"/>
                <a:ea typeface="Noto Sans CJK SC"/>
              </a:rPr>
              <a:t>34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331720"/>
          <a:ext cx="10908792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3632"/>
                <a:gridCol w="6995160"/>
              </a:tblGrid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组合</a:t>
                      </a:r>
                    </a:p>
                  </a:txBody>
                  <a:tcPr marL="118872" marR="118872" marT="73152" marB="73152" anchor="ctr">
                    <a:solidFill>
                      <a:srgbClr val="587C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每家期望损失 ℓ(b)</a:t>
                      </a:r>
                    </a:p>
                  </a:txBody>
                  <a:tcPr marL="118872" marR="118872" marT="73152" marB="73152" anchor="ctr">
                    <a:solidFill>
                      <a:srgbClr val="587C9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20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NFA + 整改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20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(b − e)Δr + (1 − b)Dβ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20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NFA + 替换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20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(b − e)Δs + (1 − b)Dβ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20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CA + 整改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20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(2 − e − b)Δr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20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CA + 替换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20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(2 − e − b)Δs + (1 − b)Dα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20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不审计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20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(1 − e)Dβ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21792" y="5961888"/>
            <a:ext cx="10945368" cy="448056"/>
          </a:xfrm>
          <a:prstGeom prst="rect">
            <a:avLst/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5993892"/>
            <a:ext cx="10652760" cy="4069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1">
                <a:solidFill>
                  <a:srgbClr val="587C95"/>
                </a:solidFill>
                <a:latin typeface="Noto Sans CJK SC"/>
                <a:ea typeface="Noto Sans CJK SC"/>
              </a:rPr>
              <a:t>ℓ*(b) 取四个分支的最小值；π* = Π − ℓ*（两家时对期望损失求和）。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0472" y="585216"/>
            <a:ext cx="8046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243746"/>
                </a:solidFill>
                <a:latin typeface="Noto Sans CJK SC"/>
                <a:ea typeface="Noto Sans CJK SC"/>
              </a:rPr>
              <a:t>附录 C｜预算分配的条件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768096"/>
            <a:ext cx="287121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07281"/>
                </a:solidFill>
                <a:latin typeface="Noto Sans CJK SC"/>
                <a:ea typeface="Noto Sans CJK SC"/>
              </a:rPr>
              <a:t>文献精读  /  POM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09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243746"/>
                </a:solidFill>
                <a:latin typeface="Noto Sans CJK SC"/>
                <a:ea typeface="Noto Sans CJK SC"/>
              </a:rPr>
              <a:t>不均分不只出现在 NFA / CA 混合政策下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473952"/>
            <a:ext cx="10963656" cy="0"/>
          </a:xfrm>
          <a:prstGeom prst="line">
            <a:avLst/>
          </a:prstGeom>
          <a:ln w="1270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9672"/>
            <a:ext cx="100584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607281"/>
                </a:solidFill>
                <a:latin typeface="Noto Sans CJK SC"/>
                <a:ea typeface="Noto Sans CJK SC"/>
              </a:rPr>
              <a:t>Proposition 5 / Corollary 3，pp. 11–13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0138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87C95"/>
                </a:solidFill>
                <a:latin typeface="Noto Sans CJK SC"/>
                <a:ea typeface="Noto Sans CJK SC"/>
              </a:rPr>
              <a:t>35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331720"/>
          <a:ext cx="10908792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7912"/>
                <a:gridCol w="7040880"/>
              </a:tblGrid>
              <a:tr h="804672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分配结构</a:t>
                      </a:r>
                    </a:p>
                  </a:txBody>
                  <a:tcPr marL="118872" marR="118872" marT="73152" marB="73152" anchor="ctr">
                    <a:solidFill>
                      <a:srgbClr val="587C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参数条件</a:t>
                      </a:r>
                    </a:p>
                  </a:txBody>
                  <a:tcPr marL="118872" marR="118872" marT="73152" marB="73152" anchor="ctr">
                    <a:solidFill>
                      <a:srgbClr val="587C95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始终均分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Δs &gt; Δr；或 Δr &gt; Δs 且</a:t>
                      </a:r>
                    </a:p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Δr &gt; min{Δs + Dα/2, Dβ/2}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中等预算不均分：情形 (a)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Δs &lt; Δr &lt; Δs + Dα/2，且</a:t>
                      </a:r>
                    </a:p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Δs &lt; (Dβ − Dα)/2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中等预算不均分：情形 (b)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8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(Dβ − Dα)/2 &lt; Δs &lt; Δr &lt; Dβ/2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04672" y="5559552"/>
            <a:ext cx="10597896" cy="7680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1">
                <a:solidFill>
                  <a:srgbClr val="587C95"/>
                </a:solidFill>
                <a:latin typeface="Noto Sans CJK SC"/>
                <a:ea typeface="Noto Sans CJK SC"/>
              </a:rPr>
              <a:t>情形 (a)：两家都可用 CA，治理动作不同。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1">
                <a:solidFill>
                  <a:srgbClr val="587C95"/>
                </a:solidFill>
                <a:latin typeface="Noto Sans CJK SC"/>
                <a:ea typeface="Noto Sans CJK SC"/>
              </a:rPr>
              <a:t>情形 (b)：中等预算可用 NFA / CA 混合；高预算两家 NFA。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0472" y="585216"/>
            <a:ext cx="8046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243746"/>
                </a:solidFill>
                <a:latin typeface="Noto Sans CJK SC"/>
                <a:ea typeface="Noto Sans CJK SC"/>
              </a:rPr>
              <a:t>附录 D｜社会指标与覆盖范围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768096"/>
            <a:ext cx="287121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07281"/>
                </a:solidFill>
                <a:latin typeface="Noto Sans CJK SC"/>
                <a:ea typeface="Noto Sans CJK SC"/>
              </a:rPr>
              <a:t>文献精读  /  POM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09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243746"/>
                </a:solidFill>
                <a:latin typeface="Noto Sans CJK SC"/>
                <a:ea typeface="Noto Sans CJK SC"/>
              </a:rPr>
              <a:t>社会风险要连同审计覆盖一起解释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473952"/>
            <a:ext cx="10963656" cy="0"/>
          </a:xfrm>
          <a:prstGeom prst="line">
            <a:avLst/>
          </a:prstGeom>
          <a:ln w="1270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9672"/>
            <a:ext cx="100584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607281"/>
                </a:solidFill>
                <a:latin typeface="Noto Sans CJK SC"/>
                <a:ea typeface="Noto Sans CJK SC"/>
              </a:rPr>
              <a:t>Proposition 2、6；覆盖一般式为基于模型的汇报推导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0138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87C95"/>
                </a:solidFill>
                <a:latin typeface="Noto Sans CJK SC"/>
                <a:ea typeface="Noto Sans CJK SC"/>
              </a:rPr>
              <a:t>36</a:t>
            </a:r>
          </a:p>
        </p:txBody>
      </p:sp>
      <p:pic>
        <p:nvPicPr>
          <p:cNvPr id="9" name="Picture 8" descr="math_0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433" y="2377440"/>
            <a:ext cx="7352068" cy="621792"/>
          </a:xfrm>
          <a:prstGeom prst="rect">
            <a:avLst/>
          </a:prstGeom>
        </p:spPr>
      </p:pic>
      <p:pic>
        <p:nvPicPr>
          <p:cNvPr id="10" name="Picture 9" descr="math_0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5962" y="3246120"/>
            <a:ext cx="4961578" cy="557784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4050791"/>
          <a:ext cx="1090879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4688"/>
                <a:gridCol w="5404104"/>
              </a:tblGrid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覆盖 / 政策</a:t>
                      </a:r>
                    </a:p>
                  </a:txBody>
                  <a:tcPr marL="118872" marR="118872" marT="73152" marB="73152" anchor="ctr">
                    <a:solidFill>
                      <a:srgbClr val="587C9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最终产品不合规概率</a:t>
                      </a:r>
                    </a:p>
                  </a:txBody>
                  <a:tcPr marL="118872" marR="118872" marT="73152" marB="73152" anchor="ctr">
                    <a:solidFill>
                      <a:srgbClr val="587C9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不审计任何一家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1 − e²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审计一家且用 CA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1 − e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审计一家且用 NFA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1 − e b₀</a:t>
                      </a:r>
                    </a:p>
                  </a:txBody>
                  <a:tcPr marL="118872" marR="118872" marT="73152" marB="73152" anchor="ctr">
                    <a:solidFill>
                      <a:srgbClr val="EDF3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审计两家且均用 CA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spcAft>
                          <a:spcPts val="100"/>
                        </a:spcAft>
                      </a:pPr>
                      <a:r>
                        <a:rPr sz="1700" b="0">
                          <a:solidFill>
                            <a:srgbClr val="243746"/>
                          </a:solidFill>
                          <a:latin typeface="Noto Sans CJK SC"/>
                          <a:ea typeface="Noto Sans CJK SC"/>
                        </a:rPr>
                        <a:t>0</a:t>
                      </a:r>
                    </a:p>
                  </a:txBody>
                  <a:tcPr marL="118872" marR="118872" marT="73152" marB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0472" y="585216"/>
            <a:ext cx="8046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243746"/>
                </a:solidFill>
                <a:latin typeface="Noto Sans CJK SC"/>
                <a:ea typeface="Noto Sans CJK SC"/>
              </a:rPr>
              <a:t>附录 E｜供应商内生努力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768096"/>
            <a:ext cx="287121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07281"/>
                </a:solidFill>
                <a:latin typeface="Noto Sans CJK SC"/>
                <a:ea typeface="Noto Sans CJK SC"/>
              </a:rPr>
              <a:t>文献精读  /  POM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09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243746"/>
                </a:solidFill>
                <a:latin typeface="Noto Sans CJK SC"/>
                <a:ea typeface="Noto Sans CJK SC"/>
              </a:rPr>
              <a:t>Proposition 8：完整分段结果与适用条件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473952"/>
            <a:ext cx="10963656" cy="0"/>
          </a:xfrm>
          <a:prstGeom prst="line">
            <a:avLst/>
          </a:prstGeom>
          <a:ln w="1270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9672"/>
            <a:ext cx="100584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607281"/>
                </a:solidFill>
                <a:latin typeface="Noto Sans CJK SC"/>
                <a:ea typeface="Noto Sans CJK SC"/>
              </a:rPr>
              <a:t>原文 Proposition 8，pp. 15–16；左侧保留原文命题片段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0138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87C95"/>
                </a:solidFill>
                <a:latin typeface="Noto Sans CJK SC"/>
                <a:ea typeface="Noto Sans CJK SC"/>
              </a:rPr>
              <a:t>37</a:t>
            </a:r>
          </a:p>
        </p:txBody>
      </p:sp>
      <p:pic>
        <p:nvPicPr>
          <p:cNvPr id="9" name="Picture 8" descr="prop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8502" y="2286000"/>
            <a:ext cx="2002626" cy="407822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870448" y="2569464"/>
            <a:ext cx="5248656" cy="1453896"/>
          </a:xfrm>
          <a:prstGeom prst="roundRect">
            <a:avLst>
              <a:gd name="adj" fmla="val 8000"/>
            </a:avLst>
          </a:prstGeom>
          <a:solidFill>
            <a:srgbClr val="ED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70448" y="2569464"/>
            <a:ext cx="50292" cy="1453896"/>
          </a:xfrm>
          <a:prstGeom prst="rect">
            <a:avLst/>
          </a:prstGeom>
          <a:solidFill>
            <a:srgbClr val="587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53328" y="2660904"/>
            <a:ext cx="4901184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1">
                <a:solidFill>
                  <a:srgbClr val="587C95"/>
                </a:solidFill>
                <a:latin typeface="Noto Sans CJK SC"/>
                <a:ea typeface="Noto Sans CJK SC"/>
              </a:rPr>
              <a:t>适用前提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53328" y="3172968"/>
            <a:ext cx="4882896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900" b="0">
                <a:solidFill>
                  <a:srgbClr val="243746"/>
                </a:solidFill>
                <a:latin typeface="Noto Sans CJK SC"/>
                <a:ea typeface="Noto Sans CJK SC"/>
              </a:rPr>
              <a:t>κ/2 &lt; δr &lt; ΠS &lt; κ；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900" b="0">
                <a:solidFill>
                  <a:srgbClr val="243746"/>
                </a:solidFill>
                <a:latin typeface="Noto Sans CJK SC"/>
                <a:ea typeface="Noto Sans CJK SC"/>
              </a:rPr>
              <a:t>b₀ ≥ max{eS*, 1 − eS*} ≥ 1/2。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70448" y="4288536"/>
            <a:ext cx="5248656" cy="1682496"/>
          </a:xfrm>
          <a:prstGeom prst="roundRect">
            <a:avLst>
              <a:gd name="adj" fmla="val 8000"/>
            </a:avLst>
          </a:prstGeom>
          <a:solidFill>
            <a:srgbClr val="FC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70448" y="4288536"/>
            <a:ext cx="50292" cy="1682496"/>
          </a:xfrm>
          <a:prstGeom prst="rect">
            <a:avLst/>
          </a:prstGeom>
          <a:solidFill>
            <a:srgbClr val="DA5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4379976"/>
            <a:ext cx="4901184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1">
                <a:solidFill>
                  <a:srgbClr val="DA501B"/>
                </a:solidFill>
                <a:latin typeface="Noto Sans CJK SC"/>
                <a:ea typeface="Noto Sans CJK SC"/>
              </a:rPr>
              <a:t>读法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4892040"/>
            <a:ext cx="4882896" cy="1005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50" b="0">
                <a:solidFill>
                  <a:srgbClr val="243746"/>
                </a:solidFill>
                <a:latin typeface="Noto Sans CJK SC"/>
                <a:ea typeface="Noto Sans CJK SC"/>
              </a:rPr>
              <a:t>先辨认稳定整改 / 稳定替换分支，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50" b="0">
                <a:solidFill>
                  <a:srgbClr val="243746"/>
                </a:solidFill>
                <a:latin typeface="Noto Sans CJK SC"/>
                <a:ea typeface="Noto Sans CJK SC"/>
              </a:rPr>
              <a:t>再看切换区中的边界努力。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50" b="0">
                <a:solidFill>
                  <a:srgbClr val="243746"/>
                </a:solidFill>
                <a:latin typeface="Noto Sans CJK SC"/>
                <a:ea typeface="Noto Sans CJK SC"/>
              </a:rPr>
              <a:t>δr 与买方成本 Δr 是不同参数。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90472" y="585216"/>
            <a:ext cx="80467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243746"/>
                </a:solidFill>
                <a:latin typeface="Noto Sans CJK SC"/>
                <a:ea typeface="Noto Sans CJK SC"/>
              </a:rPr>
              <a:t>附录 F｜内生预算的分区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768096"/>
            <a:ext cx="2871216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07281"/>
                </a:solidFill>
                <a:latin typeface="Noto Sans CJK SC"/>
                <a:ea typeface="Noto Sans CJK SC"/>
              </a:rPr>
              <a:t>文献精读  /  POM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0992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243746"/>
                </a:solidFill>
                <a:latin typeface="Noto Sans CJK SC"/>
                <a:ea typeface="Noto Sans CJK SC"/>
              </a:rPr>
              <a:t>Proposition 10：分支候选需要与边界和不审计方案比较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21792" y="6473952"/>
            <a:ext cx="10963656" cy="0"/>
          </a:xfrm>
          <a:prstGeom prst="line">
            <a:avLst/>
          </a:prstGeom>
          <a:ln w="12700">
            <a:solidFill>
              <a:srgbClr val="D9E3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19672"/>
            <a:ext cx="100584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607281"/>
                </a:solidFill>
                <a:latin typeface="Noto Sans CJK SC"/>
                <a:ea typeface="Noto Sans CJK SC"/>
              </a:rPr>
              <a:t>原文 eqs. (18)–(21) / Proposition 10，p.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01384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87C95"/>
                </a:solidFill>
                <a:latin typeface="Noto Sans CJK SC"/>
                <a:ea typeface="Noto Sans CJK SC"/>
              </a:rPr>
              <a:t>38</a:t>
            </a:r>
          </a:p>
        </p:txBody>
      </p:sp>
      <p:pic>
        <p:nvPicPr>
          <p:cNvPr id="9" name="Picture 8" descr="prop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8179" y="2340864"/>
            <a:ext cx="3914752" cy="3977639"/>
          </a:xfrm>
          <a:prstGeom prst="rect">
            <a:avLst/>
          </a:prstGeom>
        </p:spPr>
      </p:pic>
      <p:pic>
        <p:nvPicPr>
          <p:cNvPr id="10" name="Picture 9" descr="eq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1740" y="2441448"/>
            <a:ext cx="3559807" cy="168249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99632" y="4416552"/>
            <a:ext cx="5111496" cy="1499616"/>
          </a:xfrm>
          <a:prstGeom prst="roundRect">
            <a:avLst>
              <a:gd name="adj" fmla="val 8000"/>
            </a:avLst>
          </a:prstGeom>
          <a:solidFill>
            <a:srgbClr val="FC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4416552"/>
            <a:ext cx="50292" cy="1499616"/>
          </a:xfrm>
          <a:prstGeom prst="rect">
            <a:avLst/>
          </a:prstGeom>
          <a:solidFill>
            <a:srgbClr val="DA5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507992"/>
            <a:ext cx="4764024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1">
                <a:solidFill>
                  <a:srgbClr val="DA501B"/>
                </a:solidFill>
                <a:latin typeface="Noto Sans CJK SC"/>
                <a:ea typeface="Noto Sans CJK SC"/>
              </a:rPr>
              <a:t>使用命题时的检查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5020056"/>
            <a:ext cx="4745736" cy="8229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800" b="0">
                <a:solidFill>
                  <a:srgbClr val="243746"/>
                </a:solidFill>
                <a:latin typeface="Noto Sans CJK SC"/>
                <a:ea typeface="Noto Sans CJK SC"/>
              </a:rPr>
              <a:t>① 审计是否最优；② 分支是否自洽；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800" b="0">
                <a:solidFill>
                  <a:srgbClr val="243746"/>
                </a:solidFill>
                <a:latin typeface="Noto Sans CJK SC"/>
                <a:ea typeface="Noto Sans CJK SC"/>
              </a:rPr>
              <a:t>③ e &lt; A* ≤ 1；④ 净利润比较。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Catch-All or No-False-Alarm：不完美审计下的社会责任供应链管理</dc:title>
  <dc:subject>中文组会汇报：研究背景、研究问题、模型构建、最优策略、拓展</dc:subject>
  <dc:creator>组会汇报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
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db732d7da3d444f" /><Relationship Type="http://schemas.openxmlformats.org/officeDocument/2006/relationships/extended-properties" Target="/docProps/app.xml" Id="R147320e2aced4f32" /><Relationship Type="http://schemas.openxmlformats.org/officeDocument/2006/relationships/officeDocument" Target="/ppt/presentation.xml" Id="Rff3aedd04b6c4d69" /></Relationships>
</file>

<file path=ppt/presentation.xml><?xml version="1.0" encoding="utf-8"?>
<p:presentation xmlns:p="http://schemas.openxmlformats.org/presentationml/2006/main">
  <p:sldMasterIdLst>
    <p:sldMasterId xmlns:r="http://schemas.openxmlformats.org/officeDocument/2006/relationships" id="2147483648" r:id="R6dcc22d1d45d4f13"/>
  </p:sldMasterIdLst>
  <p:notesMasterIdLst>
    <p:notesMasterId xmlns:r="http://schemas.openxmlformats.org/officeDocument/2006/relationships" r:id="R62bee7a8bd7d4631"/>
  </p:notesMasterIdLst>
  <p:sldIdLst>
    <p:sldId xmlns:r="http://schemas.openxmlformats.org/officeDocument/2006/relationships" id="256" r:id="R45e5a039e2fd4b6e"/>
    <p:sldId xmlns:r="http://schemas.openxmlformats.org/officeDocument/2006/relationships" id="257" r:id="R82bf1903fa73497d"/>
    <p:sldId xmlns:r="http://schemas.openxmlformats.org/officeDocument/2006/relationships" id="258" r:id="Rd56792fb29cf417c"/>
    <p:sldId xmlns:r="http://schemas.openxmlformats.org/officeDocument/2006/relationships" id="259" r:id="R544b29e1e72b4789"/>
    <p:sldId xmlns:r="http://schemas.openxmlformats.org/officeDocument/2006/relationships" id="260" r:id="R603f0ceff4534840"/>
    <p:sldId xmlns:r="http://schemas.openxmlformats.org/officeDocument/2006/relationships" id="261" r:id="Rad715e46b2ba4642"/>
    <p:sldId xmlns:r="http://schemas.openxmlformats.org/officeDocument/2006/relationships" id="262" r:id="R610c404c241a498d"/>
    <p:sldId xmlns:r="http://schemas.openxmlformats.org/officeDocument/2006/relationships" id="263" r:id="R1f533e38da4045e3"/>
    <p:sldId xmlns:r="http://schemas.openxmlformats.org/officeDocument/2006/relationships" id="264" r:id="Rf539583311b04792"/>
    <p:sldId xmlns:r="http://schemas.openxmlformats.org/officeDocument/2006/relationships" id="265" r:id="Rc6726c8fe4614a4b"/>
    <p:sldId xmlns:r="http://schemas.openxmlformats.org/officeDocument/2006/relationships" id="266" r:id="Rdccfeb6c20f24272"/>
    <p:sldId xmlns:r="http://schemas.openxmlformats.org/officeDocument/2006/relationships" id="267" r:id="Rdbbd6dc381624994"/>
    <p:sldId xmlns:r="http://schemas.openxmlformats.org/officeDocument/2006/relationships" id="268" r:id="Rf5eaf604821e43ed"/>
    <p:sldId xmlns:r="http://schemas.openxmlformats.org/officeDocument/2006/relationships" id="269" r:id="R9056a771360a4018"/>
    <p:sldId xmlns:r="http://schemas.openxmlformats.org/officeDocument/2006/relationships" id="270" r:id="Re528a7f7af7144d6"/>
    <p:sldId xmlns:r="http://schemas.openxmlformats.org/officeDocument/2006/relationships" id="271" r:id="R51aa80b1a1e94823"/>
    <p:sldId xmlns:r="http://schemas.openxmlformats.org/officeDocument/2006/relationships" id="272" r:id="Rc23e82352f3a42fa"/>
    <p:sldId xmlns:r="http://schemas.openxmlformats.org/officeDocument/2006/relationships" id="273" r:id="R9df9a82d585c4ec9"/>
    <p:sldId xmlns:r="http://schemas.openxmlformats.org/officeDocument/2006/relationships" id="274" r:id="Rd3b289a5eac4497d"/>
    <p:sldId xmlns:r="http://schemas.openxmlformats.org/officeDocument/2006/relationships" id="275" r:id="R4d6557db4ccc4636"/>
    <p:sldId xmlns:r="http://schemas.openxmlformats.org/officeDocument/2006/relationships" id="276" r:id="R7159cdece4f84de6"/>
    <p:sldId xmlns:r="http://schemas.openxmlformats.org/officeDocument/2006/relationships" id="277" r:id="Re44ff3535ae647f4"/>
    <p:sldId xmlns:r="http://schemas.openxmlformats.org/officeDocument/2006/relationships" id="278" r:id="Rd59e249ae9fe429b"/>
    <p:sldId xmlns:r="http://schemas.openxmlformats.org/officeDocument/2006/relationships" id="279" r:id="R97572c61fe8f4bd3"/>
    <p:sldId xmlns:r="http://schemas.openxmlformats.org/officeDocument/2006/relationships" id="280" r:id="Rdc2b621c38d142ec"/>
    <p:sldId xmlns:r="http://schemas.openxmlformats.org/officeDocument/2006/relationships" id="281" r:id="Rf31f18379af24637"/>
    <p:sldId xmlns:r="http://schemas.openxmlformats.org/officeDocument/2006/relationships" id="282" r:id="R12d85bd1d8d14546"/>
    <p:sldId xmlns:r="http://schemas.openxmlformats.org/officeDocument/2006/relationships" id="283" r:id="R86baa5d5b7564524"/>
    <p:sldId xmlns:r="http://schemas.openxmlformats.org/officeDocument/2006/relationships" id="284" r:id="R252867897c0d4095"/>
    <p:sldId xmlns:r="http://schemas.openxmlformats.org/officeDocument/2006/relationships" id="285" r:id="R63914680825d4d80"/>
    <p:sldId xmlns:r="http://schemas.openxmlformats.org/officeDocument/2006/relationships" id="286" r:id="R8af8c043c9d84e81"/>
    <p:sldId xmlns:r="http://schemas.openxmlformats.org/officeDocument/2006/relationships" id="287" r:id="R361190018ad1478e"/>
    <p:sldId xmlns:r="http://schemas.openxmlformats.org/officeDocument/2006/relationships" id="288" r:id="R139801e01c024dad"/>
    <p:sldId xmlns:r="http://schemas.openxmlformats.org/officeDocument/2006/relationships" id="289" r:id="Rf6bb0dbae3564eb2"/>
    <p:sldId xmlns:r="http://schemas.openxmlformats.org/officeDocument/2006/relationships" id="290" r:id="R82e8d05bb2f44f15"/>
    <p:sldId xmlns:r="http://schemas.openxmlformats.org/officeDocument/2006/relationships" id="291" r:id="R1dd108d080e54be8"/>
    <p:sldId xmlns:r="http://schemas.openxmlformats.org/officeDocument/2006/relationships" id="292" r:id="Raa4e5fa8d2374114"/>
    <p:sldId xmlns:r="http://schemas.openxmlformats.org/officeDocument/2006/relationships" id="293" r:id="Rd8f53adc8e8140c0"/>
    <p:sldId xmlns:r="http://schemas.openxmlformats.org/officeDocument/2006/relationships" id="294" r:id="Rd4251cfa1d5844f2"/>
    <p:sldId xmlns:r="http://schemas.openxmlformats.org/officeDocument/2006/relationships" id="295" r:id="Rd0fcbf182b984e65"/>
    <p:sldId xmlns:r="http://schemas.openxmlformats.org/officeDocument/2006/relationships" id="296" r:id="Rfc232a08d3054d20"/>
    <p:sldId xmlns:r="http://schemas.openxmlformats.org/officeDocument/2006/relationships" id="297" r:id="R8e01d41156d34a57"/>
    <p:sldId xmlns:r="http://schemas.openxmlformats.org/officeDocument/2006/relationships" id="298" r:id="R6e62af6ca8de413a"/>
  </p:sldIdLst>
  <p:sldSz cx="12192000" cy="6858000"/>
  <p:notesSz cx="6858000" cy="9144000"/>
  <p:defaultTextStyle>
    <a:defPPr xmlns:a="http://schemas.openxmlformats.org/drawingml/2006/main">
      <a:buNone/>
      <a:defRPr kern="0"/>
    </a:def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howGuides="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c4ac00e165364299" /><Relationship Type="http://schemas.openxmlformats.org/officeDocument/2006/relationships/slideMaster" Target="/ppt/slideMasters/slideMaster1.xml" Id="R6dcc22d1d45d4f13" /><Relationship Type="http://schemas.openxmlformats.org/officeDocument/2006/relationships/notesMaster" Target="/ppt/notesMasters/notesMaster1.xml" Id="R62bee7a8bd7d4631" /><Relationship Type="http://schemas.openxmlformats.org/officeDocument/2006/relationships/presProps" Target="/ppt/presProps.xml" Id="R889bb139176d44e2" /><Relationship Type="http://schemas.openxmlformats.org/officeDocument/2006/relationships/viewProps" Target="/ppt/viewProps.xml" Id="R1b0d622ed7da4fd9" /><Relationship Type="http://schemas.openxmlformats.org/officeDocument/2006/relationships/tableStyles" Target="/ppt/tableStyles.xml" Id="R2cd167ca4a8847eb" /><Relationship Type="http://schemas.openxmlformats.org/officeDocument/2006/relationships/slide" Target="/ppt/slides/slide1.xml" Id="R45e5a039e2fd4b6e" /><Relationship Type="http://schemas.openxmlformats.org/officeDocument/2006/relationships/slide" Target="/ppt/slides/slide2.xml" Id="R82bf1903fa73497d" /><Relationship Type="http://schemas.openxmlformats.org/officeDocument/2006/relationships/slide" Target="/ppt/slides/slide3.xml" Id="Rd56792fb29cf417c" /><Relationship Type="http://schemas.openxmlformats.org/officeDocument/2006/relationships/slide" Target="/ppt/slides/slide4.xml" Id="R544b29e1e72b4789" /><Relationship Type="http://schemas.openxmlformats.org/officeDocument/2006/relationships/slide" Target="/ppt/slides/slide5.xml" Id="R603f0ceff4534840" /><Relationship Type="http://schemas.openxmlformats.org/officeDocument/2006/relationships/slide" Target="/ppt/slides/slide6.xml" Id="Rad715e46b2ba4642" /><Relationship Type="http://schemas.openxmlformats.org/officeDocument/2006/relationships/slide" Target="/ppt/slides/slide7.xml" Id="R610c404c241a498d" /><Relationship Type="http://schemas.openxmlformats.org/officeDocument/2006/relationships/slide" Target="/ppt/slides/slide8.xml" Id="R1f533e38da4045e3" /><Relationship Type="http://schemas.openxmlformats.org/officeDocument/2006/relationships/slide" Target="/ppt/slides/slide9.xml" Id="Rf539583311b04792" /><Relationship Type="http://schemas.openxmlformats.org/officeDocument/2006/relationships/slide" Target="/ppt/slides/slide10.xml" Id="Rc6726c8fe4614a4b" /><Relationship Type="http://schemas.openxmlformats.org/officeDocument/2006/relationships/slide" Target="/ppt/slides/slide11.xml" Id="Rdccfeb6c20f24272" /><Relationship Type="http://schemas.openxmlformats.org/officeDocument/2006/relationships/slide" Target="/ppt/slides/slide12.xml" Id="Rdbbd6dc381624994" /><Relationship Type="http://schemas.openxmlformats.org/officeDocument/2006/relationships/slide" Target="/ppt/slides/slide13.xml" Id="Rf5eaf604821e43ed" /><Relationship Type="http://schemas.openxmlformats.org/officeDocument/2006/relationships/slide" Target="/ppt/slides/slide14.xml" Id="R9056a771360a4018" /><Relationship Type="http://schemas.openxmlformats.org/officeDocument/2006/relationships/slide" Target="/ppt/slides/slide15.xml" Id="Re528a7f7af7144d6" /><Relationship Type="http://schemas.openxmlformats.org/officeDocument/2006/relationships/slide" Target="/ppt/slides/slide16.xml" Id="R51aa80b1a1e94823" /><Relationship Type="http://schemas.openxmlformats.org/officeDocument/2006/relationships/slide" Target="/ppt/slides/slide17.xml" Id="Rc23e82352f3a42fa" /><Relationship Type="http://schemas.openxmlformats.org/officeDocument/2006/relationships/slide" Target="/ppt/slides/slide18.xml" Id="R9df9a82d585c4ec9" /><Relationship Type="http://schemas.openxmlformats.org/officeDocument/2006/relationships/slide" Target="/ppt/slides/slide19.xml" Id="Rd3b289a5eac4497d" /><Relationship Type="http://schemas.openxmlformats.org/officeDocument/2006/relationships/slide" Target="/ppt/slides/slide20.xml" Id="R4d6557db4ccc4636" /><Relationship Type="http://schemas.openxmlformats.org/officeDocument/2006/relationships/slide" Target="/ppt/slides/slide21.xml" Id="R7159cdece4f84de6" /><Relationship Type="http://schemas.openxmlformats.org/officeDocument/2006/relationships/slide" Target="/ppt/slides/slide22.xml" Id="Re44ff3535ae647f4" /><Relationship Type="http://schemas.openxmlformats.org/officeDocument/2006/relationships/slide" Target="/ppt/slides/slide23.xml" Id="Rd59e249ae9fe429b" /><Relationship Type="http://schemas.openxmlformats.org/officeDocument/2006/relationships/slide" Target="/ppt/slides/slide24.xml" Id="R97572c61fe8f4bd3" /><Relationship Type="http://schemas.openxmlformats.org/officeDocument/2006/relationships/slide" Target="/ppt/slides/slide25.xml" Id="Rdc2b621c38d142ec" /><Relationship Type="http://schemas.openxmlformats.org/officeDocument/2006/relationships/slide" Target="/ppt/slides/slide26.xml" Id="Rf31f18379af24637" /><Relationship Type="http://schemas.openxmlformats.org/officeDocument/2006/relationships/slide" Target="/ppt/slides/slide27.xml" Id="R12d85bd1d8d14546" /><Relationship Type="http://schemas.openxmlformats.org/officeDocument/2006/relationships/slide" Target="/ppt/slides/slide28.xml" Id="R86baa5d5b7564524" /><Relationship Type="http://schemas.openxmlformats.org/officeDocument/2006/relationships/slide" Target="/ppt/slides/slide29.xml" Id="R252867897c0d4095" /><Relationship Type="http://schemas.openxmlformats.org/officeDocument/2006/relationships/slide" Target="/ppt/slides/slide30.xml" Id="R63914680825d4d80" /><Relationship Type="http://schemas.openxmlformats.org/officeDocument/2006/relationships/slide" Target="/ppt/slides/slide31.xml" Id="R8af8c043c9d84e81" /><Relationship Type="http://schemas.openxmlformats.org/officeDocument/2006/relationships/slide" Target="/ppt/slides/slide32.xml" Id="R361190018ad1478e" /><Relationship Type="http://schemas.openxmlformats.org/officeDocument/2006/relationships/slide" Target="/ppt/slides/slide33.xml" Id="R139801e01c024dad" /><Relationship Type="http://schemas.openxmlformats.org/officeDocument/2006/relationships/slide" Target="/ppt/slides/slide34.xml" Id="Rf6bb0dbae3564eb2" /><Relationship Type="http://schemas.openxmlformats.org/officeDocument/2006/relationships/slide" Target="/ppt/slides/slide35.xml" Id="R82e8d05bb2f44f15" /><Relationship Type="http://schemas.openxmlformats.org/officeDocument/2006/relationships/slide" Target="/ppt/slides/slide36.xml" Id="R1dd108d080e54be8" /><Relationship Type="http://schemas.openxmlformats.org/officeDocument/2006/relationships/slide" Target="/ppt/slides/slide37.xml" Id="Raa4e5fa8d2374114" /><Relationship Type="http://schemas.openxmlformats.org/officeDocument/2006/relationships/slide" Target="/ppt/slides/slide38.xml" Id="Rd8f53adc8e8140c0" /><Relationship Type="http://schemas.openxmlformats.org/officeDocument/2006/relationships/slide" Target="/ppt/slides/slide39.xml" Id="Rd4251cfa1d5844f2" /><Relationship Type="http://schemas.openxmlformats.org/officeDocument/2006/relationships/slide" Target="/ppt/slides/slide40.xml" Id="Rd0fcbf182b984e65" /><Relationship Type="http://schemas.openxmlformats.org/officeDocument/2006/relationships/slide" Target="/ppt/slides/slide41.xml" Id="Rfc232a08d3054d20" /><Relationship Type="http://schemas.openxmlformats.org/officeDocument/2006/relationships/slide" Target="/ppt/slides/slide42.xml" Id="R8e01d41156d34a57" /><Relationship Type="http://schemas.openxmlformats.org/officeDocument/2006/relationships/slide" Target="/ppt/slides/slide43.xml" Id="R6e62af6ca8de413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ee6a310f395c4c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831427e15e94ebe" /><Relationship Type="http://schemas.openxmlformats.org/officeDocument/2006/relationships/notesMaster" Target="/ppt/notesMasters/notesMaster1.xml" Id="Rdb765bb6ffca46b8" /></Relationships>
</file>

<file path=ppt/notesSlides/_rels/notesSlide2.xml.rels>&#65279;<?xml version="1.0" encoding="utf-8"?><Relationships xmlns="http://schemas.openxmlformats.org/package/2006/relationships"><Relationship Type="http://schemas.openxmlformats.org/officeDocument/2006/relationships/slide" Target="/ppt/slides/slide2.xml" Id="Rccdb0d3da78c494c" /><Relationship Type="http://schemas.openxmlformats.org/officeDocument/2006/relationships/notesMaster" Target="/ppt/notesMasters/notesMaster1.xml" Id="Rc7753e6bbf2e4ec4" /></Relationships>
</file>

<file path=ppt/notesSlides/_rels/notesSlide3.xml.rels>&#65279;<?xml version="1.0" encoding="utf-8"?><Relationships xmlns="http://schemas.openxmlformats.org/package/2006/relationships"><Relationship Type="http://schemas.openxmlformats.org/officeDocument/2006/relationships/slide" Target="/ppt/slides/slide3.xml" Id="R3d0d778cb3bb4614" /><Relationship Type="http://schemas.openxmlformats.org/officeDocument/2006/relationships/notesMaster" Target="/ppt/notesMasters/notesMaster1.xml" Id="Re9bb065b588442d7" /></Relationships>
</file>

<file path=ppt/notesSlides/_rels/notesSlide4.xml.rels>&#65279;<?xml version="1.0" encoding="utf-8"?><Relationships xmlns="http://schemas.openxmlformats.org/package/2006/relationships"><Relationship Type="http://schemas.openxmlformats.org/officeDocument/2006/relationships/slide" Target="/ppt/slides/slide4.xml" Id="R6c3294dd2a3c46b2" /><Relationship Type="http://schemas.openxmlformats.org/officeDocument/2006/relationships/notesMaster" Target="/ppt/notesMasters/notesMaster1.xml" Id="R9ea2e09eb9564942"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e59b0a88774b6b" /><Relationship Type="http://schemas.openxmlformats.org/officeDocument/2006/relationships/notesMaster" Target="/ppt/notesMasters/notesMaster1.xml" Id="R4d14c67b9a9e49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83bdb1d35204bf2" /><Relationship Type="http://schemas.openxmlformats.org/officeDocument/2006/relationships/notesMaster" Target="/ppt/notesMasters/notesMaster1.xml" Id="R7b762c0b11474243" /></Relationships>
</file>

<file path=ppt/notesSlides/_rels/notesSlide7.xml.rels>&#65279;<?xml version="1.0" encoding="utf-8"?><Relationships xmlns="http://schemas.openxmlformats.org/package/2006/relationships"><Relationship Type="http://schemas.openxmlformats.org/officeDocument/2006/relationships/slide" Target="/ppt/slides/slide7.xml" Id="Re5720390d37b4d79" /><Relationship Type="http://schemas.openxmlformats.org/officeDocument/2006/relationships/notesMaster" Target="/ppt/notesMasters/notesMaster1.xml" Id="R706c5661a93043ac" /></Relationships>
</file>

<file path=ppt/notesSlides/_rels/notesSlide8.xml.rels>&#65279;<?xml version="1.0" encoding="utf-8"?><Relationships xmlns="http://schemas.openxmlformats.org/package/2006/relationships"><Relationship Type="http://schemas.openxmlformats.org/officeDocument/2006/relationships/slide" Target="/ppt/slides/slide8.xml" Id="R72cf6fc1828b45bc" /><Relationship Type="http://schemas.openxmlformats.org/officeDocument/2006/relationships/notesMaster" Target="/ppt/notesMasters/notesMaster1.xml" Id="R09c0fd303d704ea5" /></Relationships>
</file>

<file path=ppt/notesSlides/_rels/notesSlide9.xml.rels>&#65279;<?xml version="1.0" encoding="utf-8"?><Relationships xmlns="http://schemas.openxmlformats.org/package/2006/relationships"><Relationship Type="http://schemas.openxmlformats.org/officeDocument/2006/relationships/slide" Target="/ppt/slides/slide9.xml" Id="R32d04ec688db4955" /><Relationship Type="http://schemas.openxmlformats.org/officeDocument/2006/relationships/notesMaster" Target="/ppt/notesMasters/notesMaster1.xml" Id="Re0b38a14a9834bd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a970f1d037148dc" /><Relationship Type="http://schemas.openxmlformats.org/officeDocument/2006/relationships/notesMaster" Target="/ppt/notesMasters/notesMaster1.xml" Id="R04cc60548f344a5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ef7394a1fa41b8" /><Relationship Type="http://schemas.openxmlformats.org/officeDocument/2006/relationships/notesMaster" Target="/ppt/notesMasters/notesMaster1.xml" Id="R20886f0e852240f5"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a3c81c686364588" /><Relationship Type="http://schemas.openxmlformats.org/officeDocument/2006/relationships/notesMaster" Target="/ppt/notesMasters/notesMaster1.xml" Id="R83abca3e4d73437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edeeb22151d405f" /><Relationship Type="http://schemas.openxmlformats.org/officeDocument/2006/relationships/notesMaster" Target="/ppt/notesMasters/notesMaster1.xml" Id="R2ac81e37485042f4"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7cf931882044469" /><Relationship Type="http://schemas.openxmlformats.org/officeDocument/2006/relationships/notesMaster" Target="/ppt/notesMasters/notesMaster1.xml" Id="R616621d9e61147c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aafe54334884af3" /><Relationship Type="http://schemas.openxmlformats.org/officeDocument/2006/relationships/notesMaster" Target="/ppt/notesMasters/notesMaster1.xml" Id="R95f78a439235451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ac19589d77f54d23" /><Relationship Type="http://schemas.openxmlformats.org/officeDocument/2006/relationships/notesMaster" Target="/ppt/notesMasters/notesMaster1.xml" Id="Rb6cb56648c3a4d06"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ca2b388c0444ec4" /><Relationship Type="http://schemas.openxmlformats.org/officeDocument/2006/relationships/notesMaster" Target="/ppt/notesMasters/notesMaster1.xml" Id="R07d179d36d144f83"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e6b258b707bb4236" /><Relationship Type="http://schemas.openxmlformats.org/officeDocument/2006/relationships/notesMaster" Target="/ppt/notesMasters/notesMaster1.xml" Id="R5a2cae4602044d6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fe02a15e7f1430c" /><Relationship Type="http://schemas.openxmlformats.org/officeDocument/2006/relationships/notesMaster" Target="/ppt/notesMasters/notesMaster1.xml" Id="R12aa2912b7b84e6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b3220efbfdd498a" /><Relationship Type="http://schemas.openxmlformats.org/officeDocument/2006/relationships/notesMaster" Target="/ppt/notesMasters/notesMaster1.xml" Id="Rbb442d4f10314cf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8a6de6af178149e0" /><Relationship Type="http://schemas.openxmlformats.org/officeDocument/2006/relationships/notesMaster" Target="/ppt/notesMasters/notesMaster1.xml" Id="R71b9352486b744e4"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617c60606d94085" /><Relationship Type="http://schemas.openxmlformats.org/officeDocument/2006/relationships/notesMaster" Target="/ppt/notesMasters/notesMaster1.xml" Id="R743c0462063345b6"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4b57c27419834e5b" /><Relationship Type="http://schemas.openxmlformats.org/officeDocument/2006/relationships/notesMaster" Target="/ppt/notesMasters/notesMaster1.xml" Id="Re1d0c6060e4b4d4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25dbe6136fa420f" /><Relationship Type="http://schemas.openxmlformats.org/officeDocument/2006/relationships/notesMaster" Target="/ppt/notesMasters/notesMaster1.xml" Id="Rddb55bd903964ac4"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2e00d3ffe16e40c4" /><Relationship Type="http://schemas.openxmlformats.org/officeDocument/2006/relationships/notesMaster" Target="/ppt/notesMasters/notesMaster1.xml" Id="Rfb7432de9fa54bf4"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f480594287d45d7" /><Relationship Type="http://schemas.openxmlformats.org/officeDocument/2006/relationships/notesMaster" Target="/ppt/notesMasters/notesMaster1.xml" Id="R9a9d1f896a6d4fb2"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41facb94ee1949a0" /><Relationship Type="http://schemas.openxmlformats.org/officeDocument/2006/relationships/notesMaster" Target="/ppt/notesMasters/notesMaster1.xml" Id="Rf14414fbced14453"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c4eb430e642345a2" /><Relationship Type="http://schemas.openxmlformats.org/officeDocument/2006/relationships/notesMaster" Target="/ppt/notesMasters/notesMaster1.xml" Id="Rdcab95d6ee9c4fc7"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8c62cd927f0b4bdb" /><Relationship Type="http://schemas.openxmlformats.org/officeDocument/2006/relationships/notesMaster" Target="/ppt/notesMasters/notesMaster1.xml" Id="Rfaab45febaa64ea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4527666c534a473e" /><Relationship Type="http://schemas.openxmlformats.org/officeDocument/2006/relationships/notesMaster" Target="/ppt/notesMasters/notesMaster1.xml" Id="R9bf6c51320e64048"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6ee5950489d40a4" /><Relationship Type="http://schemas.openxmlformats.org/officeDocument/2006/relationships/notesMaster" Target="/ppt/notesMasters/notesMaster1.xml" Id="Rd124711dad95498a"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0fe3084eb4224ed3" /><Relationship Type="http://schemas.openxmlformats.org/officeDocument/2006/relationships/notesMaster" Target="/ppt/notesMasters/notesMaster1.xml" Id="Red6a6414223d479d"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ba8b7d5f5f94c84" /><Relationship Type="http://schemas.openxmlformats.org/officeDocument/2006/relationships/notesMaster" Target="/ppt/notesMasters/notesMaster1.xml" Id="R590d251b14af4c76"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7cb189e61df24aae" /><Relationship Type="http://schemas.openxmlformats.org/officeDocument/2006/relationships/notesMaster" Target="/ppt/notesMasters/notesMaster1.xml" Id="R75f27c864c06448c"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fd887236c8074eaf" /><Relationship Type="http://schemas.openxmlformats.org/officeDocument/2006/relationships/notesMaster" Target="/ppt/notesMasters/notesMaster1.xml" Id="R8756c364c47c4f6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bb79d525dfed4bbf" /><Relationship Type="http://schemas.openxmlformats.org/officeDocument/2006/relationships/notesMaster" Target="/ppt/notesMasters/notesMaster1.xml" Id="Rb930c5bb415f407d"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2aa570e1bcbf445a" /><Relationship Type="http://schemas.openxmlformats.org/officeDocument/2006/relationships/notesMaster" Target="/ppt/notesMasters/notesMaster1.xml" Id="Rcb5bbe025c284902"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5aa0062053b4e2b" /><Relationship Type="http://schemas.openxmlformats.org/officeDocument/2006/relationships/notesMaster" Target="/ppt/notesMasters/notesMaster1.xml" Id="R290e27ff8ac74e37"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0ea915be149a44a4" /><Relationship Type="http://schemas.openxmlformats.org/officeDocument/2006/relationships/notesMaster" Target="/ppt/notesMasters/notesMaster1.xml" Id="R5368f82b824e4ecc"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d5441c182004078" /><Relationship Type="http://schemas.openxmlformats.org/officeDocument/2006/relationships/notesMaster" Target="/ppt/notesMasters/notesMaster1.xml" Id="R0e68564acfed468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380654b8cefa40c6" /><Relationship Type="http://schemas.openxmlformats.org/officeDocument/2006/relationships/notesMaster" Target="/ppt/notesMasters/notesMaster1.xml" Id="R4d296edf44f24f8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1776287033c4d11" /><Relationship Type="http://schemas.openxmlformats.org/officeDocument/2006/relationships/notesMaster" Target="/ppt/notesMasters/notesMaster1.xml" Id="R72d0d32a48ff453b"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359455a6aa5945ab" /><Relationship Type="http://schemas.openxmlformats.org/officeDocument/2006/relationships/notesMaster" Target="/ppt/notesMasters/notesMaster1.xml" Id="R732239113c47451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17 秒。</a:t>
            </a:r>
            <a:endParaRPr/>
          </a:p>
          <a:p xmlns:a="http://schemas.openxmlformats.org/drawingml/2006/main">
            <a:r>
              <a:t/>
            </a:r>
            <a:endParaRPr/>
          </a:p>
          <a:p xmlns:a="http://schemas.openxmlformats.org/drawingml/2006/main">
            <a:r>
              <a:t>大家好，今天汇报的是 Li 和 Li 2026 年发表于 Production and Operations Management 的论文。它讨论供应链审计中一个容易忽略的问题：审计不仅可能放过违规者，也可能误伤合规者。作者把两类错误与整改、替换和有限预算放在一起，得到几个与常见直觉不同的结果。接下来我会先解释模型，再讲结果的经济含义。</a:t>
            </a:r>
            <a:endParaRPr/>
          </a:p>
          <a:p xmlns:a="http://schemas.openxmlformats.org/drawingml/2006/main">
            <a:r>
              <a:t/>
            </a:r>
            <a:endParaRPr/>
          </a:p>
          <a:p xmlns:a="http://schemas.openxmlformats.org/drawingml/2006/main">
            <a:r>
              <a:t>来源：Li &amp; Li (2026), Production and Operations Management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17 秒。</a:t>
            </a:r>
          </a:p>
          <a:p xmlns:a="http://schemas.openxmlformats.org/drawingml/2006/main">
            <a:r>
              <a:t/>
            </a:r>
          </a:p>
          <a:p xmlns:a="http://schemas.openxmlformats.org/drawingml/2006/main">
            <a:r>
              <a:t>作者为 Chengzhang Li 和 Yuanchen Li，原文列出的机构包括上海交通大学安泰经济与管理学院和同济大学相关研究单位。文章的研究对象是责任采购中的不完美审计。它的贡献在于同时选择错误控制、事后治理和网络资源配置，并用违规最终产品进入市场的概率评价企业方案的社会效果。</a:t>
            </a:r>
          </a:p>
          <a:p xmlns:a="http://schemas.openxmlformats.org/drawingml/2006/main">
            <a:r>
              <a:t/>
            </a:r>
          </a:p>
          <a:p xmlns:a="http://schemas.openxmlformats.org/drawingml/2006/main">
            <a:r>
              <a:t>来源：原文首页、摘要及 §1，pp. 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17 秒。</a:t>
            </a:r>
            <a:endParaRPr/>
          </a:p>
          <a:p xmlns:a="http://schemas.openxmlformats.org/drawingml/2006/main">
            <a:r>
              <a:t/>
            </a:r>
            <a:endParaRPr/>
          </a:p>
          <a:p xmlns:a="http://schemas.openxmlformats.org/drawingml/2006/main">
            <a:r>
              <a:t>汇报沿用这七部分。模型分析分为一对一基准和两家供应商的装配网络。先回答审计失败后如何处理，再回答如何控制错误、分配预算和选择审计对象。扩展部分再让供应商责任努力和买方审计预算成为决策变量。完整条件放在附录，讨论时可以随时查阅。</a:t>
            </a:r>
            <a:endParaRPr/>
          </a:p>
          <a:p xmlns:a="http://schemas.openxmlformats.org/drawingml/2006/main">
            <a:r>
              <a:t/>
            </a:r>
            <a:endParaRPr/>
          </a:p>
          <a:p xmlns:a="http://schemas.openxmlformats.org/drawingml/2006/main">
            <a:r>
              <a:t>来源：Li &amp; Li (2026), Production and Operations Management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52 秒。</a:t>
            </a:r>
            <a:endParaRPr/>
          </a:p>
          <a:p xmlns:a="http://schemas.openxmlformats.org/drawingml/2006/main">
            <a:r>
              <a:t/>
            </a:r>
            <a:endParaRPr/>
          </a:p>
          <a:p xmlns:a="http://schemas.openxmlformats.org/drawingml/2006/main">
            <a:r>
              <a:t>现实中，品牌企业很难直接看见所有供应商的合规状态，因此依赖审计。问题在于审计结果并不总是可靠。误报会把一个本来合规的供应商判为违规，可能引发无谓整改，甚至错误替换及其声誉损害。漏报则会把真正违规的投入品放进供应链。这里的 Dyson 案例是论文引用的指控，不能当成本文验证的事实。本文要解决的是：当两类错误都代价高昂、预算又有限时，企业应当如何联合设计审计和纠正措施？</a:t>
            </a:r>
            <a:endParaRPr/>
          </a:p>
          <a:p xmlns:a="http://schemas.openxmlformats.org/drawingml/2006/main">
            <a:r>
              <a:t/>
            </a:r>
            <a:endParaRPr/>
          </a:p>
          <a:p xmlns:a="http://schemas.openxmlformats.org/drawingml/2006/main">
            <a:r>
              <a:t>来源：§1，pp. 1–3；案例按论文叙述</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34 秒。</a:t>
            </a:r>
            <a:endParaRPr/>
          </a:p>
          <a:p xmlns:a="http://schemas.openxmlformats.org/drawingml/2006/main">
            <a:r>
              <a:t/>
            </a:r>
            <a:endParaRPr/>
          </a:p>
          <a:p xmlns:a="http://schemas.openxmlformats.org/drawingml/2006/main">
            <a:r>
              <a:t>四个问题彼此相连。审计精度改变误报与漏报的组合，而误报风险会影响企业是否愿意替换供应商。治理动作不同，审计准确度的边际价值也不同，于是企业可能不均匀分配预算，甚至改变审计数量。最后，企业在优化的是自己的期望利润，但我们还要单独观察违规产品进入市场的概率。这两个评价指标不能混为一谈。</a:t>
            </a:r>
            <a:endParaRPr/>
          </a:p>
          <a:p xmlns:a="http://schemas.openxmlformats.org/drawingml/2006/main">
            <a:r>
              <a:t/>
            </a:r>
            <a:endParaRPr/>
          </a:p>
          <a:p xmlns:a="http://schemas.openxmlformats.org/drawingml/2006/main">
            <a:r>
              <a:t>来源：§1，pp. 2–3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43 秒。</a:t>
            </a:r>
            <a:endParaRPr/>
          </a:p>
          <a:p xmlns:a="http://schemas.openxmlformats.org/drawingml/2006/main">
            <a:r>
              <a:t/>
            </a:r>
            <a:endParaRPr/>
          </a:p>
          <a:p xmlns:a="http://schemas.openxmlformats.org/drawingml/2006/main">
            <a:r>
              <a:t>现有责任采购研究主要解释供应商如何合规、如何隐藏违规，以及企业如何投入审计。响应治理研究关注发现问题后的整改、替换与披露。网络研究关注联合审计和资源优先级。不能说所有文献都不考虑误报，Guo 等 2017 年的认证研究已经考虑了两类错误，不过错误率是外生给定的。本文的区别是让错误组合成为决策，并把它与治理动作、装配网络的资源分配和社会风险连接起来。代表文献还包括 Plambeck &amp; Taylor (2016)、Cho et al. (2019)、Caro et al. (2018)、Chen et al. (2020a) 和 Zhang et al. (2022)。</a:t>
            </a:r>
            <a:endParaRPr/>
          </a:p>
          <a:p xmlns:a="http://schemas.openxmlformats.org/drawingml/2006/main">
            <a:r>
              <a:t/>
            </a:r>
            <a:endParaRPr/>
          </a:p>
          <a:p xmlns:a="http://schemas.openxmlformats.org/drawingml/2006/main">
            <a:r>
              <a:t>来源：§2，pp. 3–4</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p>
          <a:p xmlns:a="http://schemas.openxmlformats.org/drawingml/2006/main">
            <a:r>
              <a:t/>
            </a:r>
          </a:p>
          <a:p xmlns:a="http://schemas.openxmlformats.org/drawingml/2006/main">
            <a:r>
              <a:t>这两家供应商提供的是两种不同投入品，不是可以买其中一家替代另一家的双重货源。任一投入品违规，就会使最终装配产品不合规。两家在成本和合规概率上对称。基准中 e 外生，供应商没有战略选择，主要研究买方的序贯决策。利润式是实现状态利润：先从最大交易利润 Π 中扣除替换和整改成本，再扣除实际发生的两类损害。这里用带波浪线的损害金额，下一页的 D 则是被发现概率加权后的期望损害。不要将两者混用。</a:t>
            </a:r>
          </a:p>
          <a:p xmlns:a="http://schemas.openxmlformats.org/drawingml/2006/main">
            <a:r>
              <a:t/>
            </a:r>
          </a:p>
          <a:p xmlns:a="http://schemas.openxmlformats.org/drawingml/2006/main">
            <a:r>
              <a:t>来源：§3，pp. 5–6，Eq. (1)</a:t>
            </a:r>
          </a:p>
          <a:p xmlns:a="http://schemas.openxmlformats.org/drawingml/2006/main">
            <a:r>
              <a:t/>
            </a:r>
          </a:p>
          <a:p xmlns:a="http://schemas.openxmlformats.org/drawingml/2006/main">
            <a:r>
              <a:t>公式：\phi_{n_\alpha,n_\beta}^{n_s,n_r}=\Pi-n_s\Delta_s-n_r\Delta_r-n_\alpha\widetilde{D}_\alpha-n_\beta\widetilde{D}_\beta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p>
          <a:p xmlns:a="http://schemas.openxmlformats.org/drawingml/2006/main">
            <a:r>
              <a:t/>
            </a:r>
          </a:p>
          <a:p xmlns:a="http://schemas.openxmlformats.org/drawingml/2006/main">
            <a:r>
              <a:t>这一页先把后面会反复用到的符号说清楚。x 决定有没有审计，o 是审计结果，f 是观察结果后采取的治理动作。Δs 和 Δr 都是买方的治理成本。两种治理在模型中都确保供应商合规，但错误替换合规供应商可能被外界发现，从而造成第一类损害。整改没有这项损害，所以它有时虽然成本高，却更安全。Dα 和 Dβ 已经把外部发现概率乘进来。审计成本采用二次函数，体现提高准确度越来越贵。完整符号在附录。</a:t>
            </a:r>
          </a:p>
          <a:p xmlns:a="http://schemas.openxmlformats.org/drawingml/2006/main">
            <a:r>
              <a:t/>
            </a:r>
          </a:p>
          <a:p xmlns:a="http://schemas.openxmlformats.org/drawingml/2006/main">
            <a:r>
              <a:t>来源：§3，pp. 5–6；Appendix EC.4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p>
          <a:p xmlns:a="http://schemas.openxmlformats.org/drawingml/2006/main">
            <a:r>
              <a:t/>
            </a:r>
          </a:p>
          <a:p xmlns:a="http://schemas.openxmlformats.org/drawingml/2006/main">
            <a:r>
              <a:t>读这个表时先看真实状态，再看审计结果。合规者以 1−α 的概率正确通过，以 α 的概率被误报。违规者以 β 的概率被漏报，以 1−β 的概率被发现。整体准确度就是两类正确判断的加权平均，因此 A=1−eα−(1−e)β。注意 α 本身不是总体误报概率，还要乘 e。给定 A，相当于固定了加权错误总量，少误伤一些合规者，就可能放过更多违规者。有效性约束 A≥e 的参照是始终预测合规时的先验准确度。论文文字强调提供更有用信息，正式约束使用非严格不等号。</a:t>
            </a:r>
          </a:p>
          <a:p xmlns:a="http://schemas.openxmlformats.org/drawingml/2006/main">
            <a:r>
              <a:t/>
            </a:r>
          </a:p>
          <a:p xmlns:a="http://schemas.openxmlformats.org/drawingml/2006/main">
            <a:r>
              <a:t>来源：§3，p. 5</a:t>
            </a:r>
          </a:p>
          <a:p xmlns:a="http://schemas.openxmlformats.org/drawingml/2006/main">
            <a:r>
              <a:t/>
            </a:r>
          </a:p>
          <a:p xmlns:a="http://schemas.openxmlformats.org/drawingml/2006/main">
            <a:r>
              <a:t>公式：A_i=e(1-\alpha_i)+(1-e)(1-\beta_i)=1-e\alpha_i-(1-e)\beta_i</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图中先按供应商的真实状态分为合规与违规两条路径。合规供应商误报后如果被整改，不产生第一类损害；如果被替换，错误公开后才可能产生损害。违规供应商只要被漏报或完全没有审计，就可能把违规投入品送入市场。被发现后，无论整改还是替换，都能消除该投入品的违规风险。企业按实际顺序先审计后治理，但求解时使用后向归纳：先求未通过后的最优动作，再把这个响应带回审计设计，最后比较资源与覆盖方案。</a:t>
            </a:r>
            <a:endParaRPr/>
          </a:p>
          <a:p xmlns:a="http://schemas.openxmlformats.org/drawingml/2006/main">
            <a:r>
              <a:t/>
            </a:r>
            <a:endParaRPr/>
          </a:p>
          <a:p xmlns:a="http://schemas.openxmlformats.org/drawingml/2006/main">
            <a:r>
              <a:t>来源：§3，pp. 6–7，Figure 1</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73 秒。</a:t>
            </a:r>
            <a:endParaRPr/>
          </a:p>
          <a:p xmlns:a="http://schemas.openxmlformats.org/drawingml/2006/main">
            <a:r>
              <a:t/>
            </a:r>
            <a:endParaRPr/>
          </a:p>
          <a:p xmlns:a="http://schemas.openxmlformats.org/drawingml/2006/main">
            <a:r>
              <a:t>审计未通过不等于供应商一定违规，因为里面混有被误报的合规者。先用贝叶斯公式算未通过者中实际合规的概率，即 eα 除以未通过的总体概率 p。这个后验概率乘 Dα，就是错误替换可能带来的条件期望损害 δ。整改的成本是 Δr，替换的成本则是 Δs 加 δ。因此只有当替换节省的直接成本 Δr−Δs 大于 δ，企业才会替换，否则选择整改。α=0 时，未通过者不会是误报的合规者，δ=0，企业就可以放心使用更便宜的替换。等号是无差异边界。</a:t>
            </a:r>
            <a:endParaRPr/>
          </a:p>
          <a:p xmlns:a="http://schemas.openxmlformats.org/drawingml/2006/main">
            <a:r>
              <a:t>讲解算例使用自设参数：e=.5、α=.1、β=.2、Dα=3，未通过概率 p=.45，实际合规的后验概率为1/9，条件预期误报损害 δ=1/3。若 Δr=2、Δs=1.8，替换节省0.2但可能损害1/3，条件期望成本为2.1333，高于整改的2，因此仍选整改。算例仅说明机制，并非论文原始算例。</a:t>
            </a:r>
            <a:endParaRPr/>
          </a:p>
          <a:p xmlns:a="http://schemas.openxmlformats.org/drawingml/2006/main">
            <a:r>
              <a:t/>
            </a:r>
            <a:endParaRPr/>
          </a:p>
          <a:p xmlns:a="http://schemas.openxmlformats.org/drawingml/2006/main">
            <a:r>
              <a:t>来源：§4，pp. 6–7，Lemma 1；讲解算例为自设参数</a:t>
            </a:r>
            <a:endParaRPr/>
          </a:p>
          <a:p xmlns:a="http://schemas.openxmlformats.org/drawingml/2006/main">
            <a:r>
              <a:t/>
            </a:r>
            <a:endParaRPr/>
          </a:p>
          <a:p xmlns:a="http://schemas.openxmlformats.org/drawingml/2006/main">
            <a:r>
              <a:t>公式：p=e\alpha+(1-e)(1-\beta),\qquad \Pr(C\mid o=1)=\frac{e\alpha}{p}</a:t>
            </a:r>
            <a:endParaRPr/>
          </a:p>
          <a:p xmlns:a="http://schemas.openxmlformats.org/drawingml/2006/main">
            <a:r>
              <a:t/>
            </a:r>
            <a:endParaRPr/>
          </a:p>
          <a:p xmlns:a="http://schemas.openxmlformats.org/drawingml/2006/main">
            <a:r>
              <a:t>公式：\delta(\alpha,\beta)=\frac{e\alpha D_\alpha}{e\alpha+(1-e)(1-\beta)}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前面已经求出治理的最优响应，现在企业选择 x、α 和 β 来最大化期望利润。基准成本系数归一化为 1，所以审计成本是 A 平方除以 2。要满足 A≥e，预算至少达到 e 平方除以 2。引理2的经济条件是最低治理成本与 Dβ 的比较：如果最低治理成本低于漏掉违规者的预期损害，审计有价值；若两种治理都比损害更贵，企业从一开始就不启动审计。等号属于无差异边界。在有价值且可行的审计区间中，预算用于提高准确度，达到 A=1 后更多预算不能继续提高准确度。</a:t>
            </a:r>
            <a:endParaRPr/>
          </a:p>
          <a:p xmlns:a="http://schemas.openxmlformats.org/drawingml/2006/main">
            <a:r>
              <a:t/>
            </a:r>
            <a:endParaRPr/>
          </a:p>
          <a:p xmlns:a="http://schemas.openxmlformats.org/drawingml/2006/main">
            <a:r>
              <a:t>来源：§4，p. 7，Eqs. (2)–(5), Lemma 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p>
          <a:p xmlns:a="http://schemas.openxmlformats.org/drawingml/2006/main">
            <a:r>
              <a:t/>
            </a:r>
          </a:p>
          <a:p xmlns:a="http://schemas.openxmlformats.org/drawingml/2006/main">
            <a:r>
              <a:t>这两种政策是后面理解所有命题的基础。N 政策首先杜绝误报，但仍可能漏掉违规者。C 政策首先消除漏报，却仍可能误报合规者。它们都达到同样的准确度 b0，所以不能简单说 C 更准确或 N 更准确。为什么可以只比较这两个端点？固定准确度后，整改与替换对应两条线性损失，企业取两者较小值，得到凹函数。在一条可行线段上最小化凹函数，最优值可以在端点取得。e=1 时两个端点重合，涉及 1−e 分母的公式不能直接代入。四条损失分支见附录。</a:t>
            </a:r>
          </a:p>
          <a:p xmlns:a="http://schemas.openxmlformats.org/drawingml/2006/main">
            <a:r>
              <a:t/>
            </a:r>
          </a:p>
          <a:p xmlns:a="http://schemas.openxmlformats.org/drawingml/2006/main">
            <a:r>
              <a:t>来源：§4，p. 7；端点：N 与 C</a:t>
            </a:r>
          </a:p>
          <a:p xmlns:a="http://schemas.openxmlformats.org/drawingml/2006/main">
            <a:r>
              <a:t/>
            </a:r>
          </a:p>
          <a:p xmlns:a="http://schemas.openxmlformats.org/drawingml/2006/main">
            <a:r>
              <a:t>公式：b_0=\min\{1,\sqrt{2B}\},\qquad e\alpha+(1-e)\beta=1-b_0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73 秒。</a:t>
            </a:r>
            <a:endParaRPr/>
          </a:p>
          <a:p xmlns:a="http://schemas.openxmlformats.org/drawingml/2006/main">
            <a:r>
              <a:t/>
            </a:r>
            <a:endParaRPr/>
          </a:p>
          <a:p xmlns:a="http://schemas.openxmlformats.org/drawingml/2006/main">
            <a:r>
              <a:t>图2横轴是整改成本，纵轴是替换成本。先看治理成本的相对大小：替换比整改贵时企业始终整改；整改明显更贵时企业始终替换。再比较治理成本与错误损害，决定优先消除哪类错误。当两种治理成本都适中且替换便宜，预算才可能改变治理动作甚至错误政策。精确条件是：情形i，Δs&gt;Δr，以 Δr 与 Dβ/2 比较 N/C。情形ii，Δr&gt;Δs 且 Δr&gt;min{Δs+Dα/2,Dβ/2}，以 Δs 与 (Dβ−Dα)/2 比较 N/C。情形iii，Δs&lt;Δr&lt;min{Δs+Dα/2,Dβ/2}，再分 Δs 小于或大于 (Dβ−Dα)/2。小于时始终 C，大于时按准确度与双横线 b 阈值切换，阈值=(Dβ−(2−e)Δr−eΔs)/(Dβ−Δr−Δs)。等号处无差异。</a:t>
            </a:r>
            <a:endParaRPr/>
          </a:p>
          <a:p xmlns:a="http://schemas.openxmlformats.org/drawingml/2006/main">
            <a:r>
              <a:t/>
            </a:r>
            <a:endParaRPr/>
          </a:p>
          <a:p xmlns:a="http://schemas.openxmlformats.org/drawingml/2006/main">
            <a:r>
              <a:t>来源：§4，pp. 7–9，Proposition 1，Figure 2(a)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56 秒。</a:t>
            </a:r>
            <a:endParaRPr/>
          </a:p>
          <a:p xmlns:a="http://schemas.openxmlformats.org/drawingml/2006/main">
            <a:r>
              <a:t/>
            </a:r>
            <a:endParaRPr/>
          </a:p>
          <a:p xmlns:a="http://schemas.openxmlformats.org/drawingml/2006/main">
            <a:r>
              <a:t>这里不是说完全不存在误报，而是说企业在决策时不计入误报造成的经济损害。对照左右两幅图，红框显示错误政策或治理发生变化的区域。有的企业会从应该采用的 N 转向 C，有的企业政策仍是 C，却在应整改时直接替换。推论1量化损失。第一项为(1−b0)(2Δs−Dβ+Dα)，适用于 (Dβ−Dα)/2&lt;Δs&lt;Dβ/2&lt;Δr，或 (Dβ−Dα)/2&lt;Δs&lt;Δr&lt;Dβ/2 且 b0&gt;双横线b。第二项为(1−b0)Dα+(2−b0−e)(Δs−Δr)，适用于 Δs&lt;Δr&lt;min{Δs+Dα/2,Dβ/2} 且：Δs&lt;(Dβ−Dα)/2、b0&lt;单横线b，或 Δs&gt;(Dβ−Dα)/2、b0&lt;双横线b。单横线b=(Dα−(2−e)(Δr−Δs))/(Dα−(Δr−Δs))。这些都是有条件的额外损失表达式，不能在区域外使用。</a:t>
            </a:r>
            <a:endParaRPr/>
          </a:p>
          <a:p xmlns:a="http://schemas.openxmlformats.org/drawingml/2006/main">
            <a:r>
              <a:t/>
            </a:r>
            <a:endParaRPr/>
          </a:p>
          <a:p xmlns:a="http://schemas.openxmlformats.org/drawingml/2006/main">
            <a:r>
              <a:t>来源：§4，p. 9，Corollary 1，Figure 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39 秒。</a:t>
            </a:r>
            <a:endParaRPr/>
          </a:p>
          <a:p xmlns:a="http://schemas.openxmlformats.org/drawingml/2006/main">
            <a:r>
              <a:t/>
            </a:r>
            <a:endParaRPr/>
          </a:p>
          <a:p xmlns:a="http://schemas.openxmlformats.org/drawingml/2006/main">
            <a:r>
              <a:t>推论2给出私人收益的比较静态。预算是上限，所以预算增加不会迫使企业选更差方案，原来的方案仍然可行，最优收益至少不下降。先验合规概率提高一般降低违规暴露，而两类预期损害增加会压低收益。需要注意 e 的变化也会改变 A≥e 的可行性，因此比较应限定在共同有效审计区间，不能拿无法开展有效审计的参数点直接延伸结论。这里的利润还没有直接扣审计支出，因为基准模型把预算作为外生资源。后面的内生预算扩展会改用净利润。</a:t>
            </a:r>
            <a:endParaRPr/>
          </a:p>
          <a:p xmlns:a="http://schemas.openxmlformats.org/drawingml/2006/main">
            <a:r>
              <a:t/>
            </a:r>
            <a:endParaRPr/>
          </a:p>
          <a:p xmlns:a="http://schemas.openxmlformats.org/drawingml/2006/main">
            <a:r>
              <a:t>来源：§4，p. 9，Corollary 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56 秒。</a:t>
            </a:r>
            <a:endParaRPr/>
          </a:p>
          <a:p xmlns:a="http://schemas.openxmlformats.org/drawingml/2006/main">
            <a:r>
              <a:t/>
            </a:r>
            <a:endParaRPr/>
          </a:p>
          <a:p xmlns:a="http://schemas.openxmlformats.org/drawingml/2006/main">
            <a:r>
              <a:t>社会指标 L 是最终产品违规进入市场的概率，不是企业发生声誉损害的概率。因为一对一基准只有一个投入品，违规流入需要真实违规且通过审计，所以 L=(1−e)β。C 消除了 β，因此 L=0。N 消除了 α，但还有漏报，L=1−b0。在这个特殊成本区域，预算低时企业 C 加整改，预算高后企业为了使用便宜替换转向 N。切换后若还未达到完全准确，L 从0变成正数，因此更多预算可能暂时削弱筛查。这并不否定高准确度本身的价值：每个分支内 L 仍下降，问题出在最优政策改变后的跳跃。</a:t>
            </a:r>
            <a:endParaRPr/>
          </a:p>
          <a:p xmlns:a="http://schemas.openxmlformats.org/drawingml/2006/main">
            <a:r>
              <a:t/>
            </a:r>
            <a:endParaRPr/>
          </a:p>
          <a:p xmlns:a="http://schemas.openxmlformats.org/drawingml/2006/main">
            <a:r>
              <a:t>来源：§4，pp. 9–10，Proposition 2</a:t>
            </a:r>
            <a:endParaRPr/>
          </a:p>
          <a:p xmlns:a="http://schemas.openxmlformats.org/drawingml/2006/main">
            <a:r>
              <a:t/>
            </a:r>
            <a:endParaRPr/>
          </a:p>
          <a:p xmlns:a="http://schemas.openxmlformats.org/drawingml/2006/main">
            <a:r>
              <a:t>公式：L^*=(1-e)\beta^*,\qquad L_C^*=0,\qquad L_N^*=1-b_0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52 秒。</a:t>
            </a:r>
            <a:endParaRPr/>
          </a:p>
          <a:p xmlns:a="http://schemas.openxmlformats.org/drawingml/2006/main">
            <a:r>
              <a:t/>
            </a:r>
            <a:endParaRPr/>
          </a:p>
          <a:p xmlns:a="http://schemas.openxmlformats.org/drawingml/2006/main">
            <a:r>
              <a:t>接下来回到两家供应商。买方的期望治理和损害成本可以逐家加总，因此对某家供应商的整改或替换选择只取决于它自己的后验误报风险。这就是命题3与引理1相同的阈值。治理可分解并不表示整个问题独立，因为两家共享一个预算，给一家更多资源会减少另一家的资源。求解方法因此分为两层：内层给定每家可达准确度，选择错误组合及治理动作；外层分配预算，再比较只审一家还是两家。</a:t>
            </a:r>
            <a:endParaRPr/>
          </a:p>
          <a:p xmlns:a="http://schemas.openxmlformats.org/drawingml/2006/main">
            <a:r>
              <a:t/>
            </a:r>
            <a:endParaRPr/>
          </a:p>
          <a:p xmlns:a="http://schemas.openxmlformats.org/drawingml/2006/main">
            <a:r>
              <a:t>来源：§5，pp. 10–11，Proposition 3</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原稿中这一页容易误解成把整个优化问题都变成线性规划。准确地说，引入 b1 和 b2 后，每家的误差满足一条线性等准确度约束，但是总预算仍满足 b1平方加b2平方不超过2B，仍然是二次约束。还要区分准确度 b 和货币预算，给供应商i的金额是 bi平方除以2。两家都审计至少需要 B≥e平方。在有价值且未达到完全准确之前，可以让每家的 A 达到分给它的 b；当两家都 A=1 后预算再多也用不完。所以不能在所有预算范围都无条件说花完全部预算。</a:t>
            </a:r>
            <a:endParaRPr/>
          </a:p>
          <a:p xmlns:a="http://schemas.openxmlformats.org/drawingml/2006/main">
            <a:r>
              <a:t/>
            </a:r>
            <a:endParaRPr/>
          </a:p>
          <a:p xmlns:a="http://schemas.openxmlformats.org/drawingml/2006/main">
            <a:r>
              <a:t>来源：§5.1，p. 11，Eqs. (11)–(15)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命题4的意思是给定 b1、b2 后，把一对一规则分别用在两家上。图3设定两家准确度不同，因此在中等替换成本区，一家可能跨过双横线b阈值而另一家没有，就出现一家 N 加替换、另一家 C 加整改。极低替换成本区却是两家都用 C，只是整改和替换可能不同。精确分区继承命题1：i与ii为稳定治理区域；iii需 Δs&lt;Δr&lt;min{Δs+Dα/2,Dβ/2}，再以 Δs 与 (Dβ−Dα)/2 比较。图中参数按原文为 e=.5、Dβ=5.5、Dα=3、b1=.88、b2=.72。图例保留在下一张原图对照页。</a:t>
            </a:r>
            <a:endParaRPr/>
          </a:p>
          <a:p xmlns:a="http://schemas.openxmlformats.org/drawingml/2006/main">
            <a:r>
              <a:t/>
            </a:r>
            <a:endParaRPr/>
          </a:p>
          <a:p xmlns:a="http://schemas.openxmlformats.org/drawingml/2006/main">
            <a:r>
              <a:t>来源：§5.1，p. 11，Proposition 4；Figure 3(a)</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命题5不是说只要审计政策相同就必然均分。只有当两家处于相同的政策和治理分支、提高准确度的边际收益相同，均分才有对称性的依据。在中等预算下，企业可能让一家审计更准以放心使用便宜替换，另一家仍整改，于是边际价值不同，出现不均分。注意命题5有两种不均分情形：a为 Δs&lt;Δr&lt;Δs+Dα/2 且 Δs&lt;(Dβ−Dα)/2，两家始终采用C，但治理不同；b为 (Dβ−Dα)/2&lt;Δs&lt;Δr&lt;Dβ/2，中等预算下政策也不同。始终均分区是 Δs&gt;Δr，或 Δr&gt;Δs 且 Δr&gt;min{Δs+Dα/2,Dβ/2}。</a:t>
            </a:r>
            <a:endParaRPr/>
          </a:p>
          <a:p xmlns:a="http://schemas.openxmlformats.org/drawingml/2006/main">
            <a:r>
              <a:t/>
            </a:r>
            <a:endParaRPr/>
          </a:p>
          <a:p xmlns:a="http://schemas.openxmlformats.org/drawingml/2006/main">
            <a:r>
              <a:t>来源：§5.1，pp. 11–12，Proposition 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p>
          <a:p xmlns:a="http://schemas.openxmlformats.org/drawingml/2006/main">
            <a:r>
              <a:t/>
            </a:r>
          </a:p>
          <a:p xmlns:a="http://schemas.openxmlformats.org/drawingml/2006/main">
            <a:r>
              <a:t>用边际收益最容易解释为什么完全对称的两家会拿到不同预算。给C加整改更多资源，主要减少误报导致的无谓整改，每单位准确度的价值是 Δr。给C加替换更多资源，还能减少错误替换损害，价值变成 Dα+Δs。N加替换的价值则是减少漏报损害减去发现更多真实违规者需要增加的替换支出，即 Dβ−Δs。固定在两条分支内时，外层是最大化 w1b1+w2b2、满足 b1平方加b2平方等于2B。内部最优点满足 b1/b2=w1/w2。但这个公式不能直接跨分支使用，还要检查 e≤bi≤1、分支阈值及所有候选的总收益。</a:t>
            </a:r>
          </a:p>
          <a:p xmlns:a="http://schemas.openxmlformats.org/drawingml/2006/main">
            <a:r>
              <a:t/>
            </a:r>
          </a:p>
          <a:p xmlns:a="http://schemas.openxmlformats.org/drawingml/2006/main">
            <a:r>
              <a:t>来源：§5.1，pp. 11–12；根据四条损失分支说明</a:t>
            </a:r>
          </a:p>
          <a:p xmlns:a="http://schemas.openxmlformats.org/drawingml/2006/main">
            <a:r>
              <a:t/>
            </a:r>
          </a:p>
          <a:p xmlns:a="http://schemas.openxmlformats.org/drawingml/2006/main">
            <a:r>
              <a:t>公式：\frac{b_1}{b_2}=\frac{w_1}{w_2},\qquad b_i=\sqrt{2B}\frac{w_i}{\sqrt{w_1^2+w_2^2}}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52 秒。</a:t>
            </a:r>
            <a:endParaRPr/>
          </a:p>
          <a:p xmlns:a="http://schemas.openxmlformats.org/drawingml/2006/main">
            <a:r>
              <a:t/>
            </a:r>
            <a:endParaRPr/>
          </a:p>
          <a:p xmlns:a="http://schemas.openxmlformats.org/drawingml/2006/main">
            <a:r>
              <a:t>推论3把给定分配的政策选择与最优分配合在一起。情形b中，低预算均分，两家都用C；中等预算不均分，一家N另一家C；高预算恢复均分，两家都N。情形a的分配同样可以先均分、再不均分、再均分，但两家的错误政策一直是C，因此不能把这两种情形讲成同一条政策路径。右侧保留原文图3中忽略第一类损害的结果，和前一张的 Dα&gt;0 原图比较。由此可以看见非对称结构来自错误替换风险与治理成本的共同作用。</a:t>
            </a:r>
            <a:endParaRPr/>
          </a:p>
          <a:p xmlns:a="http://schemas.openxmlformats.org/drawingml/2006/main">
            <a:r>
              <a:t/>
            </a:r>
            <a:endParaRPr/>
          </a:p>
          <a:p xmlns:a="http://schemas.openxmlformats.org/drawingml/2006/main">
            <a:r>
              <a:t>来源：§5.1，p. 13，Corollary 3；Figure 3(b)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60 秒。</a:t>
            </a:r>
            <a:endParaRPr/>
          </a:p>
          <a:p xmlns:a="http://schemas.openxmlformats.org/drawingml/2006/main">
            <a:r>
              <a:t/>
            </a:r>
            <a:endParaRPr/>
          </a:p>
          <a:p xmlns:a="http://schemas.openxmlformats.org/drawingml/2006/main">
            <a:r>
              <a:t>两投入品的最终产品风险等于至少一家残余违规的概率，所以是1减去两家都没有残余违规的概率乘积。论文使用独立残余风险结构得到这个式子，不能直接拿去处理高度相关的供应商。命题6限定两家都审计。在 (Dβ−Dα)/2&lt;Δs&lt;Δr&lt;Dβ/2 的切换区，低预算两家C、没有违规流入；中间一家N一家C，风险为1−b1；高预算两家N且均分，风险为1−B。每一段内风险弱下降，但 B_U 处向上跳，B_L 若有不连续也向上跳。所以预算比较既要看分支内的精度效果，也要看企业改变政策的效果。</a:t>
            </a:r>
            <a:endParaRPr/>
          </a:p>
          <a:p xmlns:a="http://schemas.openxmlformats.org/drawingml/2006/main">
            <a:r>
              <a:t>高预算 N/N 分支的 L*=1−B 对应 B≤1。两家均完全准确后，即 B≥1，社会风险为0，更多预算不能继续改善准确度。</a:t>
            </a:r>
            <a:endParaRPr/>
          </a:p>
          <a:p xmlns:a="http://schemas.openxmlformats.org/drawingml/2006/main">
            <a:r>
              <a:t/>
            </a:r>
            <a:endParaRPr/>
          </a:p>
          <a:p xmlns:a="http://schemas.openxmlformats.org/drawingml/2006/main">
            <a:r>
              <a:t>来源：§5.1，p. 13，Proposition 6</a:t>
            </a:r>
            <a:endParaRPr/>
          </a:p>
          <a:p xmlns:a="http://schemas.openxmlformats.org/drawingml/2006/main">
            <a:r>
              <a:t/>
            </a:r>
            <a:endParaRPr/>
          </a:p>
          <a:p xmlns:a="http://schemas.openxmlformats.org/drawingml/2006/main">
            <a:r>
              <a:t>公式：L^*=1-[1-(1-e)\beta_1^*][1-(1-e)\beta_2^*]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52 秒。</a:t>
            </a:r>
            <a:endParaRPr/>
          </a:p>
          <a:p xmlns:a="http://schemas.openxmlformats.org/drawingml/2006/main">
            <a:r>
              <a:t/>
            </a:r>
            <a:endParaRPr/>
          </a:p>
          <a:p xmlns:a="http://schemas.openxmlformats.org/drawingml/2006/main">
            <a:r>
              <a:t>只审计一家时，所有可用预算集中给它，其最优错误政策和治理响应仍是一对一的规则。另一家完全没有被审计，因此不治理，每次违规的预期损害都是固定的 (1−e)Dβ。企业比较审一家还是两家时必须计入这笔损失。社会风险也不能只算被审计家：即使用C完全筛掉了该家的违规，未审计家仍以1−e的概率违规，所以整个产品L=1−e。用N时整体风险是1−e b0。这个页是下一页比较审计覆盖的基础。</a:t>
            </a:r>
            <a:endParaRPr/>
          </a:p>
          <a:p xmlns:a="http://schemas.openxmlformats.org/drawingml/2006/main">
            <a:r>
              <a:t/>
            </a:r>
            <a:endParaRPr/>
          </a:p>
          <a:p xmlns:a="http://schemas.openxmlformats.org/drawingml/2006/main">
            <a:r>
              <a:t>来源：§5.2，pp. 13–14，Corollary 4</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73 秒。</a:t>
            </a:r>
            <a:endParaRPr/>
          </a:p>
          <a:p xmlns:a="http://schemas.openxmlformats.org/drawingml/2006/main">
            <a:r>
              <a:t/>
            </a:r>
            <a:endParaRPr/>
          </a:p>
          <a:p xmlns:a="http://schemas.openxmlformats.org/drawingml/2006/main">
            <a:r>
              <a:t>图4纵轴为预算，横轴为先验合规概率。左图是单调情形，右图是可能反转的情形。一个常见直觉是预算多就应该审更多家，但覆盖和准确度存在权衡。在中等预算下，分散给两家可能使两家都不够准，只能承担较贵的整改；集中给一家则可能足够准确，让企业使用便宜替换，即使另一家带来固定损失，总收益仍更高。严格区域是 Δs&lt;Δr&lt;min{Δs+Dα/2,Dβ/2}，存在 B1&lt;B2&lt;B3，e²/2&lt;B&lt;B1及B2&lt;B&lt;B3审一家，B1&lt;B&lt;B2及B&gt;B3审两家。稳定治理区包括 Δs&gt;Δr，或 Δr&gt;Δs 且 Δr&gt;min{Δs+Dα/2,Dβ/2}，范围随预算弱扩大。图4参数：左Dα=.306、Dβ=.72、Δr=.3、Δs=.6；右Dα=2.5、Dβ=3.6、Δr=1.3、Δs=.5。</a:t>
            </a:r>
            <a:endParaRPr/>
          </a:p>
          <a:p xmlns:a="http://schemas.openxmlformats.org/drawingml/2006/main">
            <a:r>
              <a:t/>
            </a:r>
            <a:endParaRPr/>
          </a:p>
          <a:p xmlns:a="http://schemas.openxmlformats.org/drawingml/2006/main">
            <a:r>
              <a:t>来源：§5.2，pp. 14–15，Proposition 7，Figure 4</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52 秒。</a:t>
            </a:r>
            <a:endParaRPr/>
          </a:p>
          <a:p xmlns:a="http://schemas.openxmlformats.org/drawingml/2006/main">
            <a:r>
              <a:t/>
            </a:r>
            <a:endParaRPr/>
          </a:p>
          <a:p xmlns:a="http://schemas.openxmlformats.org/drawingml/2006/main">
            <a:r>
              <a:t>推论5帮助识别反转机制。Dα=0 并不意味着审计从不误报，而是公众不关注或企业不承担错误替换的损害。在这个对照下，中等预算的覆盖收缩消失，因此错误替换的声誉风险是结构变化的关键。另一个容易忽略的结论是预算只是可使用的上限：当合规先验较高，即使预算超过二分之一，企业可能只审一家，达到该家 A=1 后把多余预算留着，接受另一家的固定损失。这与前面“全部预算用于提高准确度”只在未饱和分支中成立是一致的。</a:t>
            </a:r>
            <a:endParaRPr/>
          </a:p>
          <a:p xmlns:a="http://schemas.openxmlformats.org/drawingml/2006/main">
            <a:r>
              <a:t/>
            </a:r>
            <a:endParaRPr/>
          </a:p>
          <a:p xmlns:a="http://schemas.openxmlformats.org/drawingml/2006/main">
            <a:r>
              <a:t>来源：§5.2，p. 15，Corollary 5 及讨论</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endParaRPr/>
          </a:p>
          <a:p xmlns:a="http://schemas.openxmlformats.org/drawingml/2006/main">
            <a:r>
              <a:t/>
            </a:r>
            <a:endParaRPr/>
          </a:p>
          <a:p xmlns:a="http://schemas.openxmlformats.org/drawingml/2006/main">
            <a:r>
              <a:t>扩展的变化是供应商开始主动决定合规概率，也就是责任努力 eS。它先付出 κeS平方除以2 的努力成本，买方观察到这个努力后，再按前面的最优响应选审计与治理。读利润函数时看两条：整改时供应商保留交易利润，但如果未通过审计就承担 δr；替换时只有通过审计才能保留 ΠS，因此保留概率乘交易利润。这里 δr 和前面买方的 Δr 不是同一个成本。原文也没有假设买方在任何情况下都偏爱整改，而是只在两方案无差异时选择整改。供应商会预判这些响应后再做最优努力。</a:t>
            </a:r>
            <a:endParaRPr/>
          </a:p>
          <a:p xmlns:a="http://schemas.openxmlformats.org/drawingml/2006/main">
            <a:r>
              <a:t/>
            </a:r>
            <a:endParaRPr/>
          </a:p>
          <a:p xmlns:a="http://schemas.openxmlformats.org/drawingml/2006/main">
            <a:r>
              <a:t>来源：§6.1，p. 15；一对一拓展</a:t>
            </a:r>
            <a:endParaRPr/>
          </a:p>
          <a:p xmlns:a="http://schemas.openxmlformats.org/drawingml/2006/main">
            <a:r>
              <a:t/>
            </a:r>
            <a:endParaRPr/>
          </a:p>
          <a:p xmlns:a="http://schemas.openxmlformats.org/drawingml/2006/main">
            <a:r>
              <a:t>公式：\pi_S^r=-\frac{\kappa}{2}e_S^2+\Pi_S-[e_S\widehat{\alpha}+(1-e_S)(1-\widehat{\beta})]\delta_r</a:t>
            </a:r>
            <a:endParaRPr/>
          </a:p>
          <a:p xmlns:a="http://schemas.openxmlformats.org/drawingml/2006/main">
            <a:r>
              <a:t/>
            </a:r>
            <a:endParaRPr/>
          </a:p>
          <a:p xmlns:a="http://schemas.openxmlformats.org/drawingml/2006/main">
            <a:r>
              <a:t>公式：\pi_S^s=-\frac{\kappa}{2}e_S^2+[e_S(1-\widehat{\alpha})+(1-e_S)\widehat{\beta}]\Pi_S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64 秒。</a:t>
            </a:r>
            <a:endParaRPr/>
          </a:p>
          <a:p xmlns:a="http://schemas.openxmlformats.org/drawingml/2006/main">
            <a:r>
              <a:t/>
            </a:r>
            <a:endParaRPr/>
          </a:p>
          <a:p xmlns:a="http://schemas.openxmlformats.org/drawingml/2006/main">
            <a:r>
              <a:t>命题8先要求 κ/2&lt;δr&lt;ΠS&lt;κ，并且可达准确度足以支持候选均衡。稳定整改时，供应商权衡努力支出和整改成本，努力为 δr/κ；稳定替换时，为避免丧失更大的交易利润，努力为 ΠS/κ，后者更高。但不能据此把所有均衡概括成两条水平线。当买方响应会随预算或努力变化时，供应商还可能选择临界努力，使买方刚好愿意继续整改或保留交易关系。极低替换成本区错误政策一直C，中等成本区可在C加整改和N加替换间反馈。完整分段、边界和适用条件在附录，现场需要说明的是供应商努力在主动影响买方的后续选择。</a:t>
            </a:r>
            <a:endParaRPr/>
          </a:p>
          <a:p xmlns:a="http://schemas.openxmlformats.org/drawingml/2006/main">
            <a:r>
              <a:t/>
            </a:r>
            <a:endParaRPr/>
          </a:p>
          <a:p xmlns:a="http://schemas.openxmlformats.org/drawingml/2006/main">
            <a:r>
              <a:t>来源：§6.1，pp. 15–16，Proposition 8</a:t>
            </a:r>
            <a:endParaRPr/>
          </a:p>
          <a:p xmlns:a="http://schemas.openxmlformats.org/drawingml/2006/main">
            <a:r>
              <a:t/>
            </a:r>
            <a:endParaRPr/>
          </a:p>
          <a:p xmlns:a="http://schemas.openxmlformats.org/drawingml/2006/main">
            <a:r>
              <a:t>公式：\frac{\kappa}{2}&lt;\delta_r&lt;\Pi_S&lt;\kappa,\qquad b_0\geq\max\{e_S^*,1-e_S^*\}\geq\frac{1}{2}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56 秒。</a:t>
            </a:r>
          </a:p>
          <a:p xmlns:a="http://schemas.openxmlformats.org/drawingml/2006/main">
            <a:r>
              <a:t/>
            </a:r>
          </a:p>
          <a:p xmlns:a="http://schemas.openxmlformats.org/drawingml/2006/main">
            <a:r>
              <a:t>命题9补上预算偏低时的情况。假如供应商按纯策略基准努力到 eS的P，但买方预算只能达到更低的准确度 b0，就达不到有效审计的要求，买方想停止审计。供应商预见停止审计又会降低努力，之后买方又想重新审计，原来的纯策略候选因此难以维持。作者给出一个事前承诺方案：在1/2&lt;b0&lt;eS的P、eS的P属于两个稳定努力候选时，用 q=b0/eS的P 的概率启动审计。这样诱导努力恰好与b0一致，可以支持一个均衡。这里必须强调承诺是在供应商选择努力之前给出，不能把它讲成买方临时随机化就自动达到同样效果，也不是声称这个q唯一最优。</a:t>
            </a:r>
          </a:p>
          <a:p xmlns:a="http://schemas.openxmlformats.org/drawingml/2006/main">
            <a:r>
              <a:t/>
            </a:r>
          </a:p>
          <a:p xmlns:a="http://schemas.openxmlformats.org/drawingml/2006/main">
            <a:r>
              <a:t>来源：§6.1，pp. 16–17，Proposition 9</a:t>
            </a:r>
          </a:p>
          <a:p xmlns:a="http://schemas.openxmlformats.org/drawingml/2006/main">
            <a:r>
              <a:t/>
            </a:r>
          </a:p>
          <a:p xmlns:a="http://schemas.openxmlformats.org/drawingml/2006/main">
            <a:r>
              <a:t>公式：\frac{1}{2}&lt;b_0&lt;e_S^P,\qquad e_S^P\in\{e_S^r,e_S^s\},\qquad q=\frac{b_0}{e_S^P}\in(0,1)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73 秒。</a:t>
            </a:r>
            <a:endParaRPr/>
          </a:p>
          <a:p xmlns:a="http://schemas.openxmlformats.org/drawingml/2006/main">
            <a:r>
              <a:t/>
            </a:r>
            <a:endParaRPr/>
          </a:p>
          <a:p xmlns:a="http://schemas.openxmlformats.org/drawingml/2006/main">
            <a:r>
              <a:t>基准给了预算上限，而这里让企业自己选预算，并在目标函数里扣审计成本。关键关系是B等于c乘A平方除以2。固定一条损失分支时，提高准确度的边际收益是w，边际审计成本为cA，内点条件给出 A=w/c，相应B=w平方除以2c。不同分支的w列在表中。命题10的分区继承前面的成本与治理结构，在中等成本切换区，技术更便宜可能支持更准的审计，使企业转向N加替换；技术较贵可能C加整改。不过w/c只是候选，必须检查有效准确度和分支条件，比较完全准确边界与不审计的净收益，不能超出[0,1]照用。预算随c的结论限定论文相应的审计最优候选区域，完全准确边界另作比较。</a:t>
            </a:r>
            <a:endParaRPr/>
          </a:p>
          <a:p xmlns:a="http://schemas.openxmlformats.org/drawingml/2006/main">
            <a:r>
              <a:t/>
            </a:r>
            <a:endParaRPr/>
          </a:p>
          <a:p xmlns:a="http://schemas.openxmlformats.org/drawingml/2006/main">
            <a:r>
              <a:t>来源：§6.2，p. 17，Eqs. (18)–(21)，Proposition 10</a:t>
            </a:r>
            <a:endParaRPr/>
          </a:p>
          <a:p xmlns:a="http://schemas.openxmlformats.org/drawingml/2006/main">
            <a:r>
              <a:t/>
            </a:r>
            <a:endParaRPr/>
          </a:p>
          <a:p xmlns:a="http://schemas.openxmlformats.org/drawingml/2006/main">
            <a:r>
              <a:t>公式：\max\left\{\pi(x=0),\ \max_B[\pi^*(B)-B]\right\},\qquad B=\frac{c}{2} A^2</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47 秒。</a:t>
            </a:r>
            <a:endParaRPr/>
          </a:p>
          <a:p xmlns:a="http://schemas.openxmlformats.org/drawingml/2006/main">
            <a:r>
              <a:t/>
            </a:r>
            <a:endParaRPr/>
          </a:p>
          <a:p xmlns:a="http://schemas.openxmlformats.org/drawingml/2006/main">
            <a:r>
              <a:t>文章最核心的启示是错误控制与治理不能拆开考虑。企业选择N或C并不只是分类器的问题，还取决于失败后整改和替换的成本。第二，供应商对称不保证预算对称，预算更高也不保证覆盖更多，因为准确度和治理动作可能改变每家资源的价值。第三，企业最大化的是利润，社会筛查指标需要独立评价，不能仅以预算或审计数量作为责任绩效指标。作者提出的未来方向包括共享供应商的竞争买方、多层供应网络和动态决策，后续可研究信息共享与激励外部性如何改变这些结论。</a:t>
            </a:r>
            <a:endParaRPr/>
          </a:p>
          <a:p xmlns:a="http://schemas.openxmlformats.org/drawingml/2006/main">
            <a:r>
              <a:t/>
            </a:r>
            <a:endParaRPr/>
          </a:p>
          <a:p xmlns:a="http://schemas.openxmlformats.org/drawingml/2006/main">
            <a:r>
              <a:t>来源：§7，pp. 17–18</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47 秒。</a:t>
            </a:r>
          </a:p>
          <a:p xmlns:a="http://schemas.openxmlformats.org/drawingml/2006/main">
            <a:r>
              <a:t/>
            </a:r>
          </a:p>
          <a:p xmlns:a="http://schemas.openxmlformats.org/drawingml/2006/main">
            <a:r>
              <a:t>这里区分论文已证明的结论和我们可以提出的讨论。论文假设错误组合沿等准确度线可调，整改或替换成功后完全合规，且风险合并采用独立结构。如果现实可行集合有更严格限制，C或N端点未必能达到；如果整改有失败概率，替换又有中断成本，就要重新写治理收益；若两家共享劳务机构或同一地区冲击，违规风险可能相关，乘积公式不能直接使用。这些不是对论文的否定，而是将机制用于实际场景前需要检验的假设。未来可利用真实复核记录识别错误率与治理成本。</a:t>
            </a:r>
          </a:p>
          <a:p xmlns:a="http://schemas.openxmlformats.org/drawingml/2006/main">
            <a:r>
              <a:t/>
            </a:r>
          </a:p>
          <a:p xmlns:a="http://schemas.openxmlformats.org/drawingml/2006/main">
            <a:r>
              <a:t>来源：§3 模型假设；本页问题为汇报讨论</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本页建议讲解约 15 秒。</a:t>
            </a:r>
            <a:endParaRPr/>
          </a:p>
          <a:p xmlns:a="http://schemas.openxmlformats.org/drawingml/2006/main">
            <a:r>
              <a:t/>
            </a:r>
            <a:endParaRPr/>
          </a:p>
          <a:p xmlns:a="http://schemas.openxmlformats.org/drawingml/2006/main">
            <a:r>
              <a:t>我的汇报到这里结束，谢谢老师和同学。欢迎就误报损害的设定、预算配置机制以及社会效果提出意见。附录保留了完整符号、四条损失函数和扩展模型的分段条件，方便进一步讨论。</a:t>
            </a:r>
            <a:endParaRPr/>
          </a:p>
          <a:p xmlns:a="http://schemas.openxmlformats.org/drawingml/2006/main">
            <a:r>
              <a:t/>
            </a:r>
            <a:endParaRPr/>
          </a:p>
          <a:p xmlns:a="http://schemas.openxmlformats.org/drawingml/2006/main">
            <a:r>
              <a:t>来源：Li &amp; Li (2026), Production and Operations Management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b表示最大可达准确度，对应基准金额b平方除以2，不直接等同于货币预算。o中1为失败、0为通过。</a:t>
            </a:r>
          </a:p>
          <a:p xmlns:a="http://schemas.openxmlformats.org/drawingml/2006/main">
            <a:r>
              <a:t/>
            </a:r>
          </a:p>
          <a:p xmlns:a="http://schemas.openxmlformats.org/drawingml/2006/main">
            <a:r>
              <a:t>来源：§3，pp. 5–6；Appendix EC.4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B是固定外生预算，c为成本系数；基准归一化为1，内生预算拓展恢复。e是基准外生先验合规概率。Π是尚未减治理和损害的最大交易利润。</a:t>
            </a:r>
          </a:p>
          <a:p xmlns:a="http://schemas.openxmlformats.org/drawingml/2006/main">
            <a:r>
              <a:t/>
            </a:r>
          </a:p>
          <a:p xmlns:a="http://schemas.openxmlformats.org/drawingml/2006/main">
            <a:r>
              <a:t>来源：§3，pp. 5–6；Appendix EC.4</a:t>
            </a:r>
          </a:p>
          <a:p xmlns:a="http://schemas.openxmlformats.org/drawingml/2006/main">
            <a:r>
              <a:t/>
            </a:r>
          </a:p>
          <a:p xmlns:a="http://schemas.openxmlformats.org/drawingml/2006/main">
            <a:r>
              <a:t>公式：\sum_i\frac{x_ic}{2}A_i^2\leq B,\qquad x_iA_i\geq x_ie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Dtilde为实际损害，D为暴露概率加权后的预期损害。δ是买方治理阈值，δr是供应商整改成本，Δr是买方整改成本，三者不要混淆。eS取代外生e时形成一对一责任努力拓展。</a:t>
            </a:r>
          </a:p>
          <a:p xmlns:a="http://schemas.openxmlformats.org/drawingml/2006/main">
            <a:r>
              <a:t/>
            </a:r>
          </a:p>
          <a:p xmlns:a="http://schemas.openxmlformats.org/drawingml/2006/main">
            <a:r>
              <a:t>来源：按用户参考稿 Table EC.1 与原文 §3、§6 整理</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N下失败概率b−e、漏报概率1−b，C下失败概率2−e−b、误报概率1−b。把治理成本和误报/漏报损害逐项累加得到四分支。每家最优损失取四项最小值，未审计家则为(1−e)Dβ。不同分支对b的斜率提供外层预算分配的边际价值。</a:t>
            </a:r>
          </a:p>
          <a:p xmlns:a="http://schemas.openxmlformats.org/drawingml/2006/main">
            <a:r>
              <a:t/>
            </a:r>
          </a:p>
          <a:p xmlns:a="http://schemas.openxmlformats.org/drawingml/2006/main">
            <a:r>
              <a:t>来源：由 §3–4 的事件概率整理；与原文目标等价</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左图为命题8的前三部分。在成本极低的切换区，错误政策一直为C，努力可能由erS变为e-bar，再按ΠS的阈值选择边界或esS。前提κ/2&lt;δr&lt;ΠS&lt;κ及有效准确度条件必须与正文一起使用，ΠS阈值按原文的存在性条件使用。</a:t>
            </a:r>
          </a:p>
          <a:p xmlns:a="http://schemas.openxmlformats.org/drawingml/2006/main">
            <a:r>
              <a:t/>
            </a:r>
          </a:p>
          <a:p xmlns:a="http://schemas.openxmlformats.org/drawingml/2006/main">
            <a:r>
              <a:t>来源：Proposition 8(i)–(iii)，pp. 15–16；保留原文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特殊区间中，eS可能取稳定努力、双横线边界努力及边界减微小ε。对应C+整改或N+替换的政策/治理组合。ε足够小，论文通过边界两侧不同策略选择说明努力与审计的反馈。使用该结果时应保持原文的利润阈值和预算阈值，不能概括为严格单调的一条努力曲线。</a:t>
            </a:r>
          </a:p>
          <a:p xmlns:a="http://schemas.openxmlformats.org/drawingml/2006/main">
            <a:r>
              <a:t>边界定义：单横线e=((2−b0)(Δr−Δs)−(1−b0)Dα)/(Δr−Δs)；双横线e=((2−b0)Δr−b0Δs−(1−b0)Dβ)/(Δr−Δs)；波浪线e=(Δr−Δs)/(Dβ−2Δs)。单横线b(e)与双横线b(e)见基准预算阈值，将e作为自变量。利润阈值原文未给闭式，此处保留其符号定义。</a:t>
            </a:r>
          </a:p>
          <a:p xmlns:a="http://schemas.openxmlformats.org/drawingml/2006/main">
            <a:r>
              <a:t/>
            </a:r>
          </a:p>
          <a:p xmlns:a="http://schemas.openxmlformats.org/drawingml/2006/main">
            <a:r>
              <a:t>来源：Proposition 8(iv)，p. 16；按原文公式重排</a:t>
            </a:r>
          </a:p>
          <a:p xmlns:a="http://schemas.openxmlformats.org/drawingml/2006/main">
            <a:r>
              <a:t/>
            </a:r>
          </a:p>
          <a:p xmlns:a="http://schemas.openxmlformats.org/drawingml/2006/main">
            <a:r>
              <a:t>公式：b_0&lt;\overline{\overline{b}}(\widetilde{e}):\qquad e_S^*=e_S^r</a:t>
            </a:r>
          </a:p>
          <a:p xmlns:a="http://schemas.openxmlformats.org/drawingml/2006/main">
            <a:r>
              <a:t/>
            </a:r>
          </a:p>
          <a:p xmlns:a="http://schemas.openxmlformats.org/drawingml/2006/main">
            <a:r>
              <a:t>公式：\overline{\overline{b}}(\widetilde{e})&lt;b_0&lt;\overline{\overline{b}}(e_S^r):\quad e_S^*=e_S^r\ [\overline{\overline{e}}-\varepsilon],\quad \Pi_S&gt;[&lt;]\overline{\overline{\Pi}}_S^1</a:t>
            </a:r>
          </a:p>
          <a:p xmlns:a="http://schemas.openxmlformats.org/drawingml/2006/main">
            <a:r>
              <a:t/>
            </a:r>
          </a:p>
          <a:p xmlns:a="http://schemas.openxmlformats.org/drawingml/2006/main">
            <a:r>
              <a:t>公式：\overline{\overline{b}}(e_S^r)&lt;b_0&lt;\overline{\overline{b}}(e_S^s):\quad e_S^*=\overline{\overline{e}}\ [\overline{\overline{e}}-\varepsilon],\quad \Pi_S&gt;[&lt;]\overline{\overline{\Pi}}_S^2</a:t>
            </a:r>
          </a:p>
          <a:p xmlns:a="http://schemas.openxmlformats.org/drawingml/2006/main">
            <a:r>
              <a:t/>
            </a:r>
          </a:p>
          <a:p xmlns:a="http://schemas.openxmlformats.org/drawingml/2006/main">
            <a:r>
              <a:t>公式：b_0&gt;\overline{\overline{b}}(e_S^s):\quad e_S^*=\overline{\overline{e}}\ [e_S^s],\quad \Pi_S&gt;[&lt;]\overline{\overline{\Pi}}_S^3</a:t>
            </a:r>
          </a:p>
          <a:p xmlns:a="http://schemas.openxmlformats.org/drawingml/2006/main">
            <a:r>
              <a:t/>
            </a:r>
          </a:p>
          <a:p xmlns:a="http://schemas.openxmlformats.org/drawingml/2006/main">
            <a:r>
              <a:t>公式：e_S^*\in\{e_S^r,\overline{\overline{e}}\}:\ C+r;\qquad e_S^*\in\{\overline{\overline{e}}-\varepsilon,e_S^s\}:\ 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命题10(i)(ii)继承稳定治理区域的政策分界；(iii)(iv)通过审计成本系数阈值选择不同分支。结论限定审计最优且候选A位于(e,1]。需比较内点、完全准确边界与不审计，不能将超出可行集合的w/c直接使用。成本关系B=cA平方除以2。</a:t>
            </a:r>
          </a:p>
          <a:p xmlns:a="http://schemas.openxmlformats.org/drawingml/2006/main">
            <a:r>
              <a:t/>
            </a:r>
          </a:p>
          <a:p xmlns:a="http://schemas.openxmlformats.org/drawingml/2006/main">
            <a:r>
              <a:t>来源：Proposition 10，p. 17；保留原文</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命题1区分替换贵、整改贵，以及替换便宜但两种成本都处在切换区。前两区间治理动作锁定，错误政策不随预算变化。第三种区间又分替换成本极低和中等两个子区间：极低时一直C但治理会切换，中等时审计政策和治理同时切换。下一页结合原图解释。</a:t>
            </a:r>
          </a:p>
          <a:p xmlns:a="http://schemas.openxmlformats.org/drawingml/2006/main">
            <a:r>
              <a:t>双横线 b 为错误政策切换阈值。极低替换成本区域始终 C，治理切换使用单横线 b=(Dα−(2−e)(Δr−Δs))/(Dα−(Δr−Δs))。等号处为无差异。</a:t>
            </a:r>
          </a:p>
          <a:p xmlns:a="http://schemas.openxmlformats.org/drawingml/2006/main">
            <a:r>
              <a:t/>
            </a:r>
          </a:p>
          <a:p xmlns:a="http://schemas.openxmlformats.org/drawingml/2006/main">
            <a:r>
              <a:t>来源：§4，pp. 7–9，Proposition 1</a:t>
            </a:r>
          </a:p>
          <a:p xmlns:a="http://schemas.openxmlformats.org/drawingml/2006/main">
            <a:r>
              <a:t/>
            </a:r>
          </a:p>
          <a:p xmlns:a="http://schemas.openxmlformats.org/drawingml/2006/main">
            <a:r>
              <a:t>公式：\overline{\overline{b}}=\frac{D_\beta-(2-e)\Delta_r-e\Delta_s}{D_\beta-\Delta_r-\Delta_s}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讨论备查。</a:t>
            </a:r>
          </a:p>
          <a:p xmlns:a="http://schemas.openxmlformats.org/drawingml/2006/main">
            <a:r>
              <a:t/>
            </a:r>
          </a:p>
          <a:p xmlns:a="http://schemas.openxmlformats.org/drawingml/2006/main">
            <a:r>
              <a:t>两种误差区域分别匹配正文的两条损失式。第一类是错误政策：真实最优选择N，但忽略Dα时选C。第二类是错误治理：C下真实最优整改，忽略Dα时替换。阈值定义见正文预算切换页。区间之外错误决策可能相同，因此不能套公式得负损失。</a:t>
            </a:r>
          </a:p>
          <a:p xmlns:a="http://schemas.openxmlformats.org/drawingml/2006/main">
            <a:r>
              <a:t>损失1=(1−b0)(2Δs−Dβ+Dα)。损失2=(1−b0)Dα+(2−b0−e)(Δs−Δr)。两式均只在对应区域适用。</a:t>
            </a:r>
          </a:p>
          <a:p xmlns:a="http://schemas.openxmlformats.org/drawingml/2006/main">
            <a:r>
              <a:t/>
            </a:r>
          </a:p>
          <a:p xmlns:a="http://schemas.openxmlformats.org/drawingml/2006/main">
            <a:r>
              <a:t>来源：§4，p. 9，Corollary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0006f9d9334d0e"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547cefa4d00409f"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958d1437e8a474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6e4f38c901d84cfe" /><Relationship Type="http://schemas.openxmlformats.org/officeDocument/2006/relationships/image" Target="/ppt/media/image.jpeg" Id="R44496a9dc3634c8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5fa04b6d0424b02" /></Relationships>
</file>

<file path=ppt/slideLayouts/slideLayout1.xml><?xml version="1.0" encoding="utf-8"?>
<p:sldLayout xmlns:p="http://schemas.openxmlformats.org/presentationml/2006/main" type="obj" preserve="1">
  <p:cSld name="Title Slide">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A4E3C624-17E0-488D-8A27-0D38D2C0D770}"/>
              </a:ext>
            </a:extLst>
          </p:cNvPr>
          <p:cNvSpPr>
            <a:spLocks xmlns:a="http://schemas.openxmlformats.org/drawingml/2006/main" noGrp="1"/>
          </p:cNvSpPr>
          <p:nvPr>
            <p:ph type="ctrTitle" idx="0"/>
          </p:nvPr>
        </p:nvSpPr>
        <p:spPr>
          <a:xfrm xmlns:a="http://schemas.openxmlformats.org/drawingml/2006/main">
            <a:off x="4118768" y="673100"/>
            <a:ext cx="3942715" cy="4826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2EACCFD0-8D03-4D39-87B6-0037CFDAEA53}"/>
              </a:ext>
            </a:extLst>
          </p:cNvPr>
          <p:cNvSpPr>
            <a:spLocks xmlns:a="http://schemas.openxmlformats.org/drawingml/2006/main" noGrp="1"/>
          </p:cNvSpPr>
          <p:nvPr>
            <p:ph type="subTitle" idx="4"/>
          </p:nvPr>
        </p:nvSpPr>
        <p:spPr>
          <a:xfrm xmlns:a="http://schemas.openxmlformats.org/drawingml/2006/main">
            <a:off x="1828800" y="3840480"/>
            <a:ext cx="8534400" cy="17145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F783D854-8BAC-4795-9E52-0FC248D2DD80}"/>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670F5911-3D2B-4A26-B87D-F7756EB95831}"/>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DA5BB71F-5826-497E-B78F-8BFD57012350}"/>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E9E37550-72E9-4883-8848-DEEF3A072C81}"/>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785E8C2C-68CC-4CF6-9198-924FC5A29D37}"/>
              </a:ext>
            </a:extLst>
          </p:cNvPr>
          <p:cNvSpPr>
            <a:spLocks xmlns:a="http://schemas.openxmlformats.org/drawingml/2006/main" noGrp="1"/>
          </p:cNvSpPr>
          <p:nvPr>
            <p:ph type="body" idx="1"/>
          </p:nvPr>
        </p:nvSpPr>
        <p:spPr/>
        <p:txBody>
          <a:bodyPr xmlns:a="http://schemas.openxmlformats.org/drawingml/2006/main" lIns="0" tIns="0" rIns="0" bIns="0"/>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A634A129-A013-40C4-A04E-F5F9BF87B337}"/>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EB4BC2CE-1011-4BBC-8844-DC971CCB7CC6}"/>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544D2A74-3A3D-4437-A161-EC916479D4F2}"/>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3.xml><?xml version="1.0" encoding="utf-8"?>
<p:sldLayout xmlns:p="http://schemas.openxmlformats.org/presentationml/2006/main" type="obj" preserve="1">
  <p:cSld name="Two Content">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05A197AA-13AE-497E-9003-956ACE5F071F}"/>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0C51865C-4EBD-4F7C-97AB-AEE0A8CE9A81}"/>
              </a:ext>
            </a:extLst>
          </p:cNvPr>
          <p:cNvSpPr>
            <a:spLocks xmlns:a="http://schemas.openxmlformats.org/drawingml/2006/main" noGrp="1"/>
          </p:cNvSpPr>
          <p:nvPr>
            <p:ph idx="2"/>
          </p:nvPr>
        </p:nvSpPr>
        <p:spPr>
          <a:xfrm xmlns:a="http://schemas.openxmlformats.org/drawingml/2006/main">
            <a:off x="609600" y="1577340"/>
            <a:ext cx="5303520" cy="452628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129D60AB-7A3E-433C-A5ED-A3F4FADF8A3F}"/>
              </a:ext>
            </a:extLst>
          </p:cNvPr>
          <p:cNvSpPr>
            <a:spLocks xmlns:a="http://schemas.openxmlformats.org/drawingml/2006/main" noGrp="1"/>
          </p:cNvSpPr>
          <p:nvPr>
            <p:ph idx="3"/>
          </p:nvPr>
        </p:nvSpPr>
        <p:spPr>
          <a:xfrm xmlns:a="http://schemas.openxmlformats.org/drawingml/2006/main">
            <a:off x="6278880" y="1577340"/>
            <a:ext cx="5303520" cy="452628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a:lvl1pPr>
          </a:lstStyle>
          <a:p xmlns:a="http://schemas.openxmlformats.org/drawingml/2006/main"/>
        </p:txBody>
      </p:sp>
      <p:sp>
        <p:nvSpPr>
          <p:cNvPr id="5" name="Holder 5">
            <a:extLst xmlns:a="http://schemas.openxmlformats.org/drawingml/2006/main">
              <a:ext uri="{FF2B5EF4-FFF2-40B4-BE49-F238E27FC236}">
                <a16:creationId xmlns:a16="http://schemas.microsoft.com/office/drawing/2014/main" id="{61BFC5F7-EAB6-4356-B7D7-C01BBD8BF04D}"/>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6" name="Holder 6">
            <a:extLst xmlns:a="http://schemas.openxmlformats.org/drawingml/2006/main">
              <a:ext uri="{FF2B5EF4-FFF2-40B4-BE49-F238E27FC236}">
                <a16:creationId xmlns:a16="http://schemas.microsoft.com/office/drawing/2014/main" id="{0A5BA664-AD17-4D7C-83E0-757D9769429D}"/>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7" name="Holder 7">
            <a:extLst xmlns:a="http://schemas.openxmlformats.org/drawingml/2006/main">
              <a:ext uri="{FF2B5EF4-FFF2-40B4-BE49-F238E27FC236}">
                <a16:creationId xmlns:a16="http://schemas.microsoft.com/office/drawing/2014/main" id="{956C7641-0781-4E4A-80B8-3C97940BD04D}"/>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4.xml><?xml version="1.0" encoding="utf-8"?>
<p:sldLayout xmlns:p="http://schemas.openxmlformats.org/presentationml/2006/main" showMasterSp="0" type="obj" preserve="1">
  <p:cSld name="Title Only">
    <p:bg>
      <p:bgPr>
        <a:solidFill xmlns:a="http://schemas.openxmlformats.org/drawingml/2006/main">
          <a:schemeClr val="bg1"/>
        </a:solidFill>
      </p:bgPr>
    </p:bg>
    <p:spTree>
      <p:nvGrpSpPr>
        <p:cNvPr id="1" name=""/>
        <p:cNvGrpSpPr/>
        <p:nvPr/>
      </p:nvGrpSpPr>
      <p:grpSpPr>
        <a:xfrm xmlns:a="http://schemas.openxmlformats.org/drawingml/2006/main"/>
      </p:grpSpPr>
      <p:pic>
        <p:nvPicPr>
          <p:cNvPr id="16" name="bg object 16">
            <a:extLst xmlns:a="http://schemas.openxmlformats.org/drawingml/2006/main">
              <a:ext uri="{FF2B5EF4-FFF2-40B4-BE49-F238E27FC236}">
                <a16:creationId xmlns:a16="http://schemas.microsoft.com/office/drawing/2014/main" id="{23D9833A-CB03-4216-A512-7670455BBB9B}"/>
              </a:ext>
            </a:extLst>
          </p:cNvPr>
          <p:cNvPicPr>
            <a:picLocks xmlns:a="http://schemas.openxmlformats.org/drawingml/2006/main" noChangeAspect="1"/>
          </p:cNvPicPr>
          <p:nvPr/>
        </p:nvPicPr>
        <p:blipFill>
          <a:blip xmlns:r="http://schemas.openxmlformats.org/officeDocument/2006/relationships" xmlns:a="http://schemas.openxmlformats.org/drawingml/2006/main" r:embed="R44496a9dc3634c81"/>
          <a:stretch xmlns:a="http://schemas.openxmlformats.org/drawingml/2006/main">
            <a:fillRect l="0" t="0" r="0" b="0"/>
          </a:stretch>
        </p:blipFill>
        <p:spPr>
          <a:xfrm xmlns:a="http://schemas.openxmlformats.org/drawingml/2006/main">
            <a:off x="0" y="0"/>
            <a:ext cx="12191999" cy="6857999"/>
          </a:xfrm>
          <a:prstGeom xmlns:a="http://schemas.openxmlformats.org/drawingml/2006/main" prst="rect">
            <a:avLst/>
          </a:prstGeom>
        </p:spPr>
      </p:pic>
      <p:sp>
        <p:nvSpPr>
          <p:cNvPr id="2" name="Holder 2">
            <a:extLst xmlns:a="http://schemas.openxmlformats.org/drawingml/2006/main">
              <a:ext uri="{FF2B5EF4-FFF2-40B4-BE49-F238E27FC236}">
                <a16:creationId xmlns:a16="http://schemas.microsoft.com/office/drawing/2014/main" id="{3B825EF5-6054-443B-85DC-D694224BD7E6}"/>
              </a:ext>
            </a:extLst>
          </p:cNvPr>
          <p:cNvSpPr>
            <a:spLocks xmlns:a="http://schemas.openxmlformats.org/drawingml/2006/main" noGrp="1"/>
          </p:cNvSpPr>
          <p:nvPr>
            <p:ph type="title" idx="0"/>
          </p:nvPr>
        </p:nvSpPr>
        <p:spPr/>
        <p:txBody>
          <a:bodyPr xmlns:a="http://schemas.openxmlformats.org/drawingml/2006/main" lIns="0" tIns="0" rIns="0" bIns="0"/>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C98AFA2C-8100-46BE-9A88-647F7D485547}"/>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4" name="Holder 4">
            <a:extLst xmlns:a="http://schemas.openxmlformats.org/drawingml/2006/main">
              <a:ext uri="{FF2B5EF4-FFF2-40B4-BE49-F238E27FC236}">
                <a16:creationId xmlns:a16="http://schemas.microsoft.com/office/drawing/2014/main" id="{3BAEF100-75A4-4E5E-A36F-EDFCD92163FC}"/>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5" name="Holder 5">
            <a:extLst xmlns:a="http://schemas.openxmlformats.org/drawingml/2006/main">
              <a:ext uri="{FF2B5EF4-FFF2-40B4-BE49-F238E27FC236}">
                <a16:creationId xmlns:a16="http://schemas.microsoft.com/office/drawing/2014/main" id="{81431868-016C-4C55-8718-0F341897DC88}"/>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Layouts/slideLayout5.xml><?xml version="1.0" encoding="utf-8"?>
<p:sldLayout xmlns:p="http://schemas.openxmlformats.org/presentationml/2006/main" type="obj" preserve="1">
  <p:cSld name="Blank">
    <p:spTree>
      <p:nvGrpSpPr>
        <p:cNvPr id="1" name=""/>
        <p:cNvGrpSpPr/>
        <p:nvPr/>
      </p:nvGrpSpPr>
      <p:grpSpPr>
        <a:xfrm xmlns:a="http://schemas.openxmlformats.org/drawingml/2006/main"/>
      </p:grpSpPr>
      <p:sp>
        <p:nvSpPr>
          <p:cNvPr id="2" name="Holder 2">
            <a:extLst xmlns:a="http://schemas.openxmlformats.org/drawingml/2006/main">
              <a:ext uri="{FF2B5EF4-FFF2-40B4-BE49-F238E27FC236}">
                <a16:creationId xmlns:a16="http://schemas.microsoft.com/office/drawing/2014/main" id="{E166F3F5-B642-415A-8E89-7D3631FD35D4}"/>
              </a:ext>
            </a:extLst>
          </p:cNvPr>
          <p:cNvSpPr>
            <a:spLocks xmlns:a="http://schemas.openxmlformats.org/drawingml/2006/main" noGrp="1"/>
          </p:cNvSpPr>
          <p:nvPr>
            <p:ph type="ftr" idx="5"/>
          </p:nvPr>
        </p:nvSpPr>
        <p:spPr/>
        <p:txBody>
          <a:bodyPr xmlns:a="http://schemas.openxmlformats.org/drawingml/2006/main" lIns="0" tIns="0" rIns="0" bIns="0"/>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3" name="Holder 3">
            <a:extLst xmlns:a="http://schemas.openxmlformats.org/drawingml/2006/main">
              <a:ext uri="{FF2B5EF4-FFF2-40B4-BE49-F238E27FC236}">
                <a16:creationId xmlns:a16="http://schemas.microsoft.com/office/drawing/2014/main" id="{90008683-9611-4A69-B6E9-DDA18D260BCE}"/>
              </a:ext>
            </a:extLst>
          </p:cNvPr>
          <p:cNvSpPr>
            <a:spLocks xmlns:a="http://schemas.openxmlformats.org/drawingml/2006/main" noGrp="1"/>
          </p:cNvSpPr>
          <p:nvPr>
            <p:ph type="dt" idx="6"/>
          </p:nvPr>
        </p:nvSpPr>
        <p:spPr/>
        <p:txBody>
          <a:bodyPr xmlns:a="http://schemas.openxmlformats.org/drawingml/2006/main" lIns="0" tIns="0" rIns="0" bIns="0"/>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4" name="Holder 4">
            <a:extLst xmlns:a="http://schemas.openxmlformats.org/drawingml/2006/main">
              <a:ext uri="{FF2B5EF4-FFF2-40B4-BE49-F238E27FC236}">
                <a16:creationId xmlns:a16="http://schemas.microsoft.com/office/drawing/2014/main" id="{68FF5155-505D-49EB-A2E3-99DBF602C46E}"/>
              </a:ext>
            </a:extLst>
          </p:cNvPr>
          <p:cNvSpPr>
            <a:spLocks xmlns:a="http://schemas.openxmlformats.org/drawingml/2006/main" noGrp="1"/>
          </p:cNvSpPr>
          <p:nvPr>
            <p:ph type="sldNum" idx="7"/>
          </p:nvPr>
        </p:nvSpPr>
        <p:spPr/>
        <p:txBody>
          <a:bodyPr xmlns:a="http://schemas.openxmlformats.org/drawingml/2006/main" lIns="0" tIns="0" rIns="0" bIns="0"/>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image" Target="/ppt/media/image.png" Id="R526bfd62cf7e4eb8" /><Relationship Type="http://schemas.openxmlformats.org/officeDocument/2006/relationships/theme" Target="/ppt/slideMasters/theme/theme2.xml" Id="R5291f150395b499d" /><Relationship Type="http://schemas.openxmlformats.org/officeDocument/2006/relationships/slideLayout" Target="/ppt/slideLayouts/slideLayout1.xml" Id="R7b26eaf5e4d44530" /><Relationship Type="http://schemas.openxmlformats.org/officeDocument/2006/relationships/slideLayout" Target="/ppt/slideLayouts/slideLayout2.xml" Id="Rcb600f93bbd24f58" /><Relationship Type="http://schemas.openxmlformats.org/officeDocument/2006/relationships/slideLayout" Target="/ppt/slideLayouts/slideLayout3.xml" Id="R5fe6b41935b84243" /><Relationship Type="http://schemas.openxmlformats.org/officeDocument/2006/relationships/slideLayout" Target="/ppt/slideLayouts/slideLayout4.xml" Id="Rdf958b4d999b42cb" /><Relationship Type="http://schemas.openxmlformats.org/officeDocument/2006/relationships/slideLayout" Target="/ppt/slideLayouts/slideLayout5.xml" Id="R591eff8dcf224e47" /></Relationships>
</file>

<file path=ppt/slideMasters/slideMaster1.xml><?xml version="1.0" encoding="utf-8"?>
<p:sldMaster xmlns:p="http://schemas.openxmlformats.org/presentationml/2006/main">
  <p:cSld>
    <p:bg>
      <p:bgPr>
        <a:solidFill xmlns:a="http://schemas.openxmlformats.org/drawingml/2006/main">
          <a:schemeClr val="bg1"/>
        </a:solidFill>
      </p:bgPr>
    </p:bg>
    <p:spTree>
      <p:nvGrpSpPr>
        <p:cNvPr id="1" name=""/>
        <p:cNvGrpSpPr/>
        <p:nvPr/>
      </p:nvGrpSpPr>
      <p:grpSpPr>
        <a:xfrm xmlns:a="http://schemas.openxmlformats.org/drawingml/2006/main"/>
      </p:grpSpPr>
      <p:pic>
        <p:nvPicPr>
          <p:cNvPr id="16" name="bg object 16">
            <a:extLst xmlns:a="http://schemas.openxmlformats.org/drawingml/2006/main">
              <a:ext uri="{FF2B5EF4-FFF2-40B4-BE49-F238E27FC236}">
                <a16:creationId xmlns:a16="http://schemas.microsoft.com/office/drawing/2014/main" id="{347FFCF2-7434-40D1-BA4E-22F0972F6406}"/>
              </a:ext>
            </a:extLst>
          </p:cNvPr>
          <p:cNvPicPr>
            <a:picLocks xmlns:a="http://schemas.openxmlformats.org/drawingml/2006/main" noChangeAspect="1"/>
          </p:cNvPicPr>
          <p:nvPr/>
        </p:nvPicPr>
        <p:blipFill>
          <a:blip xmlns:r="http://schemas.openxmlformats.org/officeDocument/2006/relationships" xmlns:a="http://schemas.openxmlformats.org/drawingml/2006/main" r:embed="R526bfd62cf7e4eb8"/>
          <a:stretch xmlns:a="http://schemas.openxmlformats.org/drawingml/2006/main">
            <a:fillRect l="0" t="0" r="0" b="0"/>
          </a:stretch>
        </p:blipFill>
        <p:spPr>
          <a:xfrm xmlns:a="http://schemas.openxmlformats.org/drawingml/2006/main">
            <a:off x="0" y="0"/>
            <a:ext cx="12191999" cy="6857999"/>
          </a:xfrm>
          <a:prstGeom xmlns:a="http://schemas.openxmlformats.org/drawingml/2006/main" prst="rect">
            <a:avLst/>
          </a:prstGeom>
        </p:spPr>
      </p:pic>
      <p:sp>
        <p:nvSpPr>
          <p:cNvPr id="2" name="Holder 2">
            <a:extLst xmlns:a="http://schemas.openxmlformats.org/drawingml/2006/main">
              <a:ext uri="{FF2B5EF4-FFF2-40B4-BE49-F238E27FC236}">
                <a16:creationId xmlns:a16="http://schemas.microsoft.com/office/drawing/2014/main" id="{39316F96-AE26-468B-AF8D-02D712A8E482}"/>
              </a:ext>
            </a:extLst>
          </p:cNvPr>
          <p:cNvSpPr>
            <a:spLocks xmlns:a="http://schemas.openxmlformats.org/drawingml/2006/main" noGrp="1"/>
          </p:cNvSpPr>
          <p:nvPr>
            <p:ph type="title" idx="0"/>
          </p:nvPr>
        </p:nvSpPr>
        <p:spPr>
          <a:xfrm xmlns:a="http://schemas.openxmlformats.org/drawingml/2006/main">
            <a:off x="3922315" y="673100"/>
            <a:ext cx="4335780" cy="4826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3000" b="1" i="0">
                <a:solidFill>
                  <a:schemeClr val="tx1"/>
                </a:solidFill>
                <a:latin typeface="微软雅黑"/>
                <a:ea typeface="微软雅黑"/>
                <a:cs typeface="微软雅黑"/>
              </a:defRPr>
            </a:lvl1pPr>
          </a:lstStyle>
          <a:p xmlns:a="http://schemas.openxmlformats.org/drawingml/2006/main"/>
        </p:txBody>
      </p:sp>
      <p:sp>
        <p:nvSpPr>
          <p:cNvPr id="3" name="Holder 3">
            <a:extLst xmlns:a="http://schemas.openxmlformats.org/drawingml/2006/main">
              <a:ext uri="{FF2B5EF4-FFF2-40B4-BE49-F238E27FC236}">
                <a16:creationId xmlns:a16="http://schemas.microsoft.com/office/drawing/2014/main" id="{D2C3473E-609A-43B0-A06B-3667457A93A2}"/>
              </a:ext>
            </a:extLst>
          </p:cNvPr>
          <p:cNvSpPr>
            <a:spLocks xmlns:a="http://schemas.openxmlformats.org/drawingml/2006/main" noGrp="1"/>
          </p:cNvSpPr>
          <p:nvPr>
            <p:ph type="body" idx="1"/>
          </p:nvPr>
        </p:nvSpPr>
        <p:spPr>
          <a:xfrm xmlns:a="http://schemas.openxmlformats.org/drawingml/2006/main">
            <a:off x="654049" y="2044700"/>
            <a:ext cx="10765155" cy="156845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250" b="1" i="0">
                <a:solidFill>
                  <a:schemeClr val="tx1"/>
                </a:solidFill>
                <a:latin typeface="微软雅黑"/>
                <a:ea typeface="微软雅黑"/>
                <a:cs typeface="微软雅黑"/>
              </a:defRPr>
            </a:lvl1pPr>
          </a:lstStyle>
          <a:p xmlns:a="http://schemas.openxmlformats.org/drawingml/2006/main"/>
        </p:txBody>
      </p:sp>
      <p:sp>
        <p:nvSpPr>
          <p:cNvPr id="4" name="Holder 4">
            <a:extLst xmlns:a="http://schemas.openxmlformats.org/drawingml/2006/main">
              <a:ext uri="{FF2B5EF4-FFF2-40B4-BE49-F238E27FC236}">
                <a16:creationId xmlns:a16="http://schemas.microsoft.com/office/drawing/2014/main" id="{1B30ECA0-BF1C-413B-9EB6-4CCE9CAD7044}"/>
              </a:ext>
            </a:extLst>
          </p:cNvPr>
          <p:cNvSpPr>
            <a:spLocks xmlns:a="http://schemas.openxmlformats.org/drawingml/2006/main" noGrp="1"/>
          </p:cNvSpPr>
          <p:nvPr>
            <p:ph type="ftr" idx="5"/>
          </p:nvPr>
        </p:nvSpPr>
        <p:spPr>
          <a:xfrm xmlns:a="http://schemas.openxmlformats.org/drawingml/2006/main">
            <a:off x="225425" y="6386555"/>
            <a:ext cx="2299335" cy="276859"/>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1500" b="0" i="0">
                <a:solidFill>
                  <a:schemeClr val="tx1"/>
                </a:solidFill>
                <a:latin typeface="Tahoma"/>
                <a:ea typeface="Tahoma"/>
                <a:cs typeface="Tahoma"/>
              </a:defRPr>
            </a:lvl1pPr>
          </a:lstStyle>
          <a:p xmlns:a="http://schemas.openxmlformats.org/drawingml/2006/main">
            <a:pPr marL="12700">
              <a:lnSpc>
                <a:spcPct val="100000"/>
              </a:lnSpc>
              <a:spcBef>
                <a:spcPts val="185"/>
              </a:spcBef>
              <a:buNone/>
            </a:pPr>
            <a:r>
              <a:rPr spc="65">
                <a:latin typeface="微软雅黑"/>
                <a:ea typeface="微软雅黑"/>
                <a:cs typeface="微软雅黑"/>
              </a:rPr>
              <a:t>南京审计大学 </a:t>
            </a:r>
            <a:r>
              <a:rPr spc="95"/>
              <a:t>2024/4/22</a:t>
            </a:r>
            <a:endParaRPr spc="95"/>
          </a:p>
        </p:txBody>
      </p:sp>
      <p:sp>
        <p:nvSpPr>
          <p:cNvPr id="5" name="Holder 5">
            <a:extLst xmlns:a="http://schemas.openxmlformats.org/drawingml/2006/main">
              <a:ext uri="{FF2B5EF4-FFF2-40B4-BE49-F238E27FC236}">
                <a16:creationId xmlns:a16="http://schemas.microsoft.com/office/drawing/2014/main" id="{A3D4845E-2675-4FA3-98E0-CAD55B060E31}"/>
              </a:ext>
            </a:extLst>
          </p:cNvPr>
          <p:cNvSpPr>
            <a:spLocks xmlns:a="http://schemas.openxmlformats.org/drawingml/2006/main" noGrp="1"/>
          </p:cNvSpPr>
          <p:nvPr>
            <p:ph type="dt" idx="6"/>
          </p:nvPr>
        </p:nvSpPr>
        <p:spPr>
          <a:xfrm xmlns:a="http://schemas.openxmlformats.org/drawingml/2006/main">
            <a:off x="609600" y="6377940"/>
            <a:ext cx="2804160" cy="34290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lgn="l">
              <a:buNone/>
              <a:defRPr>
                <a:solidFill>
                  <a:schemeClr val="tx1">
                    <a:tint val="75000"/>
                  </a:schemeClr>
                </a:solidFill>
              </a:defRPr>
            </a:lvl1pPr>
          </a:lstStyle>
          <a:p xmlns:a="http://schemas.openxmlformats.org/drawingml/2006/main">
            <a:endParaRPr/>
          </a:p>
        </p:txBody>
      </p:sp>
      <p:sp>
        <p:nvSpPr>
          <p:cNvPr id="6" name="Holder 6">
            <a:extLst xmlns:a="http://schemas.openxmlformats.org/drawingml/2006/main">
              <a:ext uri="{FF2B5EF4-FFF2-40B4-BE49-F238E27FC236}">
                <a16:creationId xmlns:a16="http://schemas.microsoft.com/office/drawing/2014/main" id="{C4D35C95-5C61-4C48-A856-D0E78ED621F5}"/>
              </a:ext>
            </a:extLst>
          </p:cNvPr>
          <p:cNvSpPr>
            <a:spLocks xmlns:a="http://schemas.openxmlformats.org/drawingml/2006/main" noGrp="1"/>
          </p:cNvSpPr>
          <p:nvPr>
            <p:ph type="sldNum" idx="7"/>
          </p:nvPr>
        </p:nvSpPr>
        <p:spPr>
          <a:xfrm xmlns:a="http://schemas.openxmlformats.org/drawingml/2006/main">
            <a:off x="11607948" y="6353466"/>
            <a:ext cx="384978" cy="345440"/>
          </a:xfrm>
          <a:prstGeom xmlns:a="http://schemas.openxmlformats.org/drawingml/2006/main" prst="rect">
            <a:avLst/>
          </a:prstGeom>
        </p:spPr>
        <p:txBody>
          <a:bodyPr xmlns:a="http://schemas.openxmlformats.org/drawingml/2006/main" wrap="square" lIns="0" tIns="0" rIns="0" bIns="0">
            <a:spAutoFit/>
          </a:bodyPr>
          <a:lstStyle xmlns:a="http://schemas.openxmlformats.org/drawingml/2006/main">
            <a:lvl1pPr>
              <a:buNone/>
              <a:defRPr sz="2100" b="0" i="0">
                <a:solidFill>
                  <a:srgbClr val="455964"/>
                </a:solidFill>
                <a:latin typeface="Tahoma"/>
                <a:ea typeface="Tahoma"/>
                <a:cs typeface="Tahoma"/>
              </a:defRPr>
            </a:lvl1pPr>
          </a:lstStyle>
          <a:p xmlns:a="http://schemas.openxmlformats.org/drawingml/2006/main">
            <a:pPr marL="179070">
              <a:lnSpc>
                <a:spcPct val="100000"/>
              </a:lnSpc>
              <a:spcBef>
                <a:spcPts val="70"/>
              </a:spcBef>
              <a:buNone/>
            </a:pPr>
            <a:endParaRPr spc="5">
              <a:solidFill>
                <a:srgbClr val="FFF7E1"/>
              </a:solidFill>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b26eaf5e4d44530"/>
    <p:sldLayoutId xmlns:r="http://schemas.openxmlformats.org/officeDocument/2006/relationships" id="2147483650" r:id="Rcb600f93bbd24f58"/>
    <p:sldLayoutId xmlns:r="http://schemas.openxmlformats.org/officeDocument/2006/relationships" id="2147483651" r:id="R5fe6b41935b84243"/>
    <p:sldLayoutId xmlns:r="http://schemas.openxmlformats.org/officeDocument/2006/relationships" id="2147483652" r:id="Rdf958b4d999b42cb"/>
    <p:sldLayoutId xmlns:r="http://schemas.openxmlformats.org/officeDocument/2006/relationships" id="2147483653" r:id="R591eff8dcf224e47"/>
  </p:sldLayoutIdLst>
  <p:txStyles>
    <p:titleStyle>
      <a:lvl1pPr xmlns:a="http://schemas.openxmlformats.org/drawingml/2006/main">
        <a:buNone/>
        <a:defRPr>
          <a:latin typeface="+mj-lt"/>
          <a:ea typeface="+mj-lt"/>
          <a:cs typeface="+mj-lt"/>
        </a:defRPr>
      </a:lvl1pPr>
    </p:titleStyle>
    <p:bodyStyle>
      <a:lvl1pPr xmlns:a="http://schemas.openxmlformats.org/drawingml/2006/main" marL="0">
        <a:buNone/>
        <a:defRPr>
          <a:latin typeface="+mn-lt"/>
          <a:ea typeface="+mn-lt"/>
          <a:cs typeface="+mn-lt"/>
        </a:defRPr>
      </a:lvl1pPr>
      <a:lvl2pPr xmlns:a="http://schemas.openxmlformats.org/drawingml/2006/main" marL="457200">
        <a:buNone/>
        <a:defRPr>
          <a:latin typeface="+mn-lt"/>
          <a:ea typeface="+mn-lt"/>
          <a:cs typeface="+mn-lt"/>
        </a:defRPr>
      </a:lvl2pPr>
      <a:lvl3pPr xmlns:a="http://schemas.openxmlformats.org/drawingml/2006/main" marL="914400">
        <a:buNone/>
        <a:defRPr>
          <a:latin typeface="+mn-lt"/>
          <a:ea typeface="+mn-lt"/>
          <a:cs typeface="+mn-lt"/>
        </a:defRPr>
      </a:lvl3pPr>
      <a:lvl4pPr xmlns:a="http://schemas.openxmlformats.org/drawingml/2006/main" marL="1371600">
        <a:buNone/>
        <a:defRPr>
          <a:latin typeface="+mn-lt"/>
          <a:ea typeface="+mn-lt"/>
          <a:cs typeface="+mn-lt"/>
        </a:defRPr>
      </a:lvl4pPr>
      <a:lvl5pPr xmlns:a="http://schemas.openxmlformats.org/drawingml/2006/main" marL="1828800">
        <a:buNone/>
        <a:defRPr>
          <a:latin typeface="+mn-lt"/>
          <a:ea typeface="+mn-lt"/>
          <a:cs typeface="+mn-lt"/>
        </a:defRPr>
      </a:lvl5pPr>
      <a:lvl6pPr xmlns:a="http://schemas.openxmlformats.org/drawingml/2006/main" marL="2286000">
        <a:buNone/>
        <a:defRPr>
          <a:latin typeface="+mn-lt"/>
          <a:ea typeface="+mn-lt"/>
          <a:cs typeface="+mn-lt"/>
        </a:defRPr>
      </a:lvl6pPr>
      <a:lvl7pPr xmlns:a="http://schemas.openxmlformats.org/drawingml/2006/main" marL="2743200">
        <a:buNone/>
        <a:defRPr>
          <a:latin typeface="+mn-lt"/>
          <a:ea typeface="+mn-lt"/>
          <a:cs typeface="+mn-lt"/>
        </a:defRPr>
      </a:lvl7pPr>
      <a:lvl8pPr xmlns:a="http://schemas.openxmlformats.org/drawingml/2006/main" marL="3200400">
        <a:buNone/>
        <a:defRPr>
          <a:latin typeface="+mn-lt"/>
          <a:ea typeface="+mn-lt"/>
          <a:cs typeface="+mn-lt"/>
        </a:defRPr>
      </a:lvl8pPr>
      <a:lvl9pPr xmlns:a="http://schemas.openxmlformats.org/drawingml/2006/main" marL="3657600">
        <a:buNone/>
        <a:defRPr>
          <a:latin typeface="+mn-lt"/>
          <a:ea typeface="+mn-lt"/>
          <a:cs typeface="+mn-lt"/>
        </a:defRPr>
      </a:lvl9pPr>
    </p:bodyStyle>
    <p:otherStyle>
      <a:lvl1pPr xmlns:a="http://schemas.openxmlformats.org/drawingml/2006/main" marL="0">
        <a:buNone/>
        <a:defRPr>
          <a:latin typeface="+mn-lt"/>
          <a:ea typeface="+mn-lt"/>
          <a:cs typeface="+mn-lt"/>
        </a:defRPr>
      </a:lvl1pPr>
      <a:lvl2pPr xmlns:a="http://schemas.openxmlformats.org/drawingml/2006/main" marL="457200">
        <a:buNone/>
        <a:defRPr>
          <a:latin typeface="+mn-lt"/>
          <a:ea typeface="+mn-lt"/>
          <a:cs typeface="+mn-lt"/>
        </a:defRPr>
      </a:lvl2pPr>
      <a:lvl3pPr xmlns:a="http://schemas.openxmlformats.org/drawingml/2006/main" marL="914400">
        <a:buNone/>
        <a:defRPr>
          <a:latin typeface="+mn-lt"/>
          <a:ea typeface="+mn-lt"/>
          <a:cs typeface="+mn-lt"/>
        </a:defRPr>
      </a:lvl3pPr>
      <a:lvl4pPr xmlns:a="http://schemas.openxmlformats.org/drawingml/2006/main" marL="1371600">
        <a:buNone/>
        <a:defRPr>
          <a:latin typeface="+mn-lt"/>
          <a:ea typeface="+mn-lt"/>
          <a:cs typeface="+mn-lt"/>
        </a:defRPr>
      </a:lvl4pPr>
      <a:lvl5pPr xmlns:a="http://schemas.openxmlformats.org/drawingml/2006/main" marL="1828800">
        <a:buNone/>
        <a:defRPr>
          <a:latin typeface="+mn-lt"/>
          <a:ea typeface="+mn-lt"/>
          <a:cs typeface="+mn-lt"/>
        </a:defRPr>
      </a:lvl5pPr>
      <a:lvl6pPr xmlns:a="http://schemas.openxmlformats.org/drawingml/2006/main" marL="2286000">
        <a:buNone/>
        <a:defRPr>
          <a:latin typeface="+mn-lt"/>
          <a:ea typeface="+mn-lt"/>
          <a:cs typeface="+mn-lt"/>
        </a:defRPr>
      </a:lvl6pPr>
      <a:lvl7pPr xmlns:a="http://schemas.openxmlformats.org/drawingml/2006/main" marL="2743200">
        <a:buNone/>
        <a:defRPr>
          <a:latin typeface="+mn-lt"/>
          <a:ea typeface="+mn-lt"/>
          <a:cs typeface="+mn-lt"/>
        </a:defRPr>
      </a:lvl7pPr>
      <a:lvl8pPr xmlns:a="http://schemas.openxmlformats.org/drawingml/2006/main" marL="3200400">
        <a:buNone/>
        <a:defRPr>
          <a:latin typeface="+mn-lt"/>
          <a:ea typeface="+mn-lt"/>
          <a:cs typeface="+mn-lt"/>
        </a:defRPr>
      </a:lvl8pPr>
      <a:lvl9pPr xmlns:a="http://schemas.openxmlformats.org/drawingml/2006/main" marL="3657600">
        <a:buNone/>
        <a:defRPr>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aa5a2807863e47a6" /><Relationship Type="http://schemas.openxmlformats.org/officeDocument/2006/relationships/image" Target="/ppt/media/image2.png" Id="Re12b3b8b89c7428f" /><Relationship Type="http://schemas.openxmlformats.org/officeDocument/2006/relationships/notesSlide" Target="/ppt/notesSlides/notesSlide1.xml" Id="Rb159f19f250144e4"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46adaccb82d345e1" /><Relationship Type="http://schemas.openxmlformats.org/officeDocument/2006/relationships/image" Target="/ppt/media/image3.png" Id="R8df9a5d6710a4dc7" /><Relationship Type="http://schemas.openxmlformats.org/officeDocument/2006/relationships/notesSlide" Target="/ppt/notesSlides/notesSlide2.xml" Id="R6754012aed0f489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05fd308c94084b1b" /><Relationship Type="http://schemas.openxmlformats.org/officeDocument/2006/relationships/notesSlide" Target="/ppt/notesSlides/notesSlide3.xml" Id="R311e38e619a14614"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a7aabbd5a9e847f9" /><Relationship Type="http://schemas.openxmlformats.org/officeDocument/2006/relationships/notesSlide" Target="/ppt/notesSlides/notesSlide4.xml" Id="R6f65cc3c016b4a50"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b2f2c1bdad064bff" /><Relationship Type="http://schemas.openxmlformats.org/officeDocument/2006/relationships/notesSlide" Target="/ppt/notesSlides/notesSlide5.xml" Id="Re8753a6b782141c2"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1c83f4bc7b05497e" /><Relationship Type="http://schemas.openxmlformats.org/officeDocument/2006/relationships/notesSlide" Target="/ppt/notesSlides/notesSlide6.xml" Id="R719b57aafa604801"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04d188527221405a" /><Relationship Type="http://schemas.openxmlformats.org/officeDocument/2006/relationships/image" Target="/ppt/media/image4.png" Id="Rf882fe179abc4072" /><Relationship Type="http://schemas.openxmlformats.org/officeDocument/2006/relationships/notesSlide" Target="/ppt/notesSlides/notesSlide7.xml" Id="R21d614ccbb254c71" /></Relationships>
</file>

<file path=ppt/slides/_rels/slide8.xml.rels>&#65279;<?xml version="1.0" encoding="utf-8"?><Relationships xmlns="http://schemas.openxmlformats.org/package/2006/relationships"><Relationship Type="http://schemas.openxmlformats.org/officeDocument/2006/relationships/slideLayout" Target="/ppt/slideLayouts/slideLayout5.xml" Id="R7498ab1cdac84a24" /><Relationship Type="http://schemas.openxmlformats.org/officeDocument/2006/relationships/notesSlide" Target="/ppt/notesSlides/notesSlide8.xml" Id="R0d38277dd9a246e7" /></Relationships>
</file>

<file path=ppt/slides/_rels/slide9.xml.rels>&#65279;<?xml version="1.0" encoding="utf-8"?><Relationships xmlns="http://schemas.openxmlformats.org/package/2006/relationships"><Relationship Type="http://schemas.openxmlformats.org/officeDocument/2006/relationships/slideLayout" Target="/ppt/slideLayouts/slideLayout5.xml" Id="R3b866628b5b340a6" /><Relationship Type="http://schemas.openxmlformats.org/officeDocument/2006/relationships/image" Target="/ppt/media/image5.png" Id="R9efb030eb1ed4e6d" /><Relationship Type="http://schemas.openxmlformats.org/officeDocument/2006/relationships/notesSlide" Target="/ppt/notesSlides/notesSlide9.xml" Id="R7d24218aed4a4ce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f45264b7d97842f7" /><Relationship Type="http://schemas.openxmlformats.org/officeDocument/2006/relationships/image" Target="/ppt/media/image6.png" Id="R8f5093a318e042ab" /><Relationship Type="http://schemas.openxmlformats.org/officeDocument/2006/relationships/notesSlide" Target="/ppt/notesSlides/notesSlide10.xml" Id="R7bf9a39943c942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ea04d2120aea480f" /><Relationship Type="http://schemas.openxmlformats.org/officeDocument/2006/relationships/image" Target="/ppt/media/image7.png" Id="Rc3af649f49e54ece" /><Relationship Type="http://schemas.openxmlformats.org/officeDocument/2006/relationships/image" Target="/ppt/media/image8.png" Id="R0a8dbd3f6bf54ead" /><Relationship Type="http://schemas.openxmlformats.org/officeDocument/2006/relationships/notesSlide" Target="/ppt/notesSlides/notesSlide11.xml" Id="R0ada4db1f5f54b7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4ca8ea00d56d4571" /><Relationship Type="http://schemas.openxmlformats.org/officeDocument/2006/relationships/image" Target="/ppt/media/image9.png" Id="R2b42bbc06be4479e" /><Relationship Type="http://schemas.openxmlformats.org/officeDocument/2006/relationships/image" Target="/ppt/media/image10.png" Id="Rdef53c2561c44368" /><Relationship Type="http://schemas.openxmlformats.org/officeDocument/2006/relationships/notesSlide" Target="/ppt/notesSlides/notesSlide12.xml" Id="R1b723778b8ee43e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5.xml" Id="R5a95439af1a14aa3" /><Relationship Type="http://schemas.openxmlformats.org/officeDocument/2006/relationships/image" Target="/ppt/media/image11.png" Id="R93ef15ce4dd0488f" /><Relationship Type="http://schemas.openxmlformats.org/officeDocument/2006/relationships/notesSlide" Target="/ppt/notesSlides/notesSlide13.xml" Id="Ree628b57ba774ba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2.xml" Id="Rd0307ff67c0141f7" /><Relationship Type="http://schemas.openxmlformats.org/officeDocument/2006/relationships/image" Target="/ppt/media/image12.png" Id="R6c60f652bcc24778" /><Relationship Type="http://schemas.openxmlformats.org/officeDocument/2006/relationships/notesSlide" Target="/ppt/notesSlides/notesSlide14.xml" Id="R4cc1d69c217f47fb" /></Relationships>
</file>

<file path=ppt/slides/_rels/slide15.xml.rels>&#65279;<?xml version="1.0" encoding="utf-8"?><Relationships xmlns="http://schemas.openxmlformats.org/package/2006/relationships"><Relationship Type="http://schemas.openxmlformats.org/officeDocument/2006/relationships/slideLayout" Target="/ppt/slideLayouts/slideLayout2.xml" Id="Rf34a8267a00f4881" /><Relationship Type="http://schemas.openxmlformats.org/officeDocument/2006/relationships/image" Target="/ppt/media/image13.png" Id="R2fc1ce0d22714aed" /><Relationship Type="http://schemas.openxmlformats.org/officeDocument/2006/relationships/notesSlide" Target="/ppt/notesSlides/notesSlide15.xml" Id="Rc1c25bd4004c405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1fbca895aae94e34" /><Relationship Type="http://schemas.openxmlformats.org/officeDocument/2006/relationships/image" Target="/ppt/media/image14.png" Id="Refb7aa7683114a99" /><Relationship Type="http://schemas.openxmlformats.org/officeDocument/2006/relationships/notesSlide" Target="/ppt/notesSlides/notesSlide16.xml" Id="Re96ac7c6f20c4da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2.xml" Id="Ra228687a7d3c4435" /><Relationship Type="http://schemas.openxmlformats.org/officeDocument/2006/relationships/image" Target="/ppt/media/image15.png" Id="Rfab7325791c149da" /><Relationship Type="http://schemas.openxmlformats.org/officeDocument/2006/relationships/image" Target="/ppt/media/image16.png" Id="Ra337462390ed4000" /><Relationship Type="http://schemas.openxmlformats.org/officeDocument/2006/relationships/notesSlide" Target="/ppt/notesSlides/notesSlide17.xml" Id="R3695d7f4e5424ef8" /></Relationships>
</file>

<file path=ppt/slides/_rels/slide18.xml.rels>&#65279;<?xml version="1.0" encoding="utf-8"?><Relationships xmlns="http://schemas.openxmlformats.org/package/2006/relationships"><Relationship Type="http://schemas.openxmlformats.org/officeDocument/2006/relationships/slideLayout" Target="/ppt/slideLayouts/slideLayout2.xml" Id="R8cd55c1bcd244b9d" /><Relationship Type="http://schemas.openxmlformats.org/officeDocument/2006/relationships/image" Target="/ppt/media/image17.png" Id="Rab506b8556524a7e" /><Relationship Type="http://schemas.openxmlformats.org/officeDocument/2006/relationships/image" Target="/ppt/media/image18.png" Id="R41ff148682134372" /><Relationship Type="http://schemas.openxmlformats.org/officeDocument/2006/relationships/notesSlide" Target="/ppt/notesSlides/notesSlide18.xml" Id="Rd8c57a3ee1dc445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2.xml" Id="Raea5afa2046a470a" /><Relationship Type="http://schemas.openxmlformats.org/officeDocument/2006/relationships/image" Target="/ppt/media/image19.png" Id="Rd915c5b32c6b4181" /><Relationship Type="http://schemas.openxmlformats.org/officeDocument/2006/relationships/image" Target="/ppt/media/image20.png" Id="Ra4f8fd42b2304efb" /><Relationship Type="http://schemas.openxmlformats.org/officeDocument/2006/relationships/notesSlide" Target="/ppt/notesSlides/notesSlide19.xml" Id="R21174811764844d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b46dbdba3b7d46f0" /><Relationship Type="http://schemas.openxmlformats.org/officeDocument/2006/relationships/image" Target="/ppt/media/image21.png" Id="Re9b65f72faf54455" /><Relationship Type="http://schemas.openxmlformats.org/officeDocument/2006/relationships/notesSlide" Target="/ppt/notesSlides/notesSlide20.xml" Id="R30d5861c7fd5454f" /></Relationships>
</file>

<file path=ppt/slides/_rels/slide21.xml.rels>&#65279;<?xml version="1.0" encoding="utf-8"?><Relationships xmlns="http://schemas.openxmlformats.org/package/2006/relationships"><Relationship Type="http://schemas.openxmlformats.org/officeDocument/2006/relationships/slideLayout" Target="/ppt/slideLayouts/slideLayout2.xml" Id="Rcd757590ee0248e7" /><Relationship Type="http://schemas.openxmlformats.org/officeDocument/2006/relationships/image" Target="/ppt/media/image22.png" Id="Re9e60822faa2409f" /><Relationship Type="http://schemas.openxmlformats.org/officeDocument/2006/relationships/notesSlide" Target="/ppt/notesSlides/notesSlide21.xml" Id="Ra2b5cc156edf453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5.xml" Id="Rfe59d9d0c7804966" /><Relationship Type="http://schemas.openxmlformats.org/officeDocument/2006/relationships/image" Target="/ppt/media/image23.png" Id="Rff4cfba11755433b" /><Relationship Type="http://schemas.openxmlformats.org/officeDocument/2006/relationships/notesSlide" Target="/ppt/notesSlides/notesSlide22.xml" Id="R4181a8df8c6b4760" /></Relationships>
</file>

<file path=ppt/slides/_rels/slide23.xml.rels>&#65279;<?xml version="1.0" encoding="utf-8"?><Relationships xmlns="http://schemas.openxmlformats.org/package/2006/relationships"><Relationship Type="http://schemas.openxmlformats.org/officeDocument/2006/relationships/slideLayout" Target="/ppt/slideLayouts/slideLayout2.xml" Id="Rb527a7333fcc494e" /><Relationship Type="http://schemas.openxmlformats.org/officeDocument/2006/relationships/image" Target="/ppt/media/image24.png" Id="R55e78237c1a64db5" /><Relationship Type="http://schemas.openxmlformats.org/officeDocument/2006/relationships/image" Target="/ppt/media/image25.png" Id="R416cd52c0b4c4e0e" /><Relationship Type="http://schemas.openxmlformats.org/officeDocument/2006/relationships/notesSlide" Target="/ppt/notesSlides/notesSlide23.xml" Id="Rfda0d965243d4ece" /></Relationships>
</file>

<file path=ppt/slides/_rels/slide24.xml.rels>&#65279;<?xml version="1.0" encoding="utf-8"?><Relationships xmlns="http://schemas.openxmlformats.org/package/2006/relationships"><Relationship Type="http://schemas.openxmlformats.org/officeDocument/2006/relationships/slideLayout" Target="/ppt/slideLayouts/slideLayout2.xml" Id="Rd51b99f5d4a146c3" /><Relationship Type="http://schemas.openxmlformats.org/officeDocument/2006/relationships/image" Target="/ppt/media/image26.png" Id="Rc8597947d0c14511" /><Relationship Type="http://schemas.openxmlformats.org/officeDocument/2006/relationships/image" Target="/ppt/media/image27.png" Id="Re0802b5463574ecd" /><Relationship Type="http://schemas.openxmlformats.org/officeDocument/2006/relationships/notesSlide" Target="/ppt/notesSlides/notesSlide24.xml" Id="R85b082b6a602451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2.xml" Id="R9d8cb2928e3c45f6" /><Relationship Type="http://schemas.openxmlformats.org/officeDocument/2006/relationships/image" Target="/ppt/media/image28.png" Id="Rf89ebb1515b44e71" /><Relationship Type="http://schemas.openxmlformats.org/officeDocument/2006/relationships/notesSlide" Target="/ppt/notesSlides/notesSlide25.xml" Id="Rc3da5287054446d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e08701a7fcd049cf" /><Relationship Type="http://schemas.openxmlformats.org/officeDocument/2006/relationships/image" Target="/ppt/media/image29.png" Id="Rb33ff71798064d03" /><Relationship Type="http://schemas.openxmlformats.org/officeDocument/2006/relationships/notesSlide" Target="/ppt/notesSlides/notesSlide26.xml" Id="Re372e1dd64ce4ef9" /></Relationships>
</file>

<file path=ppt/slides/_rels/slide27.xml.rels>&#65279;<?xml version="1.0" encoding="utf-8"?><Relationships xmlns="http://schemas.openxmlformats.org/package/2006/relationships"><Relationship Type="http://schemas.openxmlformats.org/officeDocument/2006/relationships/slideLayout" Target="/ppt/slideLayouts/slideLayout2.xml" Id="R4a82d14ba0594feb" /><Relationship Type="http://schemas.openxmlformats.org/officeDocument/2006/relationships/image" Target="/ppt/media/image30.png" Id="R6491e0677b8145ac" /><Relationship Type="http://schemas.openxmlformats.org/officeDocument/2006/relationships/notesSlide" Target="/ppt/notesSlides/notesSlide27.xml" Id="Rf2dd04e3dcc340a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2.xml" Id="R0865ac73e87846a8" /><Relationship Type="http://schemas.openxmlformats.org/officeDocument/2006/relationships/image" Target="/ppt/media/image31.png" Id="R34ddf786c83d4fdb" /><Relationship Type="http://schemas.openxmlformats.org/officeDocument/2006/relationships/image" Target="/ppt/media/image32.png" Id="R3a9fcc5e89f440d8" /><Relationship Type="http://schemas.openxmlformats.org/officeDocument/2006/relationships/notesSlide" Target="/ppt/notesSlides/notesSlide28.xml" Id="Rcbcadd249aa04f2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2.xml" Id="Ra1e5ed7ffb394927" /><Relationship Type="http://schemas.openxmlformats.org/officeDocument/2006/relationships/image" Target="/ppt/media/image33.png" Id="R103fa34d2b314346" /><Relationship Type="http://schemas.openxmlformats.org/officeDocument/2006/relationships/notesSlide" Target="/ppt/notesSlides/notesSlide29.xml" Id="R88239c90260b4dc2" /></Relationships>
</file>

<file path=ppt/slides/_rels/slide30.xml.rels>&#65279;<?xml version="1.0" encoding="utf-8"?><Relationships xmlns="http://schemas.openxmlformats.org/package/2006/relationships"><Relationship Type="http://schemas.openxmlformats.org/officeDocument/2006/relationships/slideLayout" Target="/ppt/slideLayouts/slideLayout5.xml" Id="Re89093813ee64625" /><Relationship Type="http://schemas.openxmlformats.org/officeDocument/2006/relationships/image" Target="/ppt/media/image34.png" Id="Red478a76a0524553" /><Relationship Type="http://schemas.openxmlformats.org/officeDocument/2006/relationships/notesSlide" Target="/ppt/notesSlides/notesSlide30.xml" Id="Raa54d172f28e4e3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2.xml" Id="R9a50834ed74041ac" /><Relationship Type="http://schemas.openxmlformats.org/officeDocument/2006/relationships/image" Target="/ppt/media/image35.png" Id="Rd3b417f54c9346fa" /><Relationship Type="http://schemas.openxmlformats.org/officeDocument/2006/relationships/image" Target="/ppt/media/image36.png" Id="R1f490ab68f2f4d2d" /><Relationship Type="http://schemas.openxmlformats.org/officeDocument/2006/relationships/notesSlide" Target="/ppt/notesSlides/notesSlide31.xml" Id="R640fb8effb834f76" /></Relationships>
</file>

<file path=ppt/slides/_rels/slide32.xml.rels>&#65279;<?xml version="1.0" encoding="utf-8"?><Relationships xmlns="http://schemas.openxmlformats.org/package/2006/relationships"><Relationship Type="http://schemas.openxmlformats.org/officeDocument/2006/relationships/slideLayout" Target="/ppt/slideLayouts/slideLayout2.xml" Id="R2e69e5051e33414c" /><Relationship Type="http://schemas.openxmlformats.org/officeDocument/2006/relationships/notesSlide" Target="/ppt/notesSlides/notesSlide32.xml" Id="Rbd0b1eb532ba4f32" /></Relationships>
</file>

<file path=ppt/slides/_rels/slide33.xml.rels>&#65279;<?xml version="1.0" encoding="utf-8"?><Relationships xmlns="http://schemas.openxmlformats.org/package/2006/relationships"><Relationship Type="http://schemas.openxmlformats.org/officeDocument/2006/relationships/slideLayout" Target="/ppt/slideLayouts/slideLayout5.xml" Id="Rb10f3956396c4f81" /><Relationship Type="http://schemas.openxmlformats.org/officeDocument/2006/relationships/notesSlide" Target="/ppt/notesSlides/notesSlide33.xml" Id="Rb3e57a6f87c449c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4.xml" Id="R71f3c5d6097148ac" /><Relationship Type="http://schemas.openxmlformats.org/officeDocument/2006/relationships/notesSlide" Target="/ppt/notesSlides/notesSlide34.xml" Id="R70339225d7534f4a" /></Relationships>
</file>

<file path=ppt/slides/_rels/slide35.xml.rels>&#65279;<?xml version="1.0" encoding="utf-8"?><Relationships xmlns="http://schemas.openxmlformats.org/package/2006/relationships"><Relationship Type="http://schemas.openxmlformats.org/officeDocument/2006/relationships/slideLayout" Target="/ppt/slideLayouts/slideLayout5.xml" Id="R4fec354b27184ea9" /><Relationship Type="http://schemas.openxmlformats.org/officeDocument/2006/relationships/notesSlide" Target="/ppt/notesSlides/notesSlide35.xml" Id="R587a52c5e7d74a9b" /></Relationships>
</file>

<file path=ppt/slides/_rels/slide36.xml.rels>&#65279;<?xml version="1.0" encoding="utf-8"?><Relationships xmlns="http://schemas.openxmlformats.org/package/2006/relationships"><Relationship Type="http://schemas.openxmlformats.org/officeDocument/2006/relationships/slideLayout" Target="/ppt/slideLayouts/slideLayout5.xml" Id="R4bbe63f2d8944c45" /><Relationship Type="http://schemas.openxmlformats.org/officeDocument/2006/relationships/image" Target="/ppt/media/image37.png" Id="R188688ae3164404e" /><Relationship Type="http://schemas.openxmlformats.org/officeDocument/2006/relationships/notesSlide" Target="/ppt/notesSlides/notesSlide36.xml" Id="R6f1049e9899047c6" /></Relationships>
</file>

<file path=ppt/slides/_rels/slide37.xml.rels>&#65279;<?xml version="1.0" encoding="utf-8"?><Relationships xmlns="http://schemas.openxmlformats.org/package/2006/relationships"><Relationship Type="http://schemas.openxmlformats.org/officeDocument/2006/relationships/slideLayout" Target="/ppt/slideLayouts/slideLayout5.xml" Id="R7c775cb265ff4c7d" /><Relationship Type="http://schemas.openxmlformats.org/officeDocument/2006/relationships/notesSlide" Target="/ppt/notesSlides/notesSlide37.xml" Id="R1b1666fd10584aa4" /></Relationships>
</file>

<file path=ppt/slides/_rels/slide38.xml.rels>&#65279;<?xml version="1.0" encoding="utf-8"?><Relationships xmlns="http://schemas.openxmlformats.org/package/2006/relationships"><Relationship Type="http://schemas.openxmlformats.org/officeDocument/2006/relationships/slideLayout" Target="/ppt/slideLayouts/slideLayout5.xml" Id="R2b3dbcb569844da6" /><Relationship Type="http://schemas.openxmlformats.org/officeDocument/2006/relationships/notesSlide" Target="/ppt/notesSlides/notesSlide38.xml" Id="R25af8b90b58a48f3" /></Relationships>
</file>

<file path=ppt/slides/_rels/slide39.xml.rels>&#65279;<?xml version="1.0" encoding="utf-8"?><Relationships xmlns="http://schemas.openxmlformats.org/package/2006/relationships"><Relationship Type="http://schemas.openxmlformats.org/officeDocument/2006/relationships/slideLayout" Target="/ppt/slideLayouts/slideLayout5.xml" Id="R0c1b21d78a044f59" /><Relationship Type="http://schemas.openxmlformats.org/officeDocument/2006/relationships/image" Target="/ppt/media/image38.png" Id="Rf7e1f55b5c1a44a1" /><Relationship Type="http://schemas.openxmlformats.org/officeDocument/2006/relationships/notesSlide" Target="/ppt/notesSlides/notesSlide39.xml" Id="R3d7af8b7f1f94651" /></Relationships>
</file>

<file path=ppt/slides/_rels/slide40.xml.rels>&#65279;<?xml version="1.0" encoding="utf-8"?><Relationships xmlns="http://schemas.openxmlformats.org/package/2006/relationships"><Relationship Type="http://schemas.openxmlformats.org/officeDocument/2006/relationships/slideLayout" Target="/ppt/slideLayouts/slideLayout5.xml" Id="R3b59bf13940e4ba2" /><Relationship Type="http://schemas.openxmlformats.org/officeDocument/2006/relationships/image" Target="/ppt/media/image39.png" Id="Rc08fa84444464461" /><Relationship Type="http://schemas.openxmlformats.org/officeDocument/2006/relationships/image" Target="/ppt/media/image40.png" Id="R3d9b6d64bb634f57" /><Relationship Type="http://schemas.openxmlformats.org/officeDocument/2006/relationships/image" Target="/ppt/media/image41.png" Id="Rf5760902fa2e4a1f" /><Relationship Type="http://schemas.openxmlformats.org/officeDocument/2006/relationships/image" Target="/ppt/media/image42.png" Id="R1f93c4df86fd4837" /><Relationship Type="http://schemas.openxmlformats.org/officeDocument/2006/relationships/image" Target="/ppt/media/image43.png" Id="R5adae839eada4b39" /><Relationship Type="http://schemas.openxmlformats.org/officeDocument/2006/relationships/notesSlide" Target="/ppt/notesSlides/notesSlide40.xml" Id="R0f4df9836e3e40ac" /></Relationships>
</file>

<file path=ppt/slides/_rels/slide41.xml.rels>&#65279;<?xml version="1.0" encoding="utf-8"?><Relationships xmlns="http://schemas.openxmlformats.org/package/2006/relationships"><Relationship Type="http://schemas.openxmlformats.org/officeDocument/2006/relationships/slideLayout" Target="/ppt/slideLayouts/slideLayout5.xml" Id="R7c11ce4a392a4bcb" /><Relationship Type="http://schemas.openxmlformats.org/officeDocument/2006/relationships/image" Target="/ppt/media/image44.png" Id="R4c1ed8c6386f4215" /><Relationship Type="http://schemas.openxmlformats.org/officeDocument/2006/relationships/notesSlide" Target="/ppt/notesSlides/notesSlide41.xml" Id="R9b662fb3c60f4f79" /></Relationships>
</file>

<file path=ppt/slides/_rels/slide42.xml.rels>&#65279;<?xml version="1.0" encoding="utf-8"?><Relationships xmlns="http://schemas.openxmlformats.org/package/2006/relationships"><Relationship Type="http://schemas.openxmlformats.org/officeDocument/2006/relationships/slideLayout" Target="/ppt/slideLayouts/slideLayout5.xml" Id="Raea1435804a54c4c" /><Relationship Type="http://schemas.openxmlformats.org/officeDocument/2006/relationships/image" Target="/ppt/media/image45.png" Id="R9108e3bf17a64b34" /><Relationship Type="http://schemas.openxmlformats.org/officeDocument/2006/relationships/notesSlide" Target="/ppt/notesSlides/notesSlide42.xml" Id="R1793d4686f694c7f" /></Relationships>
</file>

<file path=ppt/slides/_rels/slide43.xml.rels>&#65279;<?xml version="1.0" encoding="utf-8"?><Relationships xmlns="http://schemas.openxmlformats.org/package/2006/relationships"><Relationship Type="http://schemas.openxmlformats.org/officeDocument/2006/relationships/slideLayout" Target="/ppt/slideLayouts/slideLayout5.xml" Id="Rfeeb01d6de334268" /><Relationship Type="http://schemas.openxmlformats.org/officeDocument/2006/relationships/image" Target="/ppt/media/image46.png" Id="Rd2f2dd0f53c44656" /><Relationship Type="http://schemas.openxmlformats.org/officeDocument/2006/relationships/notesSlide" Target="/ppt/notesSlides/notesSlide43.xml" Id="Ra63828485f404162"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4" name="object 4">
            <a:extLst xmlns:a="http://schemas.openxmlformats.org/drawingml/2006/main">
              <a:ext uri="{FF2B5EF4-FFF2-40B4-BE49-F238E27FC236}">
                <a16:creationId xmlns:a16="http://schemas.microsoft.com/office/drawing/2014/main" id="{3826A874-8D60-4206-9123-8BB9C0D4F6C4}"/>
              </a:ext>
            </a:extLst>
          </p:cNvPr>
          <p:cNvSpPr>
            <a:spLocks xmlns:a="http://schemas.openxmlformats.org/drawingml/2006/main" noGrp="1"/>
          </p:cNvSpPr>
          <p:nvPr/>
        </p:nvSpPr>
        <p:spPr>
          <a:xfrm xmlns:a="http://schemas.openxmlformats.org/drawingml/2006/main">
            <a:off x="3238500" y="5772150"/>
            <a:ext cx="5715000" cy="774548"/>
          </a:xfrm>
          <a:prstGeom xmlns:a="http://schemas.openxmlformats.org/drawingml/2006/main" prst="rect">
            <a:avLst/>
          </a:prstGeom>
        </p:spPr>
        <p:txBody>
          <a:bodyPr xmlns:a="http://schemas.openxmlformats.org/drawingml/2006/main" vert="horz" wrap="square" lIns="9525" tIns="9525" rIns="9525" bIns="9525" anchor="t">
            <a:noAutofit/>
          </a:bodyPr>
          <a:lstStyle xmlns:a="http://schemas.openxmlformats.org/drawingml/2006/main">
            <a:defPPr algn="ctr">
              <a:defRPr sz="2025" b="0">
                <a:solidFill>
                  <a:srgbClr val="111111"/>
                </a:solidFill>
                <a:latin typeface="Noto Sans CJK SC"/>
                <a:ea typeface="Noto Sans CJK SC"/>
                <a:cs typeface="Noto Sans CJK SC"/>
              </a:defRPr>
            </a:defPPr>
          </a:lstStyle>
          <a:p xmlns:a="http://schemas.openxmlformats.org/drawingml/2006/main">
            <a:pPr algn="ctr">
              <a:lnSpc>
                <a:spcPct val="108000"/>
              </a:lnSpc>
              <a:spcBef>
                <a:spcPts val="475"/>
              </a:spcBef>
              <a:buNone/>
              <a:defRPr sz="2025" b="0">
                <a:solidFill>
                  <a:srgbClr val="111111"/>
                </a:solidFill>
                <a:latin typeface="Noto Sans CJK SC"/>
                <a:ea typeface="Noto Sans CJK SC"/>
                <a:cs typeface="Noto Sans CJK SC"/>
              </a:defRPr>
            </a:pPr>
            <a:r>
              <a:rPr sz="2025" b="0" spc="90">
                <a:solidFill>
                  <a:srgbClr val="111111"/>
                </a:solidFill>
                <a:latin typeface="Noto Sans CJK SC"/>
                <a:ea typeface="Noto Sans CJK SC"/>
                <a:cs typeface="Noto Sans CJK SC"/>
              </a:rPr>
              <a:t>汇报人：税虹艳</a:t>
            </a:r>
            <a:endParaRPr sz="2250">
              <a:latin typeface="微软雅黑"/>
              <a:ea typeface="微软雅黑"/>
              <a:cs typeface="微软雅黑"/>
            </a:endParaRPr>
          </a:p>
          <a:p xmlns:a="http://schemas.openxmlformats.org/drawingml/2006/main">
            <a:pPr algn="ctr">
              <a:lnSpc>
                <a:spcPct val="108000"/>
              </a:lnSpc>
              <a:spcBef>
                <a:spcPts val="375"/>
              </a:spcBef>
              <a:buNone/>
              <a:defRPr sz="2025" b="0">
                <a:solidFill>
                  <a:srgbClr val="111111"/>
                </a:solidFill>
                <a:latin typeface="Noto Sans CJK SC"/>
                <a:ea typeface="Noto Sans CJK SC"/>
                <a:cs typeface="Noto Sans CJK SC"/>
              </a:defRPr>
            </a:pPr>
            <a:r>
              <a:rPr sz="2025" b="0" spc="90">
                <a:solidFill>
                  <a:srgbClr val="111111"/>
                </a:solidFill>
                <a:latin typeface="Noto Sans CJK SC"/>
                <a:ea typeface="Noto Sans CJK SC"/>
                <a:cs typeface="Noto Sans CJK SC"/>
              </a:rPr>
              <a:t>汇报时间：2026 年 10 月</a:t>
            </a:r>
            <a:endParaRPr sz="2250" spc="114">
              <a:latin typeface="微软雅黑"/>
              <a:ea typeface="微软雅黑"/>
              <a:cs typeface="微软雅黑"/>
            </a:endParaRPr>
          </a:p>
        </p:txBody>
      </p:sp>
      <p:sp>
        <p:nvSpPr>
          <p:cNvPr id="3" name="文本框 2">
            <a:extLst xmlns:a="http://schemas.openxmlformats.org/drawingml/2006/main">
              <a:ext uri="{FF2B5EF4-FFF2-40B4-BE49-F238E27FC236}">
                <a16:creationId xmlns:a16="http://schemas.microsoft.com/office/drawing/2014/main" id="{67854C53-F3AE-47D3-9D14-394290D19D65}"/>
              </a:ext>
            </a:extLst>
          </p:cNvPr>
          <p:cNvSpPr>
            <a:spLocks xmlns:a="http://schemas.openxmlformats.org/drawingml/2006/main" noGrp="1"/>
          </p:cNvSpPr>
          <p:nvPr/>
        </p:nvSpPr>
        <p:spPr>
          <a:xfrm xmlns:a="http://schemas.openxmlformats.org/drawingml/2006/main">
            <a:off x="685800" y="2209800"/>
            <a:ext cx="11026775" cy="2950845"/>
          </a:xfrm>
          <a:prstGeom xmlns:a="http://schemas.openxmlformats.org/drawingml/2006/main" prst="rect">
            <a:avLst/>
          </a:prstGeom>
          <a:noFill xmlns:a="http://schemas.openxmlformats.org/drawingml/2006/main"/>
        </p:spPr>
        <p:txBody>
          <a:bodyPr xmlns:a="http://schemas.openxmlformats.org/drawingml/2006/main" wrap="square" anchor="ctr">
            <a:noAutofit/>
          </a:bodyPr>
          <a:lstStyle xmlns:a="http://schemas.openxmlformats.org/drawingml/2006/main">
            <a:defPPr algn="ctr">
              <a:defRPr sz="3000">
                <a:solidFill>
                  <a:srgbClr val="111111"/>
                </a:solidFill>
                <a:latin typeface="Noto Sans CJK SC"/>
                <a:ea typeface="Noto Sans CJK SC"/>
                <a:cs typeface="Noto Sans CJK SC"/>
              </a:defRPr>
            </a:defPPr>
          </a:lstStyle>
          <a:p xmlns:a="http://schemas.openxmlformats.org/drawingml/2006/main">
            <a:pPr marL="0" indent="0" algn="ctr">
              <a:lnSpc>
                <a:spcPct val="114000"/>
              </a:lnSpc>
              <a:buNone/>
              <a:defRPr sz="3000">
                <a:solidFill>
                  <a:srgbClr val="111111"/>
                </a:solidFill>
                <a:latin typeface="Noto Sans CJK SC"/>
                <a:ea typeface="Noto Sans CJK SC"/>
                <a:cs typeface="Noto Sans CJK SC"/>
              </a:defRPr>
            </a:pPr>
            <a:r>
              <a:rPr sz="3000" b="0" i="0" u="none" strike="noStrike" cap="none" spc="75" baseline="0">
                <a:solidFill>
                  <a:srgbClr val="111111"/>
                </a:solidFill>
                <a:latin typeface="Noto Sans CJK SC"/>
                <a:ea typeface="Noto Sans CJK SC"/>
                <a:cs typeface="Noto Sans CJK SC"/>
              </a:rPr>
              <a:t>Catch-All or No-False-Alarm? Managing Socially</a:t>
            </a:r>
            <a:endParaRPr sz="3200" b="0" i="0" u="none" strike="noStrike" kern="0" cap="none" spc="75" baseline="0">
              <a:latin typeface="微软雅黑"/>
              <a:ea typeface="微软雅黑"/>
              <a:cs typeface="微软雅黑"/>
            </a:endParaRPr>
          </a:p>
          <a:p xmlns:a="http://schemas.openxmlformats.org/drawingml/2006/main">
            <a:pPr marL="0" indent="0" algn="ctr">
              <a:lnSpc>
                <a:spcPct val="114000"/>
              </a:lnSpc>
              <a:buNone/>
              <a:defRPr sz="3000">
                <a:solidFill>
                  <a:srgbClr val="111111"/>
                </a:solidFill>
                <a:latin typeface="Noto Sans CJK SC"/>
                <a:ea typeface="Noto Sans CJK SC"/>
                <a:cs typeface="Noto Sans CJK SC"/>
              </a:defRPr>
            </a:pPr>
            <a:r>
              <a:rPr sz="3000" b="0" i="0" u="none" strike="noStrike" cap="none" spc="75" baseline="0">
                <a:solidFill>
                  <a:srgbClr val="111111"/>
                </a:solidFill>
                <a:latin typeface="Noto Sans CJK SC"/>
                <a:ea typeface="Noto Sans CJK SC"/>
                <a:cs typeface="Noto Sans CJK SC"/>
              </a:rPr>
              <a:t>Responsible Supply Chains with Imperfect Audits</a:t>
            </a:r>
            <a:endParaRPr sz="3200" b="0" i="0" u="none" strike="noStrike" kern="0" cap="none" spc="75" baseline="0">
              <a:latin typeface="微软雅黑"/>
              <a:ea typeface="微软雅黑"/>
              <a:cs typeface="微软雅黑"/>
            </a:endParaRPr>
          </a:p>
          <a:p xmlns:a="http://schemas.openxmlformats.org/drawingml/2006/main">
            <a:pPr marL="0" indent="0" algn="ctr">
              <a:lnSpc>
                <a:spcPct val="114000"/>
              </a:lnSpc>
              <a:buNone/>
              <a:defRPr sz="3000">
                <a:solidFill>
                  <a:srgbClr val="111111"/>
                </a:solidFill>
                <a:latin typeface="Noto Sans CJK SC"/>
                <a:ea typeface="Noto Sans CJK SC"/>
                <a:cs typeface="Noto Sans CJK SC"/>
              </a:defRPr>
            </a:pPr>
            <a:r>
              <a:rPr sz="3000" b="0" i="0" u="none" strike="noStrike" cap="none" spc="75" baseline="0">
                <a:solidFill>
                  <a:srgbClr val="111111"/>
                </a:solidFill>
                <a:latin typeface="Noto Sans CJK SC"/>
                <a:ea typeface="Noto Sans CJK SC"/>
                <a:cs typeface="Noto Sans CJK SC"/>
              </a:rPr>
              <a:t>一网打尽还是杜绝误报？</a:t>
            </a:r>
            <a:endParaRPr sz="3200" b="0" i="0" u="none" strike="noStrike" kern="0" cap="none" spc="75" baseline="0">
              <a:latin typeface="微软雅黑"/>
              <a:ea typeface="微软雅黑"/>
              <a:cs typeface="微软雅黑"/>
            </a:endParaRPr>
          </a:p>
          <a:p xmlns:a="http://schemas.openxmlformats.org/drawingml/2006/main">
            <a:pPr marL="0" indent="0" algn="ctr">
              <a:lnSpc>
                <a:spcPct val="114000"/>
              </a:lnSpc>
              <a:buNone/>
              <a:defRPr sz="3000">
                <a:solidFill>
                  <a:srgbClr val="111111"/>
                </a:solidFill>
                <a:latin typeface="Noto Sans CJK SC"/>
                <a:ea typeface="Noto Sans CJK SC"/>
                <a:cs typeface="Noto Sans CJK SC"/>
              </a:defRPr>
            </a:pPr>
            <a:r>
              <a:rPr sz="3000" b="0" i="0" u="none" strike="noStrike" cap="none" spc="75" baseline="0">
                <a:solidFill>
                  <a:srgbClr val="111111"/>
                </a:solidFill>
                <a:latin typeface="Noto Sans CJK SC"/>
                <a:ea typeface="Noto Sans CJK SC"/>
                <a:cs typeface="Noto Sans CJK SC"/>
              </a:rPr>
              <a:t>在审计不完美的情况下管理社会责任供应链</a:t>
            </a:r>
            <a:endParaRPr sz="3200" b="0" i="0" u="none" strike="noStrike" kern="0" cap="none" spc="75" baseline="0">
              <a:latin typeface="微软雅黑"/>
              <a:ea typeface="微软雅黑"/>
              <a:cs typeface="微软雅黑"/>
            </a:endParaRPr>
          </a:p>
        </p:txBody>
      </p:sp>
      <p:pic>
        <p:nvPicPr>
          <p:cNvPr id="5" name="图片 4">
            <a:extLst xmlns:a="http://schemas.openxmlformats.org/drawingml/2006/main">
              <a:ext uri="{FF2B5EF4-FFF2-40B4-BE49-F238E27FC236}">
                <a16:creationId xmlns:a16="http://schemas.microsoft.com/office/drawing/2014/main" id="{451DC977-643F-41EE-B2A4-322BBAC0D1CA}"/>
              </a:ext>
            </a:extLst>
          </p:cNvPr>
          <p:cNvPicPr>
            <a:picLocks xmlns:a="http://schemas.openxmlformats.org/drawingml/2006/main" noChangeAspect="1"/>
          </p:cNvPicPr>
          <p:nvPr/>
        </p:nvPicPr>
        <p:blipFill>
          <a:blip xmlns:r="http://schemas.openxmlformats.org/officeDocument/2006/relationships" xmlns:a="http://schemas.openxmlformats.org/drawingml/2006/main" r:embed="Re12b3b8b89c7428f"/>
          <a:stretch xmlns:a="http://schemas.openxmlformats.org/drawingml/2006/main">
            <a:fillRect l="0" t="0" r="0" b="0"/>
          </a:stretch>
        </p:blipFill>
        <p:spPr>
          <a:xfrm xmlns:a="http://schemas.openxmlformats.org/drawingml/2006/main">
            <a:off x="10287000" y="1143000"/>
            <a:ext cx="1393825" cy="880110"/>
          </a:xfrm>
          <a:prstGeom xmlns:a="http://schemas.openxmlformats.org/drawingml/2006/main" prst="rect">
            <a:avLst/>
          </a:prstGeom>
        </p:spPr>
      </p:pic>
    </p:spTree>
    <p:extLst>
      <p:ext uri="{BB962C8B-B14F-4D97-AF65-F5344CB8AC3E}">
        <p14:creationId xmlns:p14="http://schemas.microsoft.com/office/powerpoint/2010/main" val="2054115343"/>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图片 1">
            <a:extLst xmlns:a="http://schemas.openxmlformats.org/drawingml/2006/main">
              <a:ext uri="{FF2B5EF4-FFF2-40B4-BE49-F238E27FC236}">
                <a16:creationId xmlns:a16="http://schemas.microsoft.com/office/drawing/2014/main" id="{98894CE5-B492-46D8-BBFF-AC88952BBE9B}"/>
              </a:ext>
            </a:extLst>
          </p:cNvPr>
          <p:cNvPicPr>
            <a:picLocks xmlns:a="http://schemas.openxmlformats.org/drawingml/2006/main" noChangeAspect="1"/>
          </p:cNvPicPr>
          <p:nvPr/>
        </p:nvPicPr>
        <p:blipFill>
          <a:blip xmlns:r="http://schemas.openxmlformats.org/officeDocument/2006/relationships" xmlns:a="http://schemas.openxmlformats.org/drawingml/2006/main" r:embed="R8df9a5d6710a4dc7"/>
          <a:stretch xmlns:a="http://schemas.openxmlformats.org/drawingml/2006/main">
            <a:fillRect l="0" t="0" r="0" b="0"/>
          </a:stretch>
        </p:blipFill>
        <p:spPr>
          <a:xfrm xmlns:a="http://schemas.openxmlformats.org/drawingml/2006/main">
            <a:off x="685800" y="1676400"/>
            <a:ext cx="11019790" cy="3620135"/>
          </a:xfrm>
          <a:prstGeom xmlns:a="http://schemas.openxmlformats.org/drawingml/2006/main" prst="rect">
            <a:avLst/>
          </a:prstGeom>
        </p:spPr>
      </p:pic>
      <p:sp>
        <p:nvSpPr>
          <p:cNvPr id="4" name="文本框 3">
            <a:extLst xmlns:a="http://schemas.openxmlformats.org/drawingml/2006/main">
              <a:ext uri="{FF2B5EF4-FFF2-40B4-BE49-F238E27FC236}">
                <a16:creationId xmlns:a16="http://schemas.microsoft.com/office/drawing/2014/main" id="{EBF91FEC-0EBC-47BB-8E80-487EA0F01DF4}"/>
              </a:ext>
            </a:extLst>
          </p:cNvPr>
          <p:cNvSpPr>
            <a:spLocks xmlns:a="http://schemas.openxmlformats.org/drawingml/2006/main" noGrp="1"/>
          </p:cNvSpPr>
          <p:nvPr/>
        </p:nvSpPr>
        <p:spPr>
          <a:xfrm xmlns:a="http://schemas.openxmlformats.org/drawingml/2006/main">
            <a:off x="685800" y="5524500"/>
            <a:ext cx="5219700" cy="733349"/>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950" b="0">
                <a:solidFill>
                  <a:srgbClr val="111111"/>
                </a:solidFill>
                <a:latin typeface="Noto Sans CJK SC"/>
                <a:ea typeface="Noto Sans CJK SC"/>
                <a:cs typeface="Noto Sans CJK SC"/>
              </a:defRPr>
            </a:defPPr>
          </a:lstStyle>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Chengzhang Li</a:t>
            </a:r>
            <a:endParaRPr/>
          </a:p>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上海交通大学安泰经济与管理学院</a:t>
            </a:r>
            <a:endParaRPr/>
          </a:p>
        </p:txBody>
      </p:sp>
      <p:sp>
        <p:nvSpPr>
          <p:cNvPr id="5" name="文本框 4">
            <a:extLst xmlns:a="http://schemas.openxmlformats.org/drawingml/2006/main">
              <a:ext uri="{FF2B5EF4-FFF2-40B4-BE49-F238E27FC236}">
                <a16:creationId xmlns:a16="http://schemas.microsoft.com/office/drawing/2014/main" id="{6D9B44C4-9016-40A3-AA3C-E410945D7FF5}"/>
              </a:ext>
            </a:extLst>
          </p:cNvPr>
          <p:cNvSpPr>
            <a:spLocks xmlns:a="http://schemas.openxmlformats.org/drawingml/2006/main" noGrp="1"/>
          </p:cNvSpPr>
          <p:nvPr/>
        </p:nvSpPr>
        <p:spPr>
          <a:xfrm xmlns:a="http://schemas.openxmlformats.org/drawingml/2006/main">
            <a:off x="6477000" y="5524500"/>
            <a:ext cx="5219700" cy="733349"/>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950" b="0">
                <a:solidFill>
                  <a:srgbClr val="111111"/>
                </a:solidFill>
                <a:latin typeface="Noto Sans CJK SC"/>
                <a:ea typeface="Noto Sans CJK SC"/>
                <a:cs typeface="Noto Sans CJK SC"/>
              </a:defRPr>
            </a:defPPr>
          </a:lstStyle>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Yuanchen Li</a:t>
            </a:r>
            <a:endParaRPr/>
          </a:p>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同济大学管理高等研究院</a:t>
            </a:r>
            <a:endParaRPr/>
          </a:p>
        </p:txBody>
      </p:sp>
      <p:sp>
        <p:nvSpPr>
          <p:cNvPr id="6" name="解释-2">
            <a:extLst xmlns:a="http://schemas.openxmlformats.org/drawingml/2006/main">
              <a:ext uri="{FF2B5EF4-FFF2-40B4-BE49-F238E27FC236}">
                <a16:creationId xmlns:a16="http://schemas.microsoft.com/office/drawing/2014/main" id="{EB2AF4F6-ADC7-4DE8-865B-579D5901FD0D}"/>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原文首页、摘要及 §1，pp. 1–3</a:t>
            </a:r>
          </a:p>
        </p:txBody>
      </p:sp>
      <p:sp>
        <p:nvSpPr>
          <p:cNvPr id="7" name="解释-3">
            <a:extLst xmlns:a="http://schemas.openxmlformats.org/drawingml/2006/main">
              <a:ext uri="{FF2B5EF4-FFF2-40B4-BE49-F238E27FC236}">
                <a16:creationId xmlns:a16="http://schemas.microsoft.com/office/drawing/2014/main" id="{ECFA8622-A4E4-4F24-B276-AA2C45A2881C}"/>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a:t>
            </a:r>
          </a:p>
        </p:txBody>
      </p:sp>
    </p:spTree>
    <p:extLst>
      <p:ext uri="{BB962C8B-B14F-4D97-AF65-F5344CB8AC3E}">
        <p14:creationId xmlns:p14="http://schemas.microsoft.com/office/powerpoint/2010/main" val="87339941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object 2">
            <a:extLst xmlns:a="http://schemas.openxmlformats.org/drawingml/2006/main">
              <a:ext uri="{FF2B5EF4-FFF2-40B4-BE49-F238E27FC236}">
                <a16:creationId xmlns:a16="http://schemas.microsoft.com/office/drawing/2014/main" id="{9548F1B4-9F71-48BE-8E89-46D30250AB31}"/>
              </a:ext>
            </a:extLst>
          </p:cNvPr>
          <p:cNvSpPr>
            <a:spLocks xmlns:a="http://schemas.openxmlformats.org/drawingml/2006/main" noGrp="1"/>
          </p:cNvSpPr>
          <p:nvPr>
            <p:ph type="title" idx="0"/>
          </p:nvPr>
        </p:nvSpPr>
        <p:spPr>
          <a:xfrm xmlns:a="http://schemas.openxmlformats.org/drawingml/2006/main">
            <a:off x="1676400" y="685800"/>
            <a:ext cx="6667500" cy="494132"/>
          </a:xfrm>
          <a:prstGeom xmlns:a="http://schemas.openxmlformats.org/drawingml/2006/main" prst="rect">
            <a:avLst/>
          </a:prstGeom>
        </p:spPr>
        <p:txBody>
          <a:bodyPr xmlns:a="http://schemas.openxmlformats.org/drawingml/2006/main" vert="horz"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L="12700" algn="l">
              <a:lnSpc>
                <a:spcPct val="108000"/>
              </a:lnSpc>
              <a:spcBef>
                <a:spcPts val="100"/>
              </a:spcBef>
              <a:buNone/>
              <a:defRPr sz="2925" b="1">
                <a:solidFill>
                  <a:srgbClr val="111111"/>
                </a:solidFill>
                <a:latin typeface="Noto Sans CJK SC"/>
                <a:ea typeface="Noto Sans CJK SC"/>
                <a:cs typeface="Noto Sans CJK SC"/>
              </a:defRPr>
            </a:pPr>
            <a:r>
              <a:rPr sz="2925" b="1" spc="75">
                <a:solidFill>
                  <a:srgbClr val="111111"/>
                </a:solidFill>
                <a:latin typeface="Noto Sans CJK SC"/>
                <a:ea typeface="Noto Sans CJK SC"/>
                <a:cs typeface="Noto Sans CJK SC"/>
              </a:rPr>
              <a:t>目录</a:t>
            </a:r>
            <a:endParaRPr spc="75"/>
          </a:p>
        </p:txBody>
      </p:sp>
      <p:sp>
        <p:nvSpPr>
          <p:cNvPr id="3" name="object 3">
            <a:extLst xmlns:a="http://schemas.openxmlformats.org/drawingml/2006/main">
              <a:ext uri="{FF2B5EF4-FFF2-40B4-BE49-F238E27FC236}">
                <a16:creationId xmlns:a16="http://schemas.microsoft.com/office/drawing/2014/main" id="{485AD6D2-DD2D-4B94-BF91-E89BBFCD233E}"/>
              </a:ext>
            </a:extLst>
          </p:cNvPr>
          <p:cNvSpPr>
            <a:spLocks xmlns:a="http://schemas.openxmlformats.org/drawingml/2006/main" noGrp="1"/>
          </p:cNvSpPr>
          <p:nvPr/>
        </p:nvSpPr>
        <p:spPr>
          <a:xfrm xmlns:a="http://schemas.openxmlformats.org/drawingml/2006/main">
            <a:off x="1666875" y="2133600"/>
            <a:ext cx="4638675" cy="3667125"/>
          </a:xfrm>
          <a:prstGeom xmlns:a="http://schemas.openxmlformats.org/drawingml/2006/main" prst="rect">
            <a:avLst/>
          </a:prstGeom>
        </p:spPr>
        <p:txBody>
          <a:bodyPr xmlns:a="http://schemas.openxmlformats.org/drawingml/2006/main" vert="horz" wrap="square" lIns="9525" tIns="9525" rIns="9525" bIns="9525" anchor="t">
            <a:noAutofit/>
          </a:bodyPr>
          <a:lstStyle xmlns:a="http://schemas.openxmlformats.org/drawingml/2006/main">
            <a:defPPr algn="l">
              <a:defRPr sz="2550" b="0">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一、研究背景</a:t>
            </a:r>
            <a:endParaRPr sz="3000" b="0" i="0" u="none" strike="noStrike" kern="0" cap="none" spc="75" baseline="0">
              <a:latin typeface="微软雅黑"/>
              <a:ea typeface="微软雅黑"/>
              <a:cs typeface="微软雅黑"/>
            </a:endParaRPr>
          </a:p>
          <a:p xmlns:a="http://schemas.openxmlformats.org/drawingml/2006/main">
            <a:pPr marL="0" marR="0" algn="l">
              <a:lnSpc>
                <a:spcPct val="100000"/>
              </a:lnSpc>
              <a:spcBef>
                <a:spcPts val="100"/>
              </a:spcBef>
              <a:buClrTx/>
              <a:buSzTx/>
              <a:buFontTx/>
              <a:buNone/>
            </a:pPr>
            <a:r>
              <a:t/>
            </a:r>
            <a:endParaRPr sz="3000" b="0" i="0" u="none" strike="noStrike" kern="0" cap="none" spc="75" baseline="0">
              <a:latin typeface="微软雅黑"/>
              <a:ea typeface="微软雅黑"/>
              <a:cs typeface="微软雅黑"/>
            </a:endParaRPr>
          </a:p>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二、研究问题</a:t>
            </a:r>
            <a:endParaRPr sz="3000" b="0" i="0" u="none" strike="noStrike" kern="0" cap="none" spc="75" baseline="0">
              <a:latin typeface="微软雅黑"/>
              <a:ea typeface="微软雅黑"/>
              <a:cs typeface="微软雅黑"/>
            </a:endParaRPr>
          </a:p>
          <a:p xmlns:a="http://schemas.openxmlformats.org/drawingml/2006/main">
            <a:pPr marL="0" marR="0" algn="l">
              <a:lnSpc>
                <a:spcPct val="100000"/>
              </a:lnSpc>
              <a:spcBef>
                <a:spcPts val="100"/>
              </a:spcBef>
              <a:buClrTx/>
              <a:buSzTx/>
              <a:buFontTx/>
              <a:buNone/>
            </a:pPr>
            <a:r>
              <a:t/>
            </a:r>
            <a:endParaRPr sz="3000" b="0" i="0" u="none" strike="noStrike" kern="0" cap="none" spc="75" baseline="0">
              <a:latin typeface="微软雅黑"/>
              <a:ea typeface="微软雅黑"/>
              <a:cs typeface="微软雅黑"/>
            </a:endParaRPr>
          </a:p>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三、文献综述</a:t>
            </a:r>
            <a:endParaRPr sz="3000" b="0" i="0" u="none" strike="noStrike" kern="0" cap="none" spc="75" baseline="0">
              <a:latin typeface="微软雅黑"/>
              <a:ea typeface="微软雅黑"/>
              <a:cs typeface="微软雅黑"/>
            </a:endParaRPr>
          </a:p>
          <a:p xmlns:a="http://schemas.openxmlformats.org/drawingml/2006/main">
            <a:pPr marL="0" marR="0" algn="l">
              <a:lnSpc>
                <a:spcPct val="100000"/>
              </a:lnSpc>
              <a:spcBef>
                <a:spcPts val="100"/>
              </a:spcBef>
              <a:buClrTx/>
              <a:buSzTx/>
              <a:buFontTx/>
              <a:buNone/>
            </a:pPr>
            <a:r>
              <a:t/>
            </a:r>
            <a:endParaRPr sz="3000" b="0" i="0" u="none" strike="noStrike" kern="0" cap="none" spc="75" baseline="0">
              <a:latin typeface="微软雅黑"/>
              <a:ea typeface="微软雅黑"/>
              <a:cs typeface="微软雅黑"/>
            </a:endParaRPr>
          </a:p>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四、模型构建</a:t>
            </a:r>
            <a:endParaRPr sz="3000" b="0" i="0" u="none" strike="noStrike" kern="0" cap="none" spc="75" baseline="0">
              <a:latin typeface="微软雅黑"/>
              <a:ea typeface="微软雅黑"/>
              <a:cs typeface="微软雅黑"/>
            </a:endParaRPr>
          </a:p>
        </p:txBody>
      </p:sp>
      <p:sp>
        <p:nvSpPr>
          <p:cNvPr id="6" name="文本框 5">
            <a:extLst xmlns:a="http://schemas.openxmlformats.org/drawingml/2006/main">
              <a:ext uri="{FF2B5EF4-FFF2-40B4-BE49-F238E27FC236}">
                <a16:creationId xmlns:a16="http://schemas.microsoft.com/office/drawing/2014/main" id="{2050DD08-98AA-47E9-95D7-C245A5BC98D2}"/>
              </a:ext>
            </a:extLst>
          </p:cNvPr>
          <p:cNvSpPr>
            <a:spLocks xmlns:a="http://schemas.openxmlformats.org/drawingml/2006/main" noGrp="1"/>
          </p:cNvSpPr>
          <p:nvPr/>
        </p:nvSpPr>
        <p:spPr>
          <a:xfrm xmlns:a="http://schemas.openxmlformats.org/drawingml/2006/main">
            <a:off x="7029450" y="2133600"/>
            <a:ext cx="4714875" cy="2178609"/>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550" b="0">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五、模型分析</a:t>
            </a:r>
            <a:endParaRPr sz="3000" b="0" i="0" u="none" strike="noStrike" kern="0" cap="none" spc="75" baseline="0">
              <a:latin typeface="微软雅黑"/>
              <a:ea typeface="微软雅黑"/>
              <a:cs typeface="微软雅黑"/>
            </a:endParaRPr>
          </a:p>
          <a:p xmlns:a="http://schemas.openxmlformats.org/drawingml/2006/main">
            <a:pPr marL="0" marR="0" algn="l">
              <a:lnSpc>
                <a:spcPct val="100000"/>
              </a:lnSpc>
              <a:spcBef>
                <a:spcPts val="100"/>
              </a:spcBef>
              <a:buClrTx/>
              <a:buSzTx/>
              <a:buFontTx/>
              <a:buNone/>
            </a:pPr>
            <a:r>
              <a:t/>
            </a:r>
            <a:endParaRPr sz="3000" b="0" i="0" u="none" strike="noStrike" kern="0" cap="none" spc="75" baseline="0">
              <a:latin typeface="微软雅黑"/>
              <a:ea typeface="微软雅黑"/>
              <a:cs typeface="微软雅黑"/>
            </a:endParaRPr>
          </a:p>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六、扩展模型</a:t>
            </a:r>
            <a:endParaRPr sz="3000" b="0" i="0" u="none" strike="noStrike" kern="0" cap="none" spc="75" baseline="0">
              <a:latin typeface="微软雅黑"/>
              <a:ea typeface="微软雅黑"/>
              <a:cs typeface="微软雅黑"/>
            </a:endParaRPr>
          </a:p>
          <a:p xmlns:a="http://schemas.openxmlformats.org/drawingml/2006/main">
            <a:pPr marL="0" marR="0" algn="l">
              <a:lnSpc>
                <a:spcPct val="100000"/>
              </a:lnSpc>
              <a:spcBef>
                <a:spcPts val="100"/>
              </a:spcBef>
              <a:buClrTx/>
              <a:buSzTx/>
              <a:buFontTx/>
              <a:buNone/>
            </a:pPr>
            <a:r>
              <a:t/>
            </a:r>
            <a:endParaRPr sz="3000" b="0" i="0" u="none" strike="noStrike" kern="0" cap="none" spc="75" baseline="0">
              <a:latin typeface="微软雅黑"/>
              <a:ea typeface="微软雅黑"/>
              <a:cs typeface="微软雅黑"/>
            </a:endParaRPr>
          </a:p>
          <a:p xmlns:a="http://schemas.openxmlformats.org/drawingml/2006/main">
            <a:pPr marL="0" marR="0" algn="l">
              <a:lnSpc>
                <a:spcPct val="108000"/>
              </a:lnSpc>
              <a:spcBef>
                <a:spcPts val="100"/>
              </a:spcBef>
              <a:buClrTx/>
              <a:buSzTx/>
              <a:buFontTx/>
              <a:buNone/>
              <a:defRPr sz="2550" b="0">
                <a:solidFill>
                  <a:srgbClr val="111111"/>
                </a:solidFill>
                <a:latin typeface="Noto Sans CJK SC"/>
                <a:ea typeface="Noto Sans CJK SC"/>
                <a:cs typeface="Noto Sans CJK SC"/>
              </a:defRPr>
            </a:pPr>
            <a:r>
              <a:rPr sz="2550" b="0" i="0" u="none" strike="noStrike" cap="none" spc="75" baseline="0">
                <a:solidFill>
                  <a:srgbClr val="111111"/>
                </a:solidFill>
                <a:latin typeface="Noto Sans CJK SC"/>
                <a:ea typeface="Noto Sans CJK SC"/>
                <a:cs typeface="Noto Sans CJK SC"/>
              </a:rPr>
              <a:t>七、结论与未来展望</a:t>
            </a:r>
            <a:endParaRPr sz="3000" b="0" i="0" u="none" strike="noStrike" kern="0" cap="none" spc="75" baseline="0">
              <a:latin typeface="微软雅黑"/>
              <a:ea typeface="微软雅黑"/>
              <a:cs typeface="微软雅黑"/>
            </a:endParaRPr>
          </a:p>
        </p:txBody>
      </p:sp>
      <p:sp>
        <p:nvSpPr>
          <p:cNvPr id="7" name="解释-3">
            <a:extLst xmlns:a="http://schemas.openxmlformats.org/drawingml/2006/main">
              <a:ext uri="{FF2B5EF4-FFF2-40B4-BE49-F238E27FC236}">
                <a16:creationId xmlns:a16="http://schemas.microsoft.com/office/drawing/2014/main" id="{096641A7-CBDA-435B-9F0D-309C7729F7BE}"/>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Li &amp; Li (2026), Production and Operations Management</a:t>
            </a:r>
          </a:p>
        </p:txBody>
      </p:sp>
      <p:sp>
        <p:nvSpPr>
          <p:cNvPr id="8" name="解释-4">
            <a:extLst xmlns:a="http://schemas.openxmlformats.org/drawingml/2006/main">
              <a:ext uri="{FF2B5EF4-FFF2-40B4-BE49-F238E27FC236}">
                <a16:creationId xmlns:a16="http://schemas.microsoft.com/office/drawing/2014/main" id="{8448D934-74C4-44FF-9C9A-230C8D8F86FD}"/>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a:t>
            </a:r>
          </a:p>
        </p:txBody>
      </p:sp>
    </p:spTree>
    <p:extLst>
      <p:ext uri="{BB962C8B-B14F-4D97-AF65-F5344CB8AC3E}">
        <p14:creationId xmlns:p14="http://schemas.microsoft.com/office/powerpoint/2010/main" val="1351296573"/>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1" name="文本框 10">
            <a:extLst xmlns:a="http://schemas.openxmlformats.org/drawingml/2006/main">
              <a:ext uri="{FF2B5EF4-FFF2-40B4-BE49-F238E27FC236}">
                <a16:creationId xmlns:a16="http://schemas.microsoft.com/office/drawing/2014/main" id="{4FFC9E69-6348-4FF6-B639-31F8EC69F94C}"/>
              </a:ext>
            </a:extLst>
          </p:cNvPr>
          <p:cNvSpPr>
            <a:spLocks xmlns:a="http://schemas.openxmlformats.org/drawingml/2006/main" noGrp="1"/>
          </p:cNvSpPr>
          <p:nvPr/>
        </p:nvSpPr>
        <p:spPr>
          <a:xfrm xmlns:a="http://schemas.openxmlformats.org/drawingml/2006/main">
            <a:off x="609600" y="1809750"/>
            <a:ext cx="10972800" cy="428625"/>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250" b="1">
                <a:solidFill>
                  <a:srgbClr val="587C95"/>
                </a:solidFill>
                <a:latin typeface="Noto Sans CJK SC"/>
                <a:ea typeface="Noto Sans CJK SC"/>
                <a:cs typeface="Noto Sans CJK SC"/>
              </a:defRPr>
            </a:defPPr>
          </a:lstStyle>
          <a:p xmlns:a="http://schemas.openxmlformats.org/drawingml/2006/main">
            <a:pPr marL="0" indent="457200" algn="l">
              <a:lnSpc>
                <a:spcPct val="108000"/>
              </a:lnSpc>
              <a:buNone/>
              <a:defRPr sz="2250" b="1">
                <a:solidFill>
                  <a:srgbClr val="587C95"/>
                </a:solidFill>
                <a:latin typeface="Noto Sans CJK SC"/>
                <a:ea typeface="Noto Sans CJK SC"/>
                <a:cs typeface="Noto Sans CJK SC"/>
              </a:defRPr>
            </a:pPr>
            <a:r>
              <a:rPr sz="2250" b="1" i="0" u="none" strike="noStrike" cap="none" spc="0" baseline="0">
                <a:solidFill>
                  <a:srgbClr val="587C95"/>
                </a:solidFill>
                <a:latin typeface="Noto Sans CJK SC"/>
                <a:ea typeface="Noto Sans CJK SC"/>
                <a:cs typeface="Noto Sans CJK SC"/>
              </a:rPr>
              <a:t>供应商的违规风险，会传导为买方的声誉和经济损失</a:t>
            </a:r>
            <a:endParaRPr sz="1800" b="0" i="0" u="none" strike="noStrike" kern="0" cap="none" spc="0"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338205B1-5AD3-4559-8D8A-2A2A5DB63514}"/>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一、研究背景</a:t>
            </a:r>
            <a:endParaRPr sz="3000" b="1" i="0" u="none" strike="noStrike" kern="0" cap="none" spc="75" baseline="0">
              <a:latin typeface="微软雅黑"/>
              <a:ea typeface="微软雅黑"/>
              <a:cs typeface="微软雅黑"/>
            </a:endParaRPr>
          </a:p>
        </p:txBody>
      </p:sp>
      <p:sp>
        <p:nvSpPr>
          <p:cNvPr id="13" name="解释-2">
            <a:extLst xmlns:a="http://schemas.openxmlformats.org/drawingml/2006/main">
              <a:ext uri="{FF2B5EF4-FFF2-40B4-BE49-F238E27FC236}">
                <a16:creationId xmlns:a16="http://schemas.microsoft.com/office/drawing/2014/main" id="{BC25D036-6AC2-41DF-BD81-5720D594D672}"/>
              </a:ext>
            </a:extLst>
          </p:cNvPr>
          <p:cNvSpPr>
            <a:spLocks xmlns:a="http://schemas.openxmlformats.org/drawingml/2006/main" noGrp="1"/>
          </p:cNvSpPr>
          <p:nvPr/>
        </p:nvSpPr>
        <p:spPr>
          <a:xfrm xmlns:a="http://schemas.openxmlformats.org/drawingml/2006/main">
            <a:off x="609600" y="2419350"/>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跨国采购使劳动、人权、安全与环境风险更难直接观察。</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企业因此使用责任审计，并在发现问题后整改或替换供应商。</a:t>
            </a:r>
          </a:p>
        </p:txBody>
      </p:sp>
      <p:sp>
        <p:nvSpPr>
          <p:cNvPr id="14" name="解释-3">
            <a:extLst xmlns:a="http://schemas.openxmlformats.org/drawingml/2006/main">
              <a:ext uri="{FF2B5EF4-FFF2-40B4-BE49-F238E27FC236}">
                <a16:creationId xmlns:a16="http://schemas.microsoft.com/office/drawing/2014/main" id="{271EA893-068E-4052-9D0A-9DCCD44A3687}"/>
              </a:ext>
            </a:extLst>
          </p:cNvPr>
          <p:cNvSpPr>
            <a:spLocks xmlns:a="http://schemas.openxmlformats.org/drawingml/2006/main" noGrp="1"/>
          </p:cNvSpPr>
          <p:nvPr/>
        </p:nvSpPr>
        <p:spPr>
          <a:xfrm xmlns:a="http://schemas.openxmlformats.org/drawingml/2006/main">
            <a:off x="609600" y="3495675"/>
            <a:ext cx="5191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1">
                <a:solidFill>
                  <a:srgbClr val="111111"/>
                </a:solidFill>
                <a:latin typeface="Noto Sans CJK SC"/>
                <a:ea typeface="Noto Sans CJK SC"/>
                <a:cs typeface="Noto Sans CJK SC"/>
              </a:defRPr>
            </a:pPr>
            <a:r>
              <a:rPr sz="2100" b="1">
                <a:solidFill>
                  <a:srgbClr val="111111"/>
                </a:solidFill>
                <a:latin typeface="Noto Sans CJK SC"/>
                <a:ea typeface="Noto Sans CJK SC"/>
                <a:cs typeface="Noto Sans CJK SC"/>
              </a:rPr>
              <a:t>误报：合规者被判为违规</a:t>
            </a:r>
          </a:p>
        </p:txBody>
      </p:sp>
      <p:sp>
        <p:nvSpPr>
          <p:cNvPr id="15" name="解释-4">
            <a:extLst xmlns:a="http://schemas.openxmlformats.org/drawingml/2006/main">
              <a:ext uri="{FF2B5EF4-FFF2-40B4-BE49-F238E27FC236}">
                <a16:creationId xmlns:a16="http://schemas.microsoft.com/office/drawing/2014/main" id="{BE152000-4B61-430E-866E-4D9CB243D4A5}"/>
              </a:ext>
            </a:extLst>
          </p:cNvPr>
          <p:cNvSpPr>
            <a:spLocks xmlns:a="http://schemas.openxmlformats.org/drawingml/2006/main" noGrp="1"/>
          </p:cNvSpPr>
          <p:nvPr/>
        </p:nvSpPr>
        <p:spPr>
          <a:xfrm xmlns:a="http://schemas.openxmlformats.org/drawingml/2006/main">
            <a:off x="609600" y="4010025"/>
            <a:ext cx="5191125"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论文以 Maggi 面条事件说明：</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初检导致禁售，后续复核与法院裁定</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又对初检可靠性提出质疑。</a:t>
            </a:r>
          </a:p>
        </p:txBody>
      </p:sp>
      <p:sp>
        <p:nvSpPr>
          <p:cNvPr id="16" name="解释-5">
            <a:extLst xmlns:a="http://schemas.openxmlformats.org/drawingml/2006/main">
              <a:ext uri="{FF2B5EF4-FFF2-40B4-BE49-F238E27FC236}">
                <a16:creationId xmlns:a16="http://schemas.microsoft.com/office/drawing/2014/main" id="{437D7FFE-44E6-481D-B9BD-4911B4856361}"/>
              </a:ext>
            </a:extLst>
          </p:cNvPr>
          <p:cNvSpPr>
            <a:spLocks xmlns:a="http://schemas.openxmlformats.org/drawingml/2006/main" noGrp="1"/>
          </p:cNvSpPr>
          <p:nvPr/>
        </p:nvSpPr>
        <p:spPr>
          <a:xfrm xmlns:a="http://schemas.openxmlformats.org/drawingml/2006/main">
            <a:off x="6477000" y="34956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1">
                <a:solidFill>
                  <a:srgbClr val="111111"/>
                </a:solidFill>
                <a:latin typeface="Noto Sans CJK SC"/>
                <a:ea typeface="Noto Sans CJK SC"/>
                <a:cs typeface="Noto Sans CJK SC"/>
              </a:defRPr>
            </a:pPr>
            <a:r>
              <a:rPr sz="2100" b="1">
                <a:solidFill>
                  <a:srgbClr val="111111"/>
                </a:solidFill>
                <a:latin typeface="Noto Sans CJK SC"/>
                <a:ea typeface="Noto Sans CJK SC"/>
                <a:cs typeface="Noto Sans CJK SC"/>
              </a:rPr>
              <a:t>漏报：违规者被判为合规</a:t>
            </a:r>
          </a:p>
        </p:txBody>
      </p:sp>
      <p:sp>
        <p:nvSpPr>
          <p:cNvPr id="17" name="解释-6">
            <a:extLst xmlns:a="http://schemas.openxmlformats.org/drawingml/2006/main">
              <a:ext uri="{FF2B5EF4-FFF2-40B4-BE49-F238E27FC236}">
                <a16:creationId xmlns:a16="http://schemas.microsoft.com/office/drawing/2014/main" id="{788EE3A5-4812-47BD-9162-DD87ECFF07B6}"/>
              </a:ext>
            </a:extLst>
          </p:cNvPr>
          <p:cNvSpPr>
            <a:spLocks xmlns:a="http://schemas.openxmlformats.org/drawingml/2006/main" noGrp="1"/>
          </p:cNvSpPr>
          <p:nvPr/>
        </p:nvSpPr>
        <p:spPr>
          <a:xfrm xmlns:a="http://schemas.openxmlformats.org/drawingml/2006/main">
            <a:off x="6477000" y="4010025"/>
            <a:ext cx="50482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论文以 Dyson 案例说明：</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企业长期依赖审计，供应链仍被指控</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存在强迫劳动。</a:t>
            </a:r>
          </a:p>
        </p:txBody>
      </p:sp>
      <p:sp>
        <p:nvSpPr>
          <p:cNvPr id="18" name="解释-7">
            <a:extLst xmlns:a="http://schemas.openxmlformats.org/drawingml/2006/main">
              <a:ext uri="{FF2B5EF4-FFF2-40B4-BE49-F238E27FC236}">
                <a16:creationId xmlns:a16="http://schemas.microsoft.com/office/drawing/2014/main" id="{293FDCD3-213B-445A-B3B7-B4E48B28CA7F}"/>
              </a:ext>
            </a:extLst>
          </p:cNvPr>
          <p:cNvSpPr>
            <a:spLocks xmlns:a="http://schemas.openxmlformats.org/drawingml/2006/main" noGrp="1"/>
          </p:cNvSpPr>
          <p:nvPr/>
        </p:nvSpPr>
        <p:spPr>
          <a:xfrm xmlns:a="http://schemas.openxmlformats.org/drawingml/2006/main">
            <a:off x="609600" y="5791200"/>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两类错误都会影响企业决策，有限预算下不能只关注漏报。</a:t>
            </a:r>
          </a:p>
        </p:txBody>
      </p:sp>
      <p:sp>
        <p:nvSpPr>
          <p:cNvPr id="19" name="解释-8">
            <a:extLst xmlns:a="http://schemas.openxmlformats.org/drawingml/2006/main">
              <a:ext uri="{FF2B5EF4-FFF2-40B4-BE49-F238E27FC236}">
                <a16:creationId xmlns:a16="http://schemas.microsoft.com/office/drawing/2014/main" id="{3DB65DD6-8E13-4339-9ACA-B9A70A3803A9}"/>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§1，pp. 1–3；案例按论文叙述</a:t>
            </a:r>
          </a:p>
        </p:txBody>
      </p:sp>
      <p:sp>
        <p:nvSpPr>
          <p:cNvPr id="20" name="解释-9">
            <a:extLst xmlns:a="http://schemas.openxmlformats.org/drawingml/2006/main">
              <a:ext uri="{FF2B5EF4-FFF2-40B4-BE49-F238E27FC236}">
                <a16:creationId xmlns:a16="http://schemas.microsoft.com/office/drawing/2014/main" id="{7EB0F3E0-81CF-4270-9900-6E2CDD287A72}"/>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4</a:t>
            </a:r>
          </a:p>
        </p:txBody>
      </p:sp>
    </p:spTree>
    <p:extLst>
      <p:ext uri="{BB962C8B-B14F-4D97-AF65-F5344CB8AC3E}">
        <p14:creationId xmlns:p14="http://schemas.microsoft.com/office/powerpoint/2010/main" val="1688160511"/>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2466980D-F0BE-4486-809E-CEC8E586B320}"/>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二、研究问题</a:t>
            </a:r>
            <a:endParaRPr sz="3000" b="0" i="0" u="none" strike="noStrike" kern="0" cap="none" spc="75" baseline="0">
              <a:latin typeface="Arial"/>
              <a:ea typeface="Arial"/>
              <a:cs typeface="Arial"/>
            </a:endParaRPr>
          </a:p>
        </p:txBody>
      </p:sp>
      <p:sp>
        <p:nvSpPr>
          <p:cNvPr id="3" name="文本框 2">
            <a:extLst xmlns:a="http://schemas.openxmlformats.org/drawingml/2006/main">
              <a:ext uri="{FF2B5EF4-FFF2-40B4-BE49-F238E27FC236}">
                <a16:creationId xmlns:a16="http://schemas.microsoft.com/office/drawing/2014/main" id="{E80E9B26-A4B5-4E5F-8076-C826B2F626AA}"/>
              </a:ext>
            </a:extLst>
          </p:cNvPr>
          <p:cNvSpPr>
            <a:spLocks xmlns:a="http://schemas.openxmlformats.org/drawingml/2006/main" noGrp="1"/>
          </p:cNvSpPr>
          <p:nvPr/>
        </p:nvSpPr>
        <p:spPr>
          <a:xfrm xmlns:a="http://schemas.openxmlformats.org/drawingml/2006/main">
            <a:off x="609600" y="2009775"/>
            <a:ext cx="10972800" cy="437083"/>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1. 错误控制：给定预算，如何权衡误报 α 与漏报 β？</a:t>
            </a:r>
            <a:endParaRPr sz="2400">
              <a:latin typeface="微软雅黑"/>
              <a:ea typeface="微软雅黑"/>
              <a:cs typeface="微软雅黑"/>
            </a:endParaRPr>
          </a:p>
        </p:txBody>
      </p:sp>
      <p:sp>
        <p:nvSpPr>
          <p:cNvPr id="4" name="解释-2">
            <a:extLst xmlns:a="http://schemas.openxmlformats.org/drawingml/2006/main">
              <a:ext uri="{FF2B5EF4-FFF2-40B4-BE49-F238E27FC236}">
                <a16:creationId xmlns:a16="http://schemas.microsoft.com/office/drawing/2014/main" id="{B0DD7D17-C298-4641-8BEE-EB29B4C92C25}"/>
              </a:ext>
            </a:extLst>
          </p:cNvPr>
          <p:cNvSpPr>
            <a:spLocks xmlns:a="http://schemas.openxmlformats.org/drawingml/2006/main" noGrp="1"/>
          </p:cNvSpPr>
          <p:nvPr/>
        </p:nvSpPr>
        <p:spPr>
          <a:xfrm xmlns:a="http://schemas.openxmlformats.org/drawingml/2006/main">
            <a:off x="609600" y="30003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2. 事后治理：审计未通过后，应整改还是替换？</a:t>
            </a:r>
          </a:p>
        </p:txBody>
      </p:sp>
      <p:sp>
        <p:nvSpPr>
          <p:cNvPr id="5" name="解释-3">
            <a:extLst xmlns:a="http://schemas.openxmlformats.org/drawingml/2006/main">
              <a:ext uri="{FF2B5EF4-FFF2-40B4-BE49-F238E27FC236}">
                <a16:creationId xmlns:a16="http://schemas.microsoft.com/office/drawing/2014/main" id="{E6823407-BBC7-4D49-9EB4-B7694825391C}"/>
              </a:ext>
            </a:extLst>
          </p:cNvPr>
          <p:cNvSpPr>
            <a:spLocks xmlns:a="http://schemas.openxmlformats.org/drawingml/2006/main" noGrp="1"/>
          </p:cNvSpPr>
          <p:nvPr/>
        </p:nvSpPr>
        <p:spPr>
          <a:xfrm xmlns:a="http://schemas.openxmlformats.org/drawingml/2006/main">
            <a:off x="609600" y="3990975"/>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3. 资源与范围：审计一家还是两家？预算是否均分？</a:t>
            </a:r>
          </a:p>
        </p:txBody>
      </p:sp>
      <p:sp>
        <p:nvSpPr>
          <p:cNvPr id="6" name="解释-4">
            <a:extLst xmlns:a="http://schemas.openxmlformats.org/drawingml/2006/main">
              <a:ext uri="{FF2B5EF4-FFF2-40B4-BE49-F238E27FC236}">
                <a16:creationId xmlns:a16="http://schemas.microsoft.com/office/drawing/2014/main" id="{39732CE2-97C3-48B5-8EB0-2966CFA166BE}"/>
              </a:ext>
            </a:extLst>
          </p:cNvPr>
          <p:cNvSpPr>
            <a:spLocks xmlns:a="http://schemas.openxmlformats.org/drawingml/2006/main" noGrp="1"/>
          </p:cNvSpPr>
          <p:nvPr/>
        </p:nvSpPr>
        <p:spPr>
          <a:xfrm xmlns:a="http://schemas.openxmlformats.org/drawingml/2006/main">
            <a:off x="609600" y="4981575"/>
            <a:ext cx="109728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4. 社会效果：预算增加，违规产品流入市场一定减少吗？</a:t>
            </a:r>
          </a:p>
        </p:txBody>
      </p:sp>
      <p:sp>
        <p:nvSpPr>
          <p:cNvPr id="7" name="解释-5">
            <a:extLst xmlns:a="http://schemas.openxmlformats.org/drawingml/2006/main">
              <a:ext uri="{FF2B5EF4-FFF2-40B4-BE49-F238E27FC236}">
                <a16:creationId xmlns:a16="http://schemas.microsoft.com/office/drawing/2014/main" id="{EA7CEEC1-D483-4174-AD83-A94501B037AC}"/>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§1，pp. 2–3</a:t>
            </a:r>
          </a:p>
        </p:txBody>
      </p:sp>
      <p:sp>
        <p:nvSpPr>
          <p:cNvPr id="8" name="解释-6">
            <a:extLst xmlns:a="http://schemas.openxmlformats.org/drawingml/2006/main">
              <a:ext uri="{FF2B5EF4-FFF2-40B4-BE49-F238E27FC236}">
                <a16:creationId xmlns:a16="http://schemas.microsoft.com/office/drawing/2014/main" id="{D4F7F4DB-F1F2-4091-B9E1-F9DDF66D6BCB}"/>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5</a:t>
            </a:r>
          </a:p>
        </p:txBody>
      </p:sp>
    </p:spTree>
    <p:extLst>
      <p:ext uri="{BB962C8B-B14F-4D97-AF65-F5344CB8AC3E}">
        <p14:creationId xmlns:p14="http://schemas.microsoft.com/office/powerpoint/2010/main" val="136427821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845EFC8A-8747-483B-866E-2B52C98E7EE3}"/>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三、文献综述</a:t>
            </a:r>
            <a:endParaRPr sz="3000" b="1" i="0" u="none" strike="noStrike" kern="0" cap="none" spc="75" baseline="0">
              <a:latin typeface="微软雅黑"/>
              <a:ea typeface="微软雅黑"/>
              <a:cs typeface="微软雅黑"/>
            </a:endParaRPr>
          </a:p>
        </p:txBody>
      </p:sp>
      <p:sp>
        <p:nvSpPr>
          <p:cNvPr id="6" name="文本框 5">
            <a:extLst xmlns:a="http://schemas.openxmlformats.org/drawingml/2006/main">
              <a:ext uri="{FF2B5EF4-FFF2-40B4-BE49-F238E27FC236}">
                <a16:creationId xmlns:a16="http://schemas.microsoft.com/office/drawing/2014/main" id="{EDD0ECA7-66B1-4083-B2AE-DA4C2DD2F201}"/>
              </a:ext>
            </a:extLst>
          </p:cNvPr>
          <p:cNvSpPr>
            <a:spLocks xmlns:a="http://schemas.openxmlformats.org/drawingml/2006/main" noGrp="1"/>
          </p:cNvSpPr>
          <p:nvPr/>
        </p:nvSpPr>
        <p:spPr>
          <a:xfrm xmlns:a="http://schemas.openxmlformats.org/drawingml/2006/main">
            <a:off x="609600" y="5705475"/>
            <a:ext cx="10972800" cy="60960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marL="0" indent="457200"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研究缺口：两类错误、事后治理与有限资源配置缺少统一分析。</a:t>
            </a:r>
            <a:endParaRPr sz="1800">
              <a:latin typeface="微软雅黑"/>
              <a:ea typeface="微软雅黑"/>
              <a:cs typeface="微软雅黑"/>
            </a:endParaRPr>
          </a:p>
        </p:txBody>
      </p:sp>
      <p:graphicFrame>
        <p:nvGraphicFramePr>
          <p:cNvPr id="7" name="">
            <a:extLst xmlns:a="http://schemas.openxmlformats.org/drawingml/2006/main">
              <a:ext uri="{FF2B5EF4-FFF2-40B4-BE49-F238E27FC236}">
                <a16:creationId xmlns:a16="http://schemas.microsoft.com/office/drawing/2014/main" id="{7ED607E0-0018-4E9B-8433-B1A38E525499}"/>
              </a:ext>
            </a:extLst>
          </p:cNvPr>
          <p:cNvGraphicFramePr/>
          <p:nvPr/>
        </p:nvGraphicFramePr>
        <p:xfrm>
          <a:off xmlns:a="http://schemas.openxmlformats.org/drawingml/2006/main" x="609600" y="2047875"/>
          <a:ext xmlns:a="http://schemas.openxmlformats.org/drawingml/2006/main" cx="10972800" cy="3267075"/>
        </p:xfrm>
        <a:graphic xmlns:a="http://schemas.openxmlformats.org/drawingml/2006/main">
          <a:graphicData uri="http://schemas.openxmlformats.org/drawingml/2006/table">
            <a:tbl>
              <a:tblPr firstRow="1" bandRow="0"/>
              <a:tblGrid>
                <a:gridCol w="2638425"/>
                <a:gridCol w="3952875"/>
                <a:gridCol w="4381500"/>
              </a:tblGrid>
              <a:tr h="653415">
                <a:tc>
                  <a:txBody>
                    <a:bodyPr wrap="square">
                      <a:noAutofit/>
                    </a:bodyPr>
                    <a:lstStyle/>
                    <a:p>
                      <a:pPr algn="l">
                        <a:lnSpc>
                          <a:spcPct val="100000"/>
                        </a:lnSpc>
                        <a:buNone/>
                      </a:pPr>
                      <a:r>
                        <a:rPr sz="1875" b="1">
                          <a:solidFill>
                            <a:srgbClr val="587C95"/>
                          </a:solidFill>
                          <a:latin typeface="Noto Sans CJK SC"/>
                          <a:ea typeface="Noto Sans CJK SC"/>
                          <a:cs typeface="Noto Sans CJK SC"/>
                        </a:rPr>
                        <a:t>文献方向</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已有研究的重点</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本文补充</a:t>
                      </a:r>
                    </a:p>
                  </a:txBody>
                  <a:tcPr marL="95250" marR="95250" marT="66675" marB="66675" anchor="ctr">
                    <a:solidFill>
                      <a:srgbClr val="EDF2F5"/>
                    </a:solidFill>
                  </a:tcPr>
                </a:tc>
              </a:tr>
              <a:tr h="653415">
                <a:tc>
                  <a:txBody>
                    <a:bodyPr wrap="square">
                      <a:noAutofit/>
                    </a:bodyPr>
                    <a:lstStyle/>
                    <a:p>
                      <a:pPr algn="l">
                        <a:lnSpc>
                          <a:spcPct val="100000"/>
                        </a:lnSpc>
                        <a:buNone/>
                      </a:pPr>
                      <a:r>
                        <a:rPr sz="1875" b="0">
                          <a:solidFill>
                            <a:srgbClr val="111111"/>
                          </a:solidFill>
                          <a:latin typeface="Noto Sans CJK SC"/>
                          <a:ea typeface="Noto Sans CJK SC"/>
                          <a:cs typeface="Noto Sans CJK SC"/>
                        </a:rPr>
                        <a:t>责任采购与审计</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供应商合规、隐藏违规与审计强度</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联合考虑误报与漏报</a:t>
                      </a:r>
                    </a:p>
                  </a:txBody>
                  <a:tcPr marL="95250" marR="95250" marT="66675" marB="66675" anchor="ctr">
                    <a:solidFill>
                      <a:srgbClr val="FFFFFF"/>
                    </a:solidFill>
                  </a:tcPr>
                </a:tc>
              </a:tr>
              <a:tr h="653415">
                <a:tc>
                  <a:txBody>
                    <a:bodyPr wrap="square">
                      <a:noAutofit/>
                    </a:bodyPr>
                    <a:lstStyle/>
                    <a:p>
                      <a:pPr algn="l">
                        <a:lnSpc>
                          <a:spcPct val="100000"/>
                        </a:lnSpc>
                        <a:buNone/>
                      </a:pPr>
                      <a:r>
                        <a:rPr sz="1875" b="0">
                          <a:solidFill>
                            <a:srgbClr val="111111"/>
                          </a:solidFill>
                          <a:latin typeface="Noto Sans CJK SC"/>
                          <a:ea typeface="Noto Sans CJK SC"/>
                          <a:cs typeface="Noto Sans CJK SC"/>
                        </a:rPr>
                        <a:t>审计后的治理</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整改、替换、披露和动态管理</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连接错误控制与治理动作</a:t>
                      </a:r>
                    </a:p>
                  </a:txBody>
                  <a:tcPr marL="95250" marR="95250" marT="66675" marB="66675" anchor="ctr">
                    <a:solidFill>
                      <a:srgbClr val="FFFFFF"/>
                    </a:solidFill>
                  </a:tcPr>
                </a:tc>
              </a:tr>
              <a:tr h="653415">
                <a:tc>
                  <a:txBody>
                    <a:bodyPr wrap="square">
                      <a:noAutofit/>
                    </a:bodyPr>
                    <a:lstStyle/>
                    <a:p>
                      <a:pPr algn="l">
                        <a:lnSpc>
                          <a:spcPct val="100000"/>
                        </a:lnSpc>
                        <a:buNone/>
                      </a:pPr>
                      <a:r>
                        <a:rPr sz="1875" b="0">
                          <a:solidFill>
                            <a:srgbClr val="111111"/>
                          </a:solidFill>
                          <a:latin typeface="Noto Sans CJK SC"/>
                          <a:ea typeface="Noto Sans CJK SC"/>
                          <a:cs typeface="Noto Sans CJK SC"/>
                        </a:rPr>
                        <a:t>网络与多主体审计</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联合审计、信息共享和优先级</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研究装配网络中的预算与覆盖</a:t>
                      </a:r>
                    </a:p>
                  </a:txBody>
                  <a:tcPr marL="95250" marR="95250" marT="66675" marB="66675" anchor="ctr">
                    <a:solidFill>
                      <a:srgbClr val="FFFFFF"/>
                    </a:solidFill>
                  </a:tcPr>
                </a:tc>
              </a:tr>
              <a:tr h="653415">
                <a:tc>
                  <a:txBody>
                    <a:bodyPr wrap="square">
                      <a:noAutofit/>
                    </a:bodyPr>
                    <a:lstStyle/>
                    <a:p>
                      <a:pPr algn="l">
                        <a:lnSpc>
                          <a:spcPct val="100000"/>
                        </a:lnSpc>
                        <a:buNone/>
                      </a:pPr>
                      <a:r>
                        <a:rPr sz="1875" b="0">
                          <a:solidFill>
                            <a:srgbClr val="111111"/>
                          </a:solidFill>
                          <a:latin typeface="Noto Sans CJK SC"/>
                          <a:ea typeface="Noto Sans CJK SC"/>
                          <a:cs typeface="Noto Sans CJK SC"/>
                        </a:rPr>
                        <a:t>不准确认证</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Guo et al. (2017) 的外生错误率</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内生选择错误组合及社会效果</a:t>
                      </a:r>
                    </a:p>
                  </a:txBody>
                  <a:tcPr marL="95250" marR="95250" marT="66675" marB="66675" anchor="ctr">
                    <a:solidFill>
                      <a:srgbClr val="FFFFFF"/>
                    </a:solidFill>
                  </a:tcPr>
                </a:tc>
              </a:tr>
            </a:tbl>
          </a:graphicData>
        </a:graphic>
      </p:graphicFrame>
      <p:sp>
        <p:nvSpPr>
          <p:cNvPr id="8" name="解释-2">
            <a:extLst xmlns:a="http://schemas.openxmlformats.org/drawingml/2006/main">
              <a:ext uri="{FF2B5EF4-FFF2-40B4-BE49-F238E27FC236}">
                <a16:creationId xmlns:a16="http://schemas.microsoft.com/office/drawing/2014/main" id="{7AB0A677-7AEE-4EFC-B352-C8B93EB0F99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§2，pp. 3–4</a:t>
            </a:r>
          </a:p>
        </p:txBody>
      </p:sp>
      <p:sp>
        <p:nvSpPr>
          <p:cNvPr id="9" name="解释-3">
            <a:extLst xmlns:a="http://schemas.openxmlformats.org/drawingml/2006/main">
              <a:ext uri="{FF2B5EF4-FFF2-40B4-BE49-F238E27FC236}">
                <a16:creationId xmlns:a16="http://schemas.microsoft.com/office/drawing/2014/main" id="{018CCFF7-9F08-43C0-936C-DA9134854D19}"/>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6</a:t>
            </a:r>
          </a:p>
        </p:txBody>
      </p:sp>
    </p:spTree>
    <p:extLst>
      <p:ext uri="{BB962C8B-B14F-4D97-AF65-F5344CB8AC3E}">
        <p14:creationId xmlns:p14="http://schemas.microsoft.com/office/powerpoint/2010/main" val="1348654794"/>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 name="文本框 4">
            <a:extLst xmlns:a="http://schemas.openxmlformats.org/drawingml/2006/main">
              <a:ext uri="{FF2B5EF4-FFF2-40B4-BE49-F238E27FC236}">
                <a16:creationId xmlns:a16="http://schemas.microsoft.com/office/drawing/2014/main" id="{2AF23316-B812-44FB-A850-44391373FBF7}"/>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四、模型构建：供应链与利润</a:t>
            </a:r>
            <a:endParaRPr sz="3000" b="1" i="0" u="none" strike="noStrike" kern="0" cap="none" spc="75" baseline="0">
              <a:latin typeface="微软雅黑"/>
              <a:ea typeface="微软雅黑"/>
              <a:cs typeface="微软雅黑"/>
            </a:endParaRPr>
          </a:p>
        </p:txBody>
      </p:sp>
      <p:sp>
        <p:nvSpPr>
          <p:cNvPr id="3" name="文本框 2">
            <a:extLst xmlns:a="http://schemas.openxmlformats.org/drawingml/2006/main">
              <a:ext uri="{FF2B5EF4-FFF2-40B4-BE49-F238E27FC236}">
                <a16:creationId xmlns:a16="http://schemas.microsoft.com/office/drawing/2014/main" id="{C7AE4D97-BACA-4E43-BAEA-BD7E038CC6E7}"/>
              </a:ext>
            </a:extLst>
          </p:cNvPr>
          <p:cNvSpPr>
            <a:spLocks xmlns:a="http://schemas.openxmlformats.org/drawingml/2006/main" noGrp="1"/>
          </p:cNvSpPr>
          <p:nvPr/>
        </p:nvSpPr>
        <p:spPr>
          <a:xfrm xmlns:a="http://schemas.openxmlformats.org/drawingml/2006/main">
            <a:off x="609600" y="1838325"/>
            <a:ext cx="10972800" cy="4617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250" b="1">
                <a:solidFill>
                  <a:srgbClr val="111111"/>
                </a:solidFill>
                <a:latin typeface="Noto Sans CJK SC"/>
                <a:ea typeface="Noto Sans CJK SC"/>
                <a:cs typeface="Noto Sans CJK SC"/>
              </a:defRPr>
            </a:defPPr>
          </a:lstStyle>
          <a:p xmlns:a="http://schemas.openxmlformats.org/drawingml/2006/main">
            <a:pPr algn="l">
              <a:lnSpc>
                <a:spcPct val="108000"/>
              </a:lnSpc>
              <a:buNone/>
              <a:defRPr sz="2250" b="1">
                <a:solidFill>
                  <a:srgbClr val="111111"/>
                </a:solidFill>
                <a:latin typeface="Noto Sans CJK SC"/>
                <a:ea typeface="Noto Sans CJK SC"/>
                <a:cs typeface="Noto Sans CJK SC"/>
              </a:defRPr>
            </a:pPr>
            <a:r>
              <a:rPr sz="2250" b="1">
                <a:solidFill>
                  <a:srgbClr val="111111"/>
                </a:solidFill>
                <a:latin typeface="Noto Sans CJK SC"/>
                <a:ea typeface="Noto Sans CJK SC"/>
                <a:cs typeface="Noto Sans CJK SC"/>
              </a:rPr>
              <a:t>一个买方从两家供应商采购两种不同投入品，用于装配</a:t>
            </a:r>
            <a:endParaRPr sz="2000">
              <a:latin typeface="微软雅黑"/>
              <a:ea typeface="微软雅黑"/>
              <a:cs typeface="微软雅黑"/>
            </a:endParaRPr>
          </a:p>
        </p:txBody>
      </p:sp>
      <p:sp>
        <p:nvSpPr>
          <p:cNvPr id="6" name="解释-2">
            <a:extLst xmlns:a="http://schemas.openxmlformats.org/drawingml/2006/main">
              <a:ext uri="{FF2B5EF4-FFF2-40B4-BE49-F238E27FC236}">
                <a16:creationId xmlns:a16="http://schemas.microsoft.com/office/drawing/2014/main" id="{8255A6F7-894A-4FD9-AB05-5F5213AC9BFD}"/>
              </a:ext>
            </a:extLst>
          </p:cNvPr>
          <p:cNvSpPr>
            <a:spLocks xmlns:a="http://schemas.openxmlformats.org/drawingml/2006/main" noGrp="1"/>
          </p:cNvSpPr>
          <p:nvPr/>
        </p:nvSpPr>
        <p:spPr>
          <a:xfrm xmlns:a="http://schemas.openxmlformats.org/drawingml/2006/main">
            <a:off x="609600" y="2466975"/>
            <a:ext cx="109728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供应商对称，先验合规概率为 e∈[1/2,1]。</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基准模型中 e 外生给定，供应商不主动选择责任努力。</a:t>
            </a:r>
          </a:p>
        </p:txBody>
      </p:sp>
      <p:sp>
        <p:nvSpPr>
          <p:cNvPr id="7" name="解释-3">
            <a:extLst xmlns:a="http://schemas.openxmlformats.org/drawingml/2006/main">
              <a:ext uri="{FF2B5EF4-FFF2-40B4-BE49-F238E27FC236}">
                <a16:creationId xmlns:a16="http://schemas.microsoft.com/office/drawing/2014/main" id="{8893A6D4-B03C-482E-989A-AE9140BD47E0}"/>
              </a:ext>
            </a:extLst>
          </p:cNvPr>
          <p:cNvSpPr>
            <a:spLocks xmlns:a="http://schemas.openxmlformats.org/drawingml/2006/main" noGrp="1"/>
          </p:cNvSpPr>
          <p:nvPr/>
        </p:nvSpPr>
        <p:spPr>
          <a:xfrm xmlns:a="http://schemas.openxmlformats.org/drawingml/2006/main">
            <a:off x="609600" y="36195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扣除治理成本与实际经济损害后，买方的实现状态利润为</a:t>
            </a:r>
          </a:p>
        </p:txBody>
      </p:sp>
      <p:pic>
        <p:nvPicPr>
          <p:cNvPr id="8" name="">
            <a:extLst xmlns:a="http://schemas.openxmlformats.org/drawingml/2006/main">
              <a:ext uri="{FF2B5EF4-FFF2-40B4-BE49-F238E27FC236}">
                <a16:creationId xmlns:a16="http://schemas.microsoft.com/office/drawing/2014/main" id="{DF007479-82A2-4789-BD51-42385A027957}"/>
              </a:ext>
            </a:extLst>
          </p:cNvPr>
          <p:cNvPicPr>
            <a:picLocks xmlns:a="http://schemas.openxmlformats.org/drawingml/2006/main" noChangeAspect="1"/>
          </p:cNvPicPr>
          <p:nvPr/>
        </p:nvPicPr>
        <p:blipFill>
          <a:blip xmlns:r="http://schemas.openxmlformats.org/officeDocument/2006/relationships" xmlns:a="http://schemas.openxmlformats.org/drawingml/2006/main" r:embed="Rf882fe179abc4072"/>
          <a:stretch xmlns:a="http://schemas.openxmlformats.org/drawingml/2006/main"/>
        </p:blipFill>
        <p:spPr>
          <a:xfrm xmlns:a="http://schemas.openxmlformats.org/drawingml/2006/main">
            <a:off x="1912420" y="4191000"/>
            <a:ext cx="8367160" cy="781050"/>
          </a:xfrm>
          <a:prstGeom xmlns:a="http://schemas.openxmlformats.org/drawingml/2006/main" prst="rect">
            <a:avLst/>
          </a:prstGeom>
        </p:spPr>
      </p:pic>
      <p:sp>
        <p:nvSpPr>
          <p:cNvPr id="9" name="解释-4">
            <a:extLst xmlns:a="http://schemas.openxmlformats.org/drawingml/2006/main">
              <a:ext uri="{FF2B5EF4-FFF2-40B4-BE49-F238E27FC236}">
                <a16:creationId xmlns:a16="http://schemas.microsoft.com/office/drawing/2014/main" id="{67AED706-6912-43B4-8712-B7738C6A58DD}"/>
              </a:ext>
            </a:extLst>
          </p:cNvPr>
          <p:cNvSpPr>
            <a:spLocks xmlns:a="http://schemas.openxmlformats.org/drawingml/2006/main" noGrp="1"/>
          </p:cNvSpPr>
          <p:nvPr/>
        </p:nvSpPr>
        <p:spPr>
          <a:xfrm xmlns:a="http://schemas.openxmlformats.org/drawingml/2006/main">
            <a:off x="609600" y="5229225"/>
            <a:ext cx="1097280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0">
                <a:solidFill>
                  <a:srgbClr val="111111"/>
                </a:solidFill>
                <a:latin typeface="Noto Sans CJK SC"/>
                <a:ea typeface="Noto Sans CJK SC"/>
                <a:cs typeface="Noto Sans CJK SC"/>
              </a:defRPr>
            </a:defPPr>
          </a:lstStyle>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nₛ、nᵣ：被替换、被整改的供应商数量。</a:t>
            </a:r>
          </a:p>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nα、nβ：第一类、第二类损害实际发生的次数。</a:t>
            </a:r>
          </a:p>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Π：尚未扣除治理与损害的最大交易利润。</a:t>
            </a:r>
          </a:p>
        </p:txBody>
      </p:sp>
      <p:sp>
        <p:nvSpPr>
          <p:cNvPr id="10" name="解释-5">
            <a:extLst xmlns:a="http://schemas.openxmlformats.org/drawingml/2006/main">
              <a:ext uri="{FF2B5EF4-FFF2-40B4-BE49-F238E27FC236}">
                <a16:creationId xmlns:a16="http://schemas.microsoft.com/office/drawing/2014/main" id="{77A8B3A5-FE82-48F2-81E6-FA5F6B76BAAE}"/>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§3，pp. 5–6，Eq. (1)</a:t>
            </a:r>
          </a:p>
        </p:txBody>
      </p:sp>
      <p:sp>
        <p:nvSpPr>
          <p:cNvPr id="11" name="解释-6">
            <a:extLst xmlns:a="http://schemas.openxmlformats.org/drawingml/2006/main">
              <a:ext uri="{FF2B5EF4-FFF2-40B4-BE49-F238E27FC236}">
                <a16:creationId xmlns:a16="http://schemas.microsoft.com/office/drawing/2014/main" id="{80282C15-2BBA-43D2-99D4-A0BF43D30D69}"/>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7</a:t>
            </a:r>
          </a:p>
        </p:txBody>
      </p:sp>
    </p:spTree>
    <p:extLst>
      <p:ext uri="{BB962C8B-B14F-4D97-AF65-F5344CB8AC3E}">
        <p14:creationId xmlns:p14="http://schemas.microsoft.com/office/powerpoint/2010/main" val="659792972"/>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80FAB36F-243B-42A1-9B8B-A6D582ACC0E9}"/>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四、模型构建：核心参数与假设</a:t>
            </a:r>
          </a:p>
        </p:txBody>
      </p:sp>
      <p:graphicFrame>
        <p:nvGraphicFramePr>
          <p:cNvPr id="2" name="">
            <a:extLst xmlns:a="http://schemas.openxmlformats.org/drawingml/2006/main">
              <a:ext uri="{FF2B5EF4-FFF2-40B4-BE49-F238E27FC236}">
                <a16:creationId xmlns:a16="http://schemas.microsoft.com/office/drawing/2014/main" id="{4EB7702C-149F-41F2-9F47-AF207591F061}"/>
              </a:ext>
            </a:extLst>
          </p:cNvPr>
          <p:cNvGraphicFramePr/>
          <p:nvPr/>
        </p:nvGraphicFramePr>
        <p:xfrm>
          <a:off xmlns:a="http://schemas.openxmlformats.org/drawingml/2006/main" x="609600" y="1914525"/>
          <a:ext xmlns:a="http://schemas.openxmlformats.org/drawingml/2006/main" cx="10972800" cy="3533775"/>
        </p:xfrm>
        <a:graphic xmlns:a="http://schemas.openxmlformats.org/drawingml/2006/main">
          <a:graphicData uri="http://schemas.openxmlformats.org/drawingml/2006/table">
            <a:tbl>
              <a:tblPr firstRow="1" bandRow="0"/>
              <a:tblGrid>
                <a:gridCol w="2247900"/>
                <a:gridCol w="4048125"/>
                <a:gridCol w="4676775"/>
              </a:tblGrid>
              <a:tr h="588963">
                <a:tc>
                  <a:txBody>
                    <a:bodyPr wrap="square">
                      <a:noAutofit/>
                    </a:bodyPr>
                    <a:lstStyle/>
                    <a:p>
                      <a:pPr algn="l">
                        <a:lnSpc>
                          <a:spcPct val="100000"/>
                        </a:lnSpc>
                        <a:buNone/>
                      </a:pPr>
                      <a:r>
                        <a:rPr sz="1875" b="1">
                          <a:solidFill>
                            <a:srgbClr val="587C95"/>
                          </a:solidFill>
                          <a:latin typeface="Noto Sans CJK SC"/>
                          <a:ea typeface="Noto Sans CJK SC"/>
                          <a:cs typeface="Noto Sans CJK SC"/>
                        </a:rPr>
                        <a:t>符号</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含义</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在决策中的作用</a:t>
                      </a:r>
                    </a:p>
                  </a:txBody>
                  <a:tcPr marL="95250" marR="95250" marT="66675" marB="66675" anchor="ctr">
                    <a:solidFill>
                      <a:srgbClr val="EDF2F5"/>
                    </a:solidFill>
                  </a:tcPr>
                </a:tc>
              </a:tr>
              <a:tr h="588963">
                <a:tc>
                  <a:txBody>
                    <a:bodyPr wrap="square">
                      <a:noAutofit/>
                    </a:bodyPr>
                    <a:lstStyle/>
                    <a:p>
                      <a:pPr algn="l">
                        <a:lnSpc>
                          <a:spcPct val="100000"/>
                        </a:lnSpc>
                        <a:buNone/>
                      </a:pPr>
                      <a:r>
                        <a:rPr sz="1875" b="0">
                          <a:solidFill>
                            <a:srgbClr val="111111"/>
                          </a:solidFill>
                          <a:latin typeface="Noto Sans CJK SC"/>
                          <a:ea typeface="Noto Sans CJK SC"/>
                          <a:cs typeface="Noto Sans CJK SC"/>
                        </a:rPr>
                        <a:t>xᵢ，oᵢ，fᵢ</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是否审计、审计结果、治理动作</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oᵢ=1 未通过，0 通过，∅ 未审计</a:t>
                      </a:r>
                    </a:p>
                  </a:txBody>
                  <a:tcPr marL="95250" marR="95250" marT="66675" marB="66675" anchor="ctr">
                    <a:solidFill>
                      <a:srgbClr val="FFFFFF"/>
                    </a:solidFill>
                  </a:tcPr>
                </a:tc>
              </a:tr>
              <a:tr h="588963">
                <a:tc>
                  <a:txBody>
                    <a:bodyPr wrap="square">
                      <a:noAutofit/>
                    </a:bodyPr>
                    <a:lstStyle/>
                    <a:p>
                      <a:pPr algn="l">
                        <a:lnSpc>
                          <a:spcPct val="100000"/>
                        </a:lnSpc>
                        <a:buNone/>
                      </a:pPr>
                      <a:r>
                        <a:rPr sz="1875" b="0">
                          <a:solidFill>
                            <a:srgbClr val="111111"/>
                          </a:solidFill>
                          <a:latin typeface="Noto Sans CJK SC"/>
                          <a:ea typeface="Noto Sans CJK SC"/>
                          <a:cs typeface="Noto Sans CJK SC"/>
                        </a:rPr>
                        <a:t>αᵢ，βᵢ，Aᵢ</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误报率、漏报率、整体准确度</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给定预算后，企业选择错误组合</a:t>
                      </a:r>
                    </a:p>
                  </a:txBody>
                  <a:tcPr marL="95250" marR="95250" marT="66675" marB="66675" anchor="ctr">
                    <a:solidFill>
                      <a:srgbClr val="FFFFFF"/>
                    </a:solidFill>
                  </a:tcPr>
                </a:tc>
              </a:tr>
              <a:tr h="588963">
                <a:tc>
                  <a:txBody>
                    <a:bodyPr wrap="square">
                      <a:noAutofit/>
                    </a:bodyPr>
                    <a:lstStyle/>
                    <a:p>
                      <a:pPr algn="l">
                        <a:lnSpc>
                          <a:spcPct val="100000"/>
                        </a:lnSpc>
                        <a:buNone/>
                      </a:pPr>
                      <a:r>
                        <a:rPr sz="1875" b="0">
                          <a:solidFill>
                            <a:srgbClr val="111111"/>
                          </a:solidFill>
                          <a:latin typeface="Noto Sans CJK SC"/>
                          <a:ea typeface="Noto Sans CJK SC"/>
                          <a:cs typeface="Noto Sans CJK SC"/>
                        </a:rPr>
                        <a:t>B，c</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预算、审计成本系数</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基准 c=1，成本为 cAᵢ²/2</a:t>
                      </a:r>
                    </a:p>
                  </a:txBody>
                  <a:tcPr marL="95250" marR="95250" marT="66675" marB="66675" anchor="ctr">
                    <a:solidFill>
                      <a:srgbClr val="FFFFFF"/>
                    </a:solidFill>
                  </a:tcPr>
                </a:tc>
              </a:tr>
              <a:tr h="588963">
                <a:tc>
                  <a:txBody>
                    <a:bodyPr wrap="square">
                      <a:noAutofit/>
                    </a:bodyPr>
                    <a:lstStyle/>
                    <a:p>
                      <a:pPr algn="l">
                        <a:lnSpc>
                          <a:spcPct val="100000"/>
                        </a:lnSpc>
                        <a:buNone/>
                      </a:pPr>
                      <a:r>
                        <a:rPr sz="1875" b="0">
                          <a:solidFill>
                            <a:srgbClr val="111111"/>
                          </a:solidFill>
                          <a:latin typeface="Noto Sans CJK SC"/>
                          <a:ea typeface="Noto Sans CJK SC"/>
                          <a:cs typeface="Noto Sans CJK SC"/>
                        </a:rPr>
                        <a:t>Δs，Δr</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买方替换成本、整改成本</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两种治理成功后都完全合规</a:t>
                      </a:r>
                    </a:p>
                  </a:txBody>
                  <a:tcPr marL="95250" marR="95250" marT="66675" marB="66675" anchor="ctr">
                    <a:solidFill>
                      <a:srgbClr val="FFFFFF"/>
                    </a:solidFill>
                  </a:tcPr>
                </a:tc>
              </a:tr>
              <a:tr h="588963">
                <a:tc>
                  <a:txBody>
                    <a:bodyPr wrap="square">
                      <a:noAutofit/>
                    </a:bodyPr>
                    <a:lstStyle/>
                    <a:p>
                      <a:pPr algn="l">
                        <a:lnSpc>
                          <a:spcPct val="100000"/>
                        </a:lnSpc>
                        <a:buNone/>
                      </a:pPr>
                      <a:r>
                        <a:rPr sz="1875" b="0">
                          <a:solidFill>
                            <a:srgbClr val="111111"/>
                          </a:solidFill>
                          <a:latin typeface="Noto Sans CJK SC"/>
                          <a:ea typeface="Noto Sans CJK SC"/>
                          <a:cs typeface="Noto Sans CJK SC"/>
                        </a:rPr>
                        <a:t>Dα，Dβ</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两类错误的预期经济损害</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Dα=rαD̃α，Dβ=rβD̃β</a:t>
                      </a:r>
                    </a:p>
                  </a:txBody>
                  <a:tcPr marL="95250" marR="95250" marT="66675" marB="66675" anchor="ctr">
                    <a:solidFill>
                      <a:srgbClr val="FFFFFF"/>
                    </a:solidFill>
                  </a:tcPr>
                </a:tc>
              </a:tr>
            </a:tbl>
          </a:graphicData>
        </a:graphic>
      </p:graphicFrame>
      <p:sp>
        <p:nvSpPr>
          <p:cNvPr id="3" name="解释-1">
            <a:extLst xmlns:a="http://schemas.openxmlformats.org/drawingml/2006/main">
              <a:ext uri="{FF2B5EF4-FFF2-40B4-BE49-F238E27FC236}">
                <a16:creationId xmlns:a16="http://schemas.microsoft.com/office/drawing/2014/main" id="{65C55B4E-7286-42D8-8383-E4A56179498F}"/>
              </a:ext>
            </a:extLst>
          </p:cNvPr>
          <p:cNvSpPr>
            <a:spLocks xmlns:a="http://schemas.openxmlformats.org/drawingml/2006/main" noGrp="1"/>
          </p:cNvSpPr>
          <p:nvPr/>
        </p:nvSpPr>
        <p:spPr>
          <a:xfrm xmlns:a="http://schemas.openxmlformats.org/drawingml/2006/main">
            <a:off x="609600" y="5705475"/>
            <a:ext cx="109728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模型假设：审计通过或未被审计时不治理。错误替换合规者才产生 Dα。</a:t>
            </a:r>
          </a:p>
        </p:txBody>
      </p:sp>
      <p:sp>
        <p:nvSpPr>
          <p:cNvPr id="4" name="解释-2">
            <a:extLst xmlns:a="http://schemas.openxmlformats.org/drawingml/2006/main">
              <a:ext uri="{FF2B5EF4-FFF2-40B4-BE49-F238E27FC236}">
                <a16:creationId xmlns:a16="http://schemas.microsoft.com/office/drawing/2014/main" id="{B534861B-8E87-4AFC-8511-E53C8644E185}"/>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§3，pp. 5–6；Appendix EC.4</a:t>
            </a:r>
          </a:p>
        </p:txBody>
      </p:sp>
      <p:sp>
        <p:nvSpPr>
          <p:cNvPr id="5" name="解释-3">
            <a:extLst xmlns:a="http://schemas.openxmlformats.org/drawingml/2006/main">
              <a:ext uri="{FF2B5EF4-FFF2-40B4-BE49-F238E27FC236}">
                <a16:creationId xmlns:a16="http://schemas.microsoft.com/office/drawing/2014/main" id="{68929BCD-9F8D-4439-BA46-768BF23D5E06}"/>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8</a:t>
            </a:r>
          </a:p>
        </p:txBody>
      </p:sp>
    </p:spTree>
    <p:extLst>
      <p:ext uri="{BB962C8B-B14F-4D97-AF65-F5344CB8AC3E}">
        <p14:creationId xmlns:p14="http://schemas.microsoft.com/office/powerpoint/2010/main" val="1318850458"/>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8" name="解释-0">
            <a:extLst xmlns:a="http://schemas.openxmlformats.org/drawingml/2006/main">
              <a:ext uri="{FF2B5EF4-FFF2-40B4-BE49-F238E27FC236}">
                <a16:creationId xmlns:a16="http://schemas.microsoft.com/office/drawing/2014/main" id="{C62DD5C8-E393-452E-9714-78ECE823B4CB}"/>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四、模型构建：审计误差与准确度</a:t>
            </a:r>
          </a:p>
        </p:txBody>
      </p:sp>
      <p:graphicFrame>
        <p:nvGraphicFramePr>
          <p:cNvPr id="2" name="">
            <a:extLst xmlns:a="http://schemas.openxmlformats.org/drawingml/2006/main">
              <a:ext uri="{FF2B5EF4-FFF2-40B4-BE49-F238E27FC236}">
                <a16:creationId xmlns:a16="http://schemas.microsoft.com/office/drawing/2014/main" id="{4700B454-BFEF-4C4A-B7E6-A7EC0FA9F74D}"/>
              </a:ext>
            </a:extLst>
          </p:cNvPr>
          <p:cNvGraphicFramePr/>
          <p:nvPr/>
        </p:nvGraphicFramePr>
        <p:xfrm>
          <a:off xmlns:a="http://schemas.openxmlformats.org/drawingml/2006/main" x="609600" y="1924050"/>
          <a:ext xmlns:a="http://schemas.openxmlformats.org/drawingml/2006/main" cx="10972800" cy="1866900"/>
        </p:xfrm>
        <a:graphic xmlns:a="http://schemas.openxmlformats.org/drawingml/2006/main">
          <a:graphicData uri="http://schemas.openxmlformats.org/drawingml/2006/table">
            <a:tbl>
              <a:tblPr firstRow="1" bandRow="0"/>
              <a:tblGrid>
                <a:gridCol w="3359209"/>
                <a:gridCol w="3802181"/>
                <a:gridCol w="3811410"/>
              </a:tblGrid>
              <a:tr h="622300">
                <a:tc>
                  <a:txBody>
                    <a:bodyPr wrap="square">
                      <a:noAutofit/>
                    </a:bodyPr>
                    <a:lstStyle/>
                    <a:p>
                      <a:pPr algn="l">
                        <a:lnSpc>
                          <a:spcPct val="100000"/>
                        </a:lnSpc>
                        <a:buNone/>
                      </a:pPr>
                      <a:r>
                        <a:rPr sz="2100" b="1">
                          <a:solidFill>
                            <a:srgbClr val="587C95"/>
                          </a:solidFill>
                          <a:latin typeface="Noto Sans CJK SC"/>
                          <a:ea typeface="Noto Sans CJK SC"/>
                          <a:cs typeface="Noto Sans CJK SC"/>
                        </a:rPr>
                        <a:t>真实状态</a:t>
                      </a:r>
                    </a:p>
                  </a:txBody>
                  <a:tcPr marL="95250" marR="95250" marT="66675" marB="66675" anchor="ctr">
                    <a:solidFill>
                      <a:srgbClr val="EDF2F5"/>
                    </a:solidFill>
                  </a:tcPr>
                </a:tc>
                <a:tc>
                  <a:txBody>
                    <a:bodyPr wrap="square">
                      <a:noAutofit/>
                    </a:bodyPr>
                    <a:lstStyle/>
                    <a:p>
                      <a:pPr algn="l">
                        <a:lnSpc>
                          <a:spcPct val="100000"/>
                        </a:lnSpc>
                        <a:buNone/>
                      </a:pPr>
                      <a:r>
                        <a:rPr sz="2100" b="1">
                          <a:solidFill>
                            <a:srgbClr val="587C95"/>
                          </a:solidFill>
                          <a:latin typeface="Noto Sans CJK SC"/>
                          <a:ea typeface="Noto Sans CJK SC"/>
                          <a:cs typeface="Noto Sans CJK SC"/>
                        </a:rPr>
                        <a:t>通过 oᵢ=0</a:t>
                      </a:r>
                    </a:p>
                  </a:txBody>
                  <a:tcPr marL="95250" marR="95250" marT="66675" marB="66675" anchor="ctr">
                    <a:solidFill>
                      <a:srgbClr val="EDF2F5"/>
                    </a:solidFill>
                  </a:tcPr>
                </a:tc>
                <a:tc>
                  <a:txBody>
                    <a:bodyPr wrap="square">
                      <a:noAutofit/>
                    </a:bodyPr>
                    <a:lstStyle/>
                    <a:p>
                      <a:pPr algn="l">
                        <a:lnSpc>
                          <a:spcPct val="100000"/>
                        </a:lnSpc>
                        <a:buNone/>
                      </a:pPr>
                      <a:r>
                        <a:rPr sz="2100" b="1">
                          <a:solidFill>
                            <a:srgbClr val="587C95"/>
                          </a:solidFill>
                          <a:latin typeface="Noto Sans CJK SC"/>
                          <a:ea typeface="Noto Sans CJK SC"/>
                          <a:cs typeface="Noto Sans CJK SC"/>
                        </a:rPr>
                        <a:t>未通过 oᵢ=1</a:t>
                      </a:r>
                    </a:p>
                  </a:txBody>
                  <a:tcPr marL="95250" marR="95250" marT="66675" marB="66675" anchor="ctr">
                    <a:solidFill>
                      <a:srgbClr val="EDF2F5"/>
                    </a:solidFill>
                  </a:tcPr>
                </a:tc>
              </a:tr>
              <a:tr h="622300">
                <a:tc>
                  <a:txBody>
                    <a:bodyPr wrap="square">
                      <a:noAutofit/>
                    </a:bodyPr>
                    <a:lstStyle/>
                    <a:p>
                      <a:pPr algn="l">
                        <a:lnSpc>
                          <a:spcPct val="100000"/>
                        </a:lnSpc>
                        <a:buNone/>
                      </a:pPr>
                      <a:r>
                        <a:rPr sz="2100" b="0">
                          <a:solidFill>
                            <a:srgbClr val="111111"/>
                          </a:solidFill>
                          <a:latin typeface="Noto Sans CJK SC"/>
                          <a:ea typeface="Noto Sans CJK SC"/>
                          <a:cs typeface="Noto Sans CJK SC"/>
                        </a:rPr>
                        <a:t>合规，概率 e</a:t>
                      </a:r>
                    </a:p>
                  </a:txBody>
                  <a:tcPr marL="95250" marR="95250" marT="66675" marB="66675" anchor="ctr">
                    <a:solidFill>
                      <a:srgbClr val="FFFFFF"/>
                    </a:solidFill>
                  </a:tcPr>
                </a:tc>
                <a:tc>
                  <a:txBody>
                    <a:bodyPr wrap="square">
                      <a:noAutofit/>
                    </a:bodyPr>
                    <a:lstStyle/>
                    <a:p>
                      <a:pPr algn="l">
                        <a:lnSpc>
                          <a:spcPct val="100000"/>
                        </a:lnSpc>
                        <a:buNone/>
                      </a:pPr>
                      <a:r>
                        <a:rPr sz="2100" b="0">
                          <a:solidFill>
                            <a:srgbClr val="111111"/>
                          </a:solidFill>
                          <a:latin typeface="Noto Sans CJK SC"/>
                          <a:ea typeface="Noto Sans CJK SC"/>
                          <a:cs typeface="Noto Sans CJK SC"/>
                        </a:rPr>
                        <a:t>正确通过：1−αᵢ</a:t>
                      </a:r>
                    </a:p>
                  </a:txBody>
                  <a:tcPr marL="95250" marR="95250" marT="66675" marB="66675" anchor="ctr">
                    <a:solidFill>
                      <a:srgbClr val="FFFFFF"/>
                    </a:solidFill>
                  </a:tcPr>
                </a:tc>
                <a:tc>
                  <a:txBody>
                    <a:bodyPr wrap="square">
                      <a:noAutofit/>
                    </a:bodyPr>
                    <a:lstStyle/>
                    <a:p>
                      <a:pPr algn="l">
                        <a:lnSpc>
                          <a:spcPct val="100000"/>
                        </a:lnSpc>
                        <a:buNone/>
                      </a:pPr>
                      <a:r>
                        <a:rPr sz="2100" b="0">
                          <a:solidFill>
                            <a:srgbClr val="111111"/>
                          </a:solidFill>
                          <a:latin typeface="Noto Sans CJK SC"/>
                          <a:ea typeface="Noto Sans CJK SC"/>
                          <a:cs typeface="Noto Sans CJK SC"/>
                        </a:rPr>
                        <a:t>误报：αᵢ</a:t>
                      </a:r>
                    </a:p>
                  </a:txBody>
                  <a:tcPr marL="95250" marR="95250" marT="66675" marB="66675" anchor="ctr">
                    <a:solidFill>
                      <a:srgbClr val="FFFFFF"/>
                    </a:solidFill>
                  </a:tcPr>
                </a:tc>
              </a:tr>
              <a:tr h="622300">
                <a:tc>
                  <a:txBody>
                    <a:bodyPr wrap="square">
                      <a:noAutofit/>
                    </a:bodyPr>
                    <a:lstStyle/>
                    <a:p>
                      <a:pPr algn="l">
                        <a:lnSpc>
                          <a:spcPct val="100000"/>
                        </a:lnSpc>
                        <a:buNone/>
                      </a:pPr>
                      <a:r>
                        <a:rPr sz="2100" b="0">
                          <a:solidFill>
                            <a:srgbClr val="111111"/>
                          </a:solidFill>
                          <a:latin typeface="Noto Sans CJK SC"/>
                          <a:ea typeface="Noto Sans CJK SC"/>
                          <a:cs typeface="Noto Sans CJK SC"/>
                        </a:rPr>
                        <a:t>违规，概率 1−e</a:t>
                      </a:r>
                    </a:p>
                  </a:txBody>
                  <a:tcPr marL="95250" marR="95250" marT="66675" marB="66675" anchor="ctr">
                    <a:solidFill>
                      <a:srgbClr val="FFFFFF"/>
                    </a:solidFill>
                  </a:tcPr>
                </a:tc>
                <a:tc>
                  <a:txBody>
                    <a:bodyPr wrap="square">
                      <a:noAutofit/>
                    </a:bodyPr>
                    <a:lstStyle/>
                    <a:p>
                      <a:pPr algn="l">
                        <a:lnSpc>
                          <a:spcPct val="100000"/>
                        </a:lnSpc>
                        <a:buNone/>
                      </a:pPr>
                      <a:r>
                        <a:rPr sz="2100" b="0">
                          <a:solidFill>
                            <a:srgbClr val="111111"/>
                          </a:solidFill>
                          <a:latin typeface="Noto Sans CJK SC"/>
                          <a:ea typeface="Noto Sans CJK SC"/>
                          <a:cs typeface="Noto Sans CJK SC"/>
                        </a:rPr>
                        <a:t>漏报：βᵢ</a:t>
                      </a:r>
                    </a:p>
                  </a:txBody>
                  <a:tcPr marL="95250" marR="95250" marT="66675" marB="66675" anchor="ctr">
                    <a:solidFill>
                      <a:srgbClr val="FFFFFF"/>
                    </a:solidFill>
                  </a:tcPr>
                </a:tc>
                <a:tc>
                  <a:txBody>
                    <a:bodyPr wrap="square">
                      <a:noAutofit/>
                    </a:bodyPr>
                    <a:lstStyle/>
                    <a:p>
                      <a:pPr algn="l">
                        <a:lnSpc>
                          <a:spcPct val="100000"/>
                        </a:lnSpc>
                        <a:buNone/>
                      </a:pPr>
                      <a:r>
                        <a:rPr sz="2100" b="0">
                          <a:solidFill>
                            <a:srgbClr val="111111"/>
                          </a:solidFill>
                          <a:latin typeface="Noto Sans CJK SC"/>
                          <a:ea typeface="Noto Sans CJK SC"/>
                          <a:cs typeface="Noto Sans CJK SC"/>
                        </a:rPr>
                        <a:t>正确发现：1−βᵢ</a:t>
                      </a:r>
                    </a:p>
                  </a:txBody>
                  <a:tcPr marL="95250" marR="95250" marT="66675" marB="66675" anchor="ctr">
                    <a:solidFill>
                      <a:srgbClr val="FFFFFF"/>
                    </a:solidFill>
                  </a:tcPr>
                </a:tc>
              </a:tr>
            </a:tbl>
          </a:graphicData>
        </a:graphic>
      </p:graphicFrame>
      <p:pic>
        <p:nvPicPr>
          <p:cNvPr id="3" name="">
            <a:extLst xmlns:a="http://schemas.openxmlformats.org/drawingml/2006/main">
              <a:ext uri="{FF2B5EF4-FFF2-40B4-BE49-F238E27FC236}">
                <a16:creationId xmlns:a16="http://schemas.microsoft.com/office/drawing/2014/main" id="{778C3D77-A2FC-4850-975F-07FE33CCD89F}"/>
              </a:ext>
            </a:extLst>
          </p:cNvPr>
          <p:cNvPicPr>
            <a:picLocks xmlns:a="http://schemas.openxmlformats.org/drawingml/2006/main" noChangeAspect="1"/>
          </p:cNvPicPr>
          <p:nvPr/>
        </p:nvPicPr>
        <p:blipFill>
          <a:blip xmlns:r="http://schemas.openxmlformats.org/officeDocument/2006/relationships" xmlns:a="http://schemas.openxmlformats.org/drawingml/2006/main" r:embed="R9efb030eb1ed4e6d"/>
          <a:stretch xmlns:a="http://schemas.openxmlformats.org/drawingml/2006/main"/>
        </p:blipFill>
        <p:spPr>
          <a:xfrm xmlns:a="http://schemas.openxmlformats.org/drawingml/2006/main">
            <a:off x="781050" y="4254686"/>
            <a:ext cx="10629900" cy="539378"/>
          </a:xfrm>
          <a:prstGeom xmlns:a="http://schemas.openxmlformats.org/drawingml/2006/main" prst="rect">
            <a:avLst/>
          </a:prstGeom>
        </p:spPr>
      </p:pic>
      <p:sp>
        <p:nvSpPr>
          <p:cNvPr id="4" name="解释-1">
            <a:extLst xmlns:a="http://schemas.openxmlformats.org/drawingml/2006/main">
              <a:ext uri="{FF2B5EF4-FFF2-40B4-BE49-F238E27FC236}">
                <a16:creationId xmlns:a16="http://schemas.microsoft.com/office/drawing/2014/main" id="{E61E49DD-F799-41F9-905F-FBEF010295B4}"/>
              </a:ext>
            </a:extLst>
          </p:cNvPr>
          <p:cNvSpPr>
            <a:spLocks xmlns:a="http://schemas.openxmlformats.org/drawingml/2006/main" noGrp="1"/>
          </p:cNvSpPr>
          <p:nvPr/>
        </p:nvSpPr>
        <p:spPr>
          <a:xfrm xmlns:a="http://schemas.openxmlformats.org/drawingml/2006/main">
            <a:off x="609600" y="5086350"/>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α、β 都是条件概率，eα 与 (1−e)β 才是两类错误的总体概率。</a:t>
            </a:r>
          </a:p>
        </p:txBody>
      </p:sp>
      <p:sp>
        <p:nvSpPr>
          <p:cNvPr id="5" name="解释-2">
            <a:extLst xmlns:a="http://schemas.openxmlformats.org/drawingml/2006/main">
              <a:ext uri="{FF2B5EF4-FFF2-40B4-BE49-F238E27FC236}">
                <a16:creationId xmlns:a16="http://schemas.microsoft.com/office/drawing/2014/main" id="{F34391C3-5D14-4AA8-80EC-72A52CBCA9DC}"/>
              </a:ext>
            </a:extLst>
          </p:cNvPr>
          <p:cNvSpPr>
            <a:spLocks xmlns:a="http://schemas.openxmlformats.org/drawingml/2006/main" noGrp="1"/>
          </p:cNvSpPr>
          <p:nvPr/>
        </p:nvSpPr>
        <p:spPr>
          <a:xfrm xmlns:a="http://schemas.openxmlformats.org/drawingml/2006/main">
            <a:off x="609600" y="5772150"/>
            <a:ext cx="10972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固定准确度 A 时，降低一种错误会增加另一种错误。有效审计要求 A≥e。</a:t>
            </a:r>
          </a:p>
        </p:txBody>
      </p:sp>
      <p:sp>
        <p:nvSpPr>
          <p:cNvPr id="6" name="解释-3">
            <a:extLst xmlns:a="http://schemas.openxmlformats.org/drawingml/2006/main">
              <a:ext uri="{FF2B5EF4-FFF2-40B4-BE49-F238E27FC236}">
                <a16:creationId xmlns:a16="http://schemas.microsoft.com/office/drawing/2014/main" id="{9F0568D3-F22F-4C47-8CC1-05164900B689}"/>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 5</a:t>
            </a:r>
          </a:p>
        </p:txBody>
      </p:sp>
      <p:sp>
        <p:nvSpPr>
          <p:cNvPr id="7" name="解释-4">
            <a:extLst xmlns:a="http://schemas.openxmlformats.org/drawingml/2006/main">
              <a:ext uri="{FF2B5EF4-FFF2-40B4-BE49-F238E27FC236}">
                <a16:creationId xmlns:a16="http://schemas.microsoft.com/office/drawing/2014/main" id="{A73BA0C4-C7BA-4E8B-96F6-39BE64AD993D}"/>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9</a:t>
            </a:r>
          </a:p>
        </p:txBody>
      </p:sp>
    </p:spTree>
    <p:extLst>
      <p:ext uri="{BB962C8B-B14F-4D97-AF65-F5344CB8AC3E}">
        <p14:creationId xmlns:p14="http://schemas.microsoft.com/office/powerpoint/2010/main" val="1693228572"/>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7" name="文本框 6">
            <a:extLst xmlns:a="http://schemas.openxmlformats.org/drawingml/2006/main">
              <a:ext uri="{FF2B5EF4-FFF2-40B4-BE49-F238E27FC236}">
                <a16:creationId xmlns:a16="http://schemas.microsoft.com/office/drawing/2014/main" id="{02E81F0E-2EDF-498B-B094-A5F5A3BBAACC}"/>
              </a:ext>
            </a:extLst>
          </p:cNvPr>
          <p:cNvSpPr>
            <a:spLocks xmlns:a="http://schemas.openxmlformats.org/drawingml/2006/main" noGrp="1"/>
          </p:cNvSpPr>
          <p:nvPr/>
        </p:nvSpPr>
        <p:spPr>
          <a:xfrm xmlns:a="http://schemas.openxmlformats.org/drawingml/2006/main">
            <a:off x="609600" y="1714500"/>
            <a:ext cx="10972800" cy="657225"/>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950" b="0">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审计：选择对象与误差组合。治理：未通过后整改或替换。</a:t>
            </a:r>
            <a:endParaRPr sz="1600">
              <a:latin typeface="微软雅黑"/>
              <a:ea typeface="微软雅黑"/>
              <a:cs typeface="微软雅黑"/>
            </a:endParaRPr>
          </a:p>
          <a:p xmlns:a="http://schemas.openxmlformats.org/drawingml/2006/main">
            <a:pPr marL="0" indent="0"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交易：获得利润，承担可能公开暴露的损害。</a:t>
            </a:r>
            <a:endParaRPr sz="1600">
              <a:latin typeface="微软雅黑"/>
              <a:ea typeface="微软雅黑"/>
              <a:cs typeface="微软雅黑"/>
            </a:endParaRPr>
          </a:p>
        </p:txBody>
      </p:sp>
      <p:sp>
        <p:nvSpPr>
          <p:cNvPr id="2" name="文本框 1">
            <a:extLst xmlns:a="http://schemas.openxmlformats.org/drawingml/2006/main">
              <a:ext uri="{FF2B5EF4-FFF2-40B4-BE49-F238E27FC236}">
                <a16:creationId xmlns:a16="http://schemas.microsoft.com/office/drawing/2014/main" id="{34339CE2-0E3F-45D9-ADBE-CEF72366D21A}"/>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四、模型构建：事件顺序</a:t>
            </a:r>
            <a:endParaRPr sz="3000" b="1" i="0" u="none" strike="noStrike" kern="0" cap="none" spc="75" baseline="0">
              <a:latin typeface="微软雅黑"/>
              <a:ea typeface="微软雅黑"/>
              <a:cs typeface="微软雅黑"/>
            </a:endParaRPr>
          </a:p>
        </p:txBody>
      </p:sp>
      <p:pic>
        <p:nvPicPr>
          <p:cNvPr id="8" name="">
            <a:extLst xmlns:a="http://schemas.openxmlformats.org/drawingml/2006/main">
              <a:ext uri="{FF2B5EF4-FFF2-40B4-BE49-F238E27FC236}">
                <a16:creationId xmlns:a16="http://schemas.microsoft.com/office/drawing/2014/main" id="{1C88D539-EE77-4AC8-AAA6-1EC829A6EA1A}"/>
              </a:ext>
            </a:extLst>
          </p:cNvPr>
          <p:cNvPicPr>
            <a:picLocks xmlns:a="http://schemas.openxmlformats.org/drawingml/2006/main" noChangeAspect="1"/>
          </p:cNvPicPr>
          <p:nvPr/>
        </p:nvPicPr>
        <p:blipFill>
          <a:blip xmlns:r="http://schemas.openxmlformats.org/officeDocument/2006/relationships" xmlns:a="http://schemas.openxmlformats.org/drawingml/2006/main" r:embed="R8f5093a318e042ab"/>
          <a:stretch xmlns:a="http://schemas.openxmlformats.org/drawingml/2006/main"/>
        </p:blipFill>
        <p:spPr>
          <a:xfrm xmlns:a="http://schemas.openxmlformats.org/drawingml/2006/main">
            <a:off x="2517213" y="2495550"/>
            <a:ext cx="7157573" cy="3933825"/>
          </a:xfrm>
          <a:prstGeom xmlns:a="http://schemas.openxmlformats.org/drawingml/2006/main" prst="rect">
            <a:avLst/>
          </a:prstGeom>
        </p:spPr>
      </p:pic>
      <p:sp>
        <p:nvSpPr>
          <p:cNvPr id="9" name="解释-2">
            <a:extLst xmlns:a="http://schemas.openxmlformats.org/drawingml/2006/main">
              <a:ext uri="{FF2B5EF4-FFF2-40B4-BE49-F238E27FC236}">
                <a16:creationId xmlns:a16="http://schemas.microsoft.com/office/drawing/2014/main" id="{75714DEC-E032-4D6F-BB90-A047CBF2695B}"/>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§3，pp. 6–7，Figure 1</a:t>
            </a:r>
          </a:p>
        </p:txBody>
      </p:sp>
      <p:sp>
        <p:nvSpPr>
          <p:cNvPr id="10" name="解释-3">
            <a:extLst xmlns:a="http://schemas.openxmlformats.org/drawingml/2006/main">
              <a:ext uri="{FF2B5EF4-FFF2-40B4-BE49-F238E27FC236}">
                <a16:creationId xmlns:a16="http://schemas.microsoft.com/office/drawing/2014/main" id="{75327796-4288-415D-B892-EBF81EB4295B}"/>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10</a:t>
            </a:r>
          </a:p>
        </p:txBody>
      </p:sp>
    </p:spTree>
    <p:extLst>
      <p:ext uri="{BB962C8B-B14F-4D97-AF65-F5344CB8AC3E}">
        <p14:creationId xmlns:p14="http://schemas.microsoft.com/office/powerpoint/2010/main" val="208902939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10" name="文本框 9">
            <a:extLst xmlns:a="http://schemas.openxmlformats.org/drawingml/2006/main">
              <a:ext uri="{FF2B5EF4-FFF2-40B4-BE49-F238E27FC236}">
                <a16:creationId xmlns:a16="http://schemas.microsoft.com/office/drawing/2014/main" id="{68338B80-44FB-4823-B1EC-2E50209F3049}"/>
              </a:ext>
            </a:extLst>
          </p:cNvPr>
          <p:cNvSpPr>
            <a:spLocks xmlns:a="http://schemas.openxmlformats.org/drawingml/2006/main" noGrp="1"/>
          </p:cNvSpPr>
          <p:nvPr/>
        </p:nvSpPr>
        <p:spPr>
          <a:xfrm xmlns:a="http://schemas.openxmlformats.org/drawingml/2006/main">
            <a:off x="609600" y="2609850"/>
            <a:ext cx="10972800" cy="375361"/>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725" b="0">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1725" b="0">
                <a:solidFill>
                  <a:srgbClr val="111111"/>
                </a:solidFill>
                <a:latin typeface="Noto Sans CJK SC"/>
                <a:ea typeface="Noto Sans CJK SC"/>
                <a:cs typeface="Noto Sans CJK SC"/>
              </a:defRPr>
            </a:pPr>
            <a:r>
              <a:rPr sz="1725" b="0">
                <a:solidFill>
                  <a:srgbClr val="111111"/>
                </a:solidFill>
                <a:latin typeface="Noto Sans CJK SC"/>
                <a:ea typeface="Noto Sans CJK SC"/>
                <a:cs typeface="Noto Sans CJK SC"/>
              </a:rPr>
              <a:t>Pr(C | o=1)：未通过者中实际合规的比例，其中 C 表示合规状态。</a:t>
            </a:r>
            <a:endParaRPr sz="1800">
              <a:latin typeface="微软雅黑"/>
              <a:ea typeface="微软雅黑"/>
              <a:cs typeface="微软雅黑"/>
            </a:endParaRPr>
          </a:p>
        </p:txBody>
      </p:sp>
      <p:sp>
        <p:nvSpPr>
          <p:cNvPr id="2" name="文本框 1">
            <a:extLst xmlns:a="http://schemas.openxmlformats.org/drawingml/2006/main">
              <a:ext uri="{FF2B5EF4-FFF2-40B4-BE49-F238E27FC236}">
                <a16:creationId xmlns:a16="http://schemas.microsoft.com/office/drawing/2014/main" id="{5F1045F9-CE26-4FC7-9C93-F1F030337B88}"/>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五、基准分析：未通过后的治理选择</a:t>
            </a:r>
            <a:endParaRPr sz="3000" b="1" i="0" u="none" strike="noStrike" kern="0" cap="none" spc="75" baseline="0">
              <a:latin typeface="微软雅黑"/>
              <a:ea typeface="微软雅黑"/>
              <a:cs typeface="微软雅黑"/>
            </a:endParaRPr>
          </a:p>
        </p:txBody>
      </p:sp>
      <p:pic>
        <p:nvPicPr>
          <p:cNvPr id="11" name="">
            <a:extLst xmlns:a="http://schemas.openxmlformats.org/drawingml/2006/main">
              <a:ext uri="{FF2B5EF4-FFF2-40B4-BE49-F238E27FC236}">
                <a16:creationId xmlns:a16="http://schemas.microsoft.com/office/drawing/2014/main" id="{7403906F-0E3E-4385-B196-CE6EABDCBAEC}"/>
              </a:ext>
            </a:extLst>
          </p:cNvPr>
          <p:cNvPicPr>
            <a:picLocks xmlns:a="http://schemas.openxmlformats.org/drawingml/2006/main" noChangeAspect="1"/>
          </p:cNvPicPr>
          <p:nvPr/>
        </p:nvPicPr>
        <p:blipFill>
          <a:blip xmlns:r="http://schemas.openxmlformats.org/officeDocument/2006/relationships" xmlns:a="http://schemas.openxmlformats.org/drawingml/2006/main" r:embed="Rc3af649f49e54ece"/>
          <a:stretch xmlns:a="http://schemas.openxmlformats.org/drawingml/2006/main"/>
        </p:blipFill>
        <p:spPr>
          <a:xfrm xmlns:a="http://schemas.openxmlformats.org/drawingml/2006/main">
            <a:off x="1666121" y="1885950"/>
            <a:ext cx="8859757" cy="61912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1C1CAC8B-6F47-4E53-B9A3-74473D5FC4A7}"/>
              </a:ext>
            </a:extLst>
          </p:cNvPr>
          <p:cNvPicPr>
            <a:picLocks xmlns:a="http://schemas.openxmlformats.org/drawingml/2006/main" noChangeAspect="1"/>
          </p:cNvPicPr>
          <p:nvPr/>
        </p:nvPicPr>
        <p:blipFill>
          <a:blip xmlns:r="http://schemas.openxmlformats.org/officeDocument/2006/relationships" xmlns:a="http://schemas.openxmlformats.org/drawingml/2006/main" r:embed="R0a8dbd3f6bf54ead"/>
          <a:stretch xmlns:a="http://schemas.openxmlformats.org/drawingml/2006/main"/>
        </p:blipFill>
        <p:spPr>
          <a:xfrm xmlns:a="http://schemas.openxmlformats.org/drawingml/2006/main">
            <a:off x="4341466" y="2981325"/>
            <a:ext cx="3509068" cy="600075"/>
          </a:xfrm>
          <a:prstGeom xmlns:a="http://schemas.openxmlformats.org/drawingml/2006/main" prst="rect">
            <a:avLst/>
          </a:prstGeom>
        </p:spPr>
      </p:pic>
      <p:graphicFrame>
        <p:nvGraphicFramePr>
          <p:cNvPr id="13" name="">
            <a:extLst xmlns:a="http://schemas.openxmlformats.org/drawingml/2006/main">
              <a:ext uri="{FF2B5EF4-FFF2-40B4-BE49-F238E27FC236}">
                <a16:creationId xmlns:a16="http://schemas.microsoft.com/office/drawing/2014/main" id="{1C941BC9-5097-455B-83A4-2F58EDE63D98}"/>
              </a:ext>
            </a:extLst>
          </p:cNvPr>
          <p:cNvGraphicFramePr/>
          <p:nvPr/>
        </p:nvGraphicFramePr>
        <p:xfrm>
          <a:off xmlns:a="http://schemas.openxmlformats.org/drawingml/2006/main" x="609600" y="3905250"/>
          <a:ext xmlns:a="http://schemas.openxmlformats.org/drawingml/2006/main" cx="10972800" cy="1524000"/>
        </p:xfrm>
        <a:graphic xmlns:a="http://schemas.openxmlformats.org/drawingml/2006/main">
          <a:graphicData uri="http://schemas.openxmlformats.org/drawingml/2006/table">
            <a:tbl>
              <a:tblPr firstRow="1" bandRow="0"/>
              <a:tblGrid>
                <a:gridCol w="2344063"/>
                <a:gridCol w="4014439"/>
                <a:gridCol w="4614298"/>
              </a:tblGrid>
              <a:tr h="508000">
                <a:tc>
                  <a:txBody>
                    <a:bodyPr wrap="square">
                      <a:noAutofit/>
                    </a:bodyPr>
                    <a:lstStyle/>
                    <a:p>
                      <a:pPr algn="l">
                        <a:lnSpc>
                          <a:spcPct val="100000"/>
                        </a:lnSpc>
                        <a:buNone/>
                      </a:pPr>
                      <a:r>
                        <a:rPr sz="2025" b="1">
                          <a:solidFill>
                            <a:srgbClr val="587C95"/>
                          </a:solidFill>
                          <a:latin typeface="Noto Sans CJK SC"/>
                          <a:ea typeface="Noto Sans CJK SC"/>
                          <a:cs typeface="Noto Sans CJK SC"/>
                        </a:rPr>
                        <a:t>失败后动作</a:t>
                      </a:r>
                    </a:p>
                  </a:txBody>
                  <a:tcPr marL="95250" marR="95250" marT="66675" marB="66675" anchor="ctr">
                    <a:solidFill>
                      <a:srgbClr val="EDF2F5"/>
                    </a:solidFill>
                  </a:tcPr>
                </a:tc>
                <a:tc>
                  <a:txBody>
                    <a:bodyPr wrap="square">
                      <a:noAutofit/>
                    </a:bodyPr>
                    <a:lstStyle/>
                    <a:p>
                      <a:pPr algn="l">
                        <a:lnSpc>
                          <a:spcPct val="100000"/>
                        </a:lnSpc>
                        <a:buNone/>
                      </a:pPr>
                      <a:r>
                        <a:rPr sz="2025" b="1">
                          <a:solidFill>
                            <a:srgbClr val="587C95"/>
                          </a:solidFill>
                          <a:latin typeface="Noto Sans CJK SC"/>
                          <a:ea typeface="Noto Sans CJK SC"/>
                          <a:cs typeface="Noto Sans CJK SC"/>
                        </a:rPr>
                        <a:t>条件期望成本</a:t>
                      </a:r>
                    </a:p>
                  </a:txBody>
                  <a:tcPr marL="95250" marR="95250" marT="66675" marB="66675" anchor="ctr">
                    <a:solidFill>
                      <a:srgbClr val="EDF2F5"/>
                    </a:solidFill>
                  </a:tcPr>
                </a:tc>
                <a:tc>
                  <a:txBody>
                    <a:bodyPr wrap="square">
                      <a:noAutofit/>
                    </a:bodyPr>
                    <a:lstStyle/>
                    <a:p>
                      <a:pPr algn="l">
                        <a:lnSpc>
                          <a:spcPct val="100000"/>
                        </a:lnSpc>
                        <a:buNone/>
                      </a:pPr>
                      <a:r>
                        <a:rPr sz="2025" b="1">
                          <a:solidFill>
                            <a:srgbClr val="587C95"/>
                          </a:solidFill>
                          <a:latin typeface="Noto Sans CJK SC"/>
                          <a:ea typeface="Noto Sans CJK SC"/>
                          <a:cs typeface="Noto Sans CJK SC"/>
                        </a:rPr>
                        <a:t>最优条件</a:t>
                      </a:r>
                    </a:p>
                  </a:txBody>
                  <a:tcPr marL="95250" marR="95250" marT="66675" marB="66675" anchor="ctr">
                    <a:solidFill>
                      <a:srgbClr val="EDF2F5"/>
                    </a:solidFill>
                  </a:tcPr>
                </a:tc>
              </a:tr>
              <a:tr h="508000">
                <a:tc>
                  <a:txBody>
                    <a:bodyPr wrap="square">
                      <a:noAutofit/>
                    </a:bodyPr>
                    <a:lstStyle/>
                    <a:p>
                      <a:pPr algn="l">
                        <a:lnSpc>
                          <a:spcPct val="100000"/>
                        </a:lnSpc>
                        <a:buNone/>
                      </a:pPr>
                      <a:r>
                        <a:rPr sz="2025" b="0">
                          <a:solidFill>
                            <a:srgbClr val="111111"/>
                          </a:solidFill>
                          <a:latin typeface="Noto Sans CJK SC"/>
                          <a:ea typeface="Noto Sans CJK SC"/>
                          <a:cs typeface="Noto Sans CJK SC"/>
                        </a:rPr>
                        <a:t>替换 s</a:t>
                      </a:r>
                    </a:p>
                  </a:txBody>
                  <a:tcPr marL="95250" marR="95250" marT="66675" marB="66675" anchor="ctr">
                    <a:solidFill>
                      <a:srgbClr val="FFFFFF"/>
                    </a:solidFill>
                  </a:tcPr>
                </a:tc>
                <a:tc>
                  <a:txBody>
                    <a:bodyPr wrap="square">
                      <a:noAutofit/>
                    </a:bodyPr>
                    <a:lstStyle/>
                    <a:p>
                      <a:pPr algn="l">
                        <a:lnSpc>
                          <a:spcPct val="100000"/>
                        </a:lnSpc>
                        <a:buNone/>
                      </a:pPr>
                      <a:r>
                        <a:rPr sz="2025" b="0">
                          <a:solidFill>
                            <a:srgbClr val="111111"/>
                          </a:solidFill>
                          <a:latin typeface="Noto Sans CJK SC"/>
                          <a:ea typeface="Noto Sans CJK SC"/>
                          <a:cs typeface="Noto Sans CJK SC"/>
                        </a:rPr>
                        <a:t>Δs + δ(α,β)</a:t>
                      </a:r>
                    </a:p>
                  </a:txBody>
                  <a:tcPr marL="95250" marR="95250" marT="66675" marB="66675" anchor="ctr">
                    <a:solidFill>
                      <a:srgbClr val="FFFFFF"/>
                    </a:solidFill>
                  </a:tcPr>
                </a:tc>
                <a:tc>
                  <a:txBody>
                    <a:bodyPr wrap="square">
                      <a:noAutofit/>
                    </a:bodyPr>
                    <a:lstStyle/>
                    <a:p>
                      <a:pPr algn="l">
                        <a:lnSpc>
                          <a:spcPct val="100000"/>
                        </a:lnSpc>
                        <a:buNone/>
                      </a:pPr>
                      <a:r>
                        <a:rPr sz="2025" b="0">
                          <a:solidFill>
                            <a:srgbClr val="111111"/>
                          </a:solidFill>
                          <a:latin typeface="Noto Sans CJK SC"/>
                          <a:ea typeface="Noto Sans CJK SC"/>
                          <a:cs typeface="Noto Sans CJK SC"/>
                        </a:rPr>
                        <a:t>Δr−Δs &gt; δ(α,β)</a:t>
                      </a:r>
                    </a:p>
                  </a:txBody>
                  <a:tcPr marL="95250" marR="95250" marT="66675" marB="66675" anchor="ctr">
                    <a:solidFill>
                      <a:srgbClr val="FFFFFF"/>
                    </a:solidFill>
                  </a:tcPr>
                </a:tc>
              </a:tr>
              <a:tr h="508000">
                <a:tc>
                  <a:txBody>
                    <a:bodyPr wrap="square">
                      <a:noAutofit/>
                    </a:bodyPr>
                    <a:lstStyle/>
                    <a:p>
                      <a:pPr algn="l">
                        <a:lnSpc>
                          <a:spcPct val="100000"/>
                        </a:lnSpc>
                        <a:buNone/>
                      </a:pPr>
                      <a:r>
                        <a:rPr sz="2025" b="0">
                          <a:solidFill>
                            <a:srgbClr val="111111"/>
                          </a:solidFill>
                          <a:latin typeface="Noto Sans CJK SC"/>
                          <a:ea typeface="Noto Sans CJK SC"/>
                          <a:cs typeface="Noto Sans CJK SC"/>
                        </a:rPr>
                        <a:t>整改 r</a:t>
                      </a:r>
                    </a:p>
                  </a:txBody>
                  <a:tcPr marL="95250" marR="95250" marT="66675" marB="66675" anchor="ctr">
                    <a:solidFill>
                      <a:srgbClr val="FFFFFF"/>
                    </a:solidFill>
                  </a:tcPr>
                </a:tc>
                <a:tc>
                  <a:txBody>
                    <a:bodyPr wrap="square">
                      <a:noAutofit/>
                    </a:bodyPr>
                    <a:lstStyle/>
                    <a:p>
                      <a:pPr algn="l">
                        <a:lnSpc>
                          <a:spcPct val="100000"/>
                        </a:lnSpc>
                        <a:buNone/>
                      </a:pPr>
                      <a:r>
                        <a:rPr sz="2025" b="0">
                          <a:solidFill>
                            <a:srgbClr val="111111"/>
                          </a:solidFill>
                          <a:latin typeface="Noto Sans CJK SC"/>
                          <a:ea typeface="Noto Sans CJK SC"/>
                          <a:cs typeface="Noto Sans CJK SC"/>
                        </a:rPr>
                        <a:t>Δr</a:t>
                      </a:r>
                    </a:p>
                  </a:txBody>
                  <a:tcPr marL="95250" marR="95250" marT="66675" marB="66675" anchor="ctr">
                    <a:solidFill>
                      <a:srgbClr val="FFFFFF"/>
                    </a:solidFill>
                  </a:tcPr>
                </a:tc>
                <a:tc>
                  <a:txBody>
                    <a:bodyPr wrap="square">
                      <a:noAutofit/>
                    </a:bodyPr>
                    <a:lstStyle/>
                    <a:p>
                      <a:pPr algn="l">
                        <a:lnSpc>
                          <a:spcPct val="100000"/>
                        </a:lnSpc>
                        <a:buNone/>
                      </a:pPr>
                      <a:r>
                        <a:rPr sz="2025" b="0">
                          <a:solidFill>
                            <a:srgbClr val="111111"/>
                          </a:solidFill>
                          <a:latin typeface="Noto Sans CJK SC"/>
                          <a:ea typeface="Noto Sans CJK SC"/>
                          <a:cs typeface="Noto Sans CJK SC"/>
                        </a:rPr>
                        <a:t>Δr−Δs &lt; δ(α,β)</a:t>
                      </a:r>
                    </a:p>
                  </a:txBody>
                  <a:tcPr marL="95250" marR="95250" marT="66675" marB="66675" anchor="ctr">
                    <a:solidFill>
                      <a:srgbClr val="FFFFFF"/>
                    </a:solidFill>
                  </a:tcPr>
                </a:tc>
              </a:tr>
            </a:tbl>
          </a:graphicData>
        </a:graphic>
      </p:graphicFrame>
      <p:sp>
        <p:nvSpPr>
          <p:cNvPr id="14" name="解释-2">
            <a:extLst xmlns:a="http://schemas.openxmlformats.org/drawingml/2006/main">
              <a:ext uri="{FF2B5EF4-FFF2-40B4-BE49-F238E27FC236}">
                <a16:creationId xmlns:a16="http://schemas.microsoft.com/office/drawing/2014/main" id="{66863620-BE62-4FF8-86C9-05B985866705}"/>
              </a:ext>
            </a:extLst>
          </p:cNvPr>
          <p:cNvSpPr>
            <a:spLocks xmlns:a="http://schemas.openxmlformats.org/drawingml/2006/main" noGrp="1"/>
          </p:cNvSpPr>
          <p:nvPr/>
        </p:nvSpPr>
        <p:spPr>
          <a:xfrm xmlns:a="http://schemas.openxmlformats.org/drawingml/2006/main">
            <a:off x="609600" y="5762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875" b="1">
                <a:solidFill>
                  <a:srgbClr val="587C95"/>
                </a:solidFill>
                <a:latin typeface="Noto Sans CJK SC"/>
                <a:ea typeface="Noto Sans CJK SC"/>
                <a:cs typeface="Noto Sans CJK SC"/>
              </a:defRPr>
            </a:defPPr>
          </a:lstStyle>
          <a:p xmlns:a="http://schemas.openxmlformats.org/drawingml/2006/main">
            <a:pPr algn="l">
              <a:lnSpc>
                <a:spcPct val="108000"/>
              </a:lnSpc>
              <a:buNone/>
              <a:defRPr sz="1875" b="1">
                <a:solidFill>
                  <a:srgbClr val="587C95"/>
                </a:solidFill>
                <a:latin typeface="Noto Sans CJK SC"/>
                <a:ea typeface="Noto Sans CJK SC"/>
                <a:cs typeface="Noto Sans CJK SC"/>
              </a:defRPr>
            </a:pPr>
            <a:r>
              <a:rPr sz="1875" b="1">
                <a:solidFill>
                  <a:srgbClr val="587C95"/>
                </a:solidFill>
                <a:latin typeface="Noto Sans CJK SC"/>
                <a:ea typeface="Noto Sans CJK SC"/>
                <a:cs typeface="Noto Sans CJK SC"/>
              </a:rPr>
              <a:t>讲解算例：e=.5，α=.1，β=.2，Dα=3，则 δ=1/3。</a:t>
            </a:r>
          </a:p>
          <a:p xmlns:a="http://schemas.openxmlformats.org/drawingml/2006/main">
            <a:pPr algn="l">
              <a:lnSpc>
                <a:spcPct val="108000"/>
              </a:lnSpc>
              <a:buNone/>
              <a:defRPr sz="1875" b="1">
                <a:solidFill>
                  <a:srgbClr val="587C95"/>
                </a:solidFill>
                <a:latin typeface="Noto Sans CJK SC"/>
                <a:ea typeface="Noto Sans CJK SC"/>
                <a:cs typeface="Noto Sans CJK SC"/>
              </a:defRPr>
            </a:pPr>
            <a:r>
              <a:rPr sz="1875" b="1">
                <a:solidFill>
                  <a:srgbClr val="587C95"/>
                </a:solidFill>
                <a:latin typeface="Noto Sans CJK SC"/>
                <a:ea typeface="Noto Sans CJK SC"/>
                <a:cs typeface="Noto Sans CJK SC"/>
              </a:rPr>
              <a:t>若 Δr=2、Δs=1.8，替换只省 0.2，仍应整改。</a:t>
            </a:r>
          </a:p>
        </p:txBody>
      </p:sp>
      <p:sp>
        <p:nvSpPr>
          <p:cNvPr id="15" name="解释-3">
            <a:extLst xmlns:a="http://schemas.openxmlformats.org/drawingml/2006/main">
              <a:ext uri="{FF2B5EF4-FFF2-40B4-BE49-F238E27FC236}">
                <a16:creationId xmlns:a16="http://schemas.microsoft.com/office/drawing/2014/main" id="{ECF599A7-3973-4035-A97F-BE17B724FD36}"/>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§4，pp. 6–7，Lemma 1；讲解算例为自设参数</a:t>
            </a:r>
          </a:p>
        </p:txBody>
      </p:sp>
      <p:sp>
        <p:nvSpPr>
          <p:cNvPr id="16" name="解释-4">
            <a:extLst xmlns:a="http://schemas.openxmlformats.org/drawingml/2006/main">
              <a:ext uri="{FF2B5EF4-FFF2-40B4-BE49-F238E27FC236}">
                <a16:creationId xmlns:a16="http://schemas.microsoft.com/office/drawing/2014/main" id="{C7ECF678-E630-457E-825D-5413EBB0D7B0}"/>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11</a:t>
            </a:r>
          </a:p>
        </p:txBody>
      </p:sp>
    </p:spTree>
    <p:extLst>
      <p:ext uri="{BB962C8B-B14F-4D97-AF65-F5344CB8AC3E}">
        <p14:creationId xmlns:p14="http://schemas.microsoft.com/office/powerpoint/2010/main" val="195791343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E4B6D1B9-CD5E-4172-B6F5-96EA6FF02B28}"/>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五、基准分析：审计优化与启动条件</a:t>
            </a:r>
            <a:endParaRPr sz="3000" b="1" i="0" u="none" strike="noStrike" kern="0" cap="none" spc="75" baseline="0">
              <a:latin typeface="微软雅黑"/>
              <a:ea typeface="微软雅黑"/>
              <a:cs typeface="微软雅黑"/>
            </a:endParaRPr>
          </a:p>
        </p:txBody>
      </p:sp>
      <p:sp>
        <p:nvSpPr>
          <p:cNvPr id="6" name="文本框 5">
            <a:extLst xmlns:a="http://schemas.openxmlformats.org/drawingml/2006/main">
              <a:ext uri="{FF2B5EF4-FFF2-40B4-BE49-F238E27FC236}">
                <a16:creationId xmlns:a16="http://schemas.microsoft.com/office/drawing/2014/main" id="{085E1698-70F6-43E9-94DE-97AD6D567528}"/>
              </a:ext>
            </a:extLst>
          </p:cNvPr>
          <p:cNvSpPr>
            <a:spLocks xmlns:a="http://schemas.openxmlformats.org/drawingml/2006/main" noGrp="1"/>
          </p:cNvSpPr>
          <p:nvPr/>
        </p:nvSpPr>
        <p:spPr>
          <a:xfrm xmlns:a="http://schemas.openxmlformats.org/drawingml/2006/main">
            <a:off x="6172200" y="1914525"/>
            <a:ext cx="5429250" cy="1091336"/>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目标：最大化已代入最优治理响应的期望利润。</a:t>
            </a:r>
            <a:endParaRPr>
              <a:latin typeface="微软雅黑"/>
              <a:ea typeface="微软雅黑"/>
              <a:cs typeface="微软雅黑"/>
            </a:endParaRP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约束：成本不超预算，准确度至少达到 e。</a:t>
            </a:r>
            <a:endParaRPr>
              <a:latin typeface="微软雅黑"/>
              <a:ea typeface="微软雅黑"/>
              <a:cs typeface="微软雅黑"/>
            </a:endParaRPr>
          </a:p>
        </p:txBody>
      </p:sp>
      <p:pic>
        <p:nvPicPr>
          <p:cNvPr id="3" name="图片 2">
            <a:extLst xmlns:a="http://schemas.openxmlformats.org/drawingml/2006/main">
              <a:ext uri="{FF2B5EF4-FFF2-40B4-BE49-F238E27FC236}">
                <a16:creationId xmlns:a16="http://schemas.microsoft.com/office/drawing/2014/main" id="{8108BE56-B5FA-4000-A215-90D99FB329AD}"/>
              </a:ext>
            </a:extLst>
          </p:cNvPr>
          <p:cNvPicPr>
            <a:picLocks xmlns:a="http://schemas.openxmlformats.org/drawingml/2006/main" noChangeAspect="1"/>
          </p:cNvPicPr>
          <p:nvPr/>
        </p:nvPicPr>
        <p:blipFill>
          <a:blip xmlns:r="http://schemas.openxmlformats.org/officeDocument/2006/relationships" xmlns:a="http://schemas.openxmlformats.org/drawingml/2006/main" r:embed="R2b42bbc06be4479e"/>
          <a:srcRect xmlns:a="http://schemas.openxmlformats.org/drawingml/2006/main" l="0" t="1550" r="32848" b="7011"/>
          <a:stretch xmlns:a="http://schemas.openxmlformats.org/drawingml/2006/main">
            <a:fillRect l="0" t="0" r="0" b="0"/>
          </a:stretch>
        </p:blipFill>
        <p:spPr>
          <a:xfrm xmlns:a="http://schemas.openxmlformats.org/drawingml/2006/main">
            <a:off x="933450" y="2090717"/>
            <a:ext cx="4705350" cy="1619292"/>
          </a:xfrm>
          <a:prstGeom xmlns:a="http://schemas.openxmlformats.org/drawingml/2006/main" prst="rect">
            <a:avLst/>
          </a:prstGeom>
        </p:spPr>
      </p:pic>
      <p:pic>
        <p:nvPicPr>
          <p:cNvPr id="12" name="图片 11">
            <a:extLst xmlns:a="http://schemas.openxmlformats.org/drawingml/2006/main">
              <a:ext uri="{FF2B5EF4-FFF2-40B4-BE49-F238E27FC236}">
                <a16:creationId xmlns:a16="http://schemas.microsoft.com/office/drawing/2014/main" id="{F168DC82-6BBD-45A4-B2B8-EF30F95E74E1}"/>
              </a:ext>
            </a:extLst>
          </p:cNvPr>
          <p:cNvPicPr>
            <a:picLocks xmlns:a="http://schemas.openxmlformats.org/drawingml/2006/main" noChangeAspect="1"/>
          </p:cNvPicPr>
          <p:nvPr/>
        </p:nvPicPr>
        <p:blipFill>
          <a:blip xmlns:r="http://schemas.openxmlformats.org/officeDocument/2006/relationships" xmlns:a="http://schemas.openxmlformats.org/drawingml/2006/main" r:embed="Rdef53c2561c44368"/>
          <a:srcRect xmlns:a="http://schemas.openxmlformats.org/drawingml/2006/main" l="0" t="0" r="53" b="61985"/>
          <a:stretch xmlns:a="http://schemas.openxmlformats.org/drawingml/2006/main">
            <a:fillRect l="0" t="0" r="0" b="0"/>
          </a:stretch>
        </p:blipFill>
        <p:spPr>
          <a:xfrm xmlns:a="http://schemas.openxmlformats.org/drawingml/2006/main">
            <a:off x="1021824" y="4238625"/>
            <a:ext cx="10148352" cy="971550"/>
          </a:xfrm>
          <a:prstGeom xmlns:a="http://schemas.openxmlformats.org/drawingml/2006/main" prst="rect">
            <a:avLst/>
          </a:prstGeom>
        </p:spPr>
      </p:pic>
      <p:sp>
        <p:nvSpPr>
          <p:cNvPr id="13" name="解释-2">
            <a:extLst xmlns:a="http://schemas.openxmlformats.org/drawingml/2006/main">
              <a:ext uri="{FF2B5EF4-FFF2-40B4-BE49-F238E27FC236}">
                <a16:creationId xmlns:a16="http://schemas.microsoft.com/office/drawing/2014/main" id="{26E2884A-46D6-4428-B4B3-D383A0F9F7E9}"/>
              </a:ext>
            </a:extLst>
          </p:cNvPr>
          <p:cNvSpPr>
            <a:spLocks xmlns:a="http://schemas.openxmlformats.org/drawingml/2006/main" noGrp="1"/>
          </p:cNvSpPr>
          <p:nvPr/>
        </p:nvSpPr>
        <p:spPr>
          <a:xfrm xmlns:a="http://schemas.openxmlformats.org/drawingml/2006/main">
            <a:off x="609600" y="5486400"/>
            <a:ext cx="109728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启动审计还需要预算足够：B≥e²/2。</a:t>
            </a:r>
          </a:p>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若两种治理成本均超过 Dβ，买方选择不审计。</a:t>
            </a:r>
          </a:p>
        </p:txBody>
      </p:sp>
      <p:sp>
        <p:nvSpPr>
          <p:cNvPr id="14" name="解释-3">
            <a:extLst xmlns:a="http://schemas.openxmlformats.org/drawingml/2006/main">
              <a:ext uri="{FF2B5EF4-FFF2-40B4-BE49-F238E27FC236}">
                <a16:creationId xmlns:a16="http://schemas.microsoft.com/office/drawing/2014/main" id="{C2559AA2-0999-47D5-835E-B3717CEE3060}"/>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 7，Eqs. (2)–(5), Lemma 2</a:t>
            </a:r>
          </a:p>
        </p:txBody>
      </p:sp>
      <p:sp>
        <p:nvSpPr>
          <p:cNvPr id="15" name="解释-4">
            <a:extLst xmlns:a="http://schemas.openxmlformats.org/drawingml/2006/main">
              <a:ext uri="{FF2B5EF4-FFF2-40B4-BE49-F238E27FC236}">
                <a16:creationId xmlns:a16="http://schemas.microsoft.com/office/drawing/2014/main" id="{F58A15C0-779B-4FE6-9841-B1FDDC99EAB8}"/>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12</a:t>
            </a:r>
          </a:p>
        </p:txBody>
      </p:sp>
    </p:spTree>
    <p:extLst>
      <p:ext uri="{BB962C8B-B14F-4D97-AF65-F5344CB8AC3E}">
        <p14:creationId xmlns:p14="http://schemas.microsoft.com/office/powerpoint/2010/main" val="87061530"/>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8" name="解释-0">
            <a:extLst xmlns:a="http://schemas.openxmlformats.org/drawingml/2006/main">
              <a:ext uri="{FF2B5EF4-FFF2-40B4-BE49-F238E27FC236}">
                <a16:creationId xmlns:a16="http://schemas.microsoft.com/office/drawing/2014/main" id="{83BB4335-D894-4922-A4EE-863F9455ED4E}"/>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五、基准分析：两种最优审计政策</a:t>
            </a:r>
          </a:p>
        </p:txBody>
      </p:sp>
      <p:pic>
        <p:nvPicPr>
          <p:cNvPr id="2" name="">
            <a:extLst xmlns:a="http://schemas.openxmlformats.org/drawingml/2006/main">
              <a:ext uri="{FF2B5EF4-FFF2-40B4-BE49-F238E27FC236}">
                <a16:creationId xmlns:a16="http://schemas.microsoft.com/office/drawing/2014/main" id="{C90DA6F0-FDDB-4EF5-A484-A4749D83F94E}"/>
              </a:ext>
            </a:extLst>
          </p:cNvPr>
          <p:cNvPicPr>
            <a:picLocks xmlns:a="http://schemas.openxmlformats.org/drawingml/2006/main" noChangeAspect="1"/>
          </p:cNvPicPr>
          <p:nvPr/>
        </p:nvPicPr>
        <p:blipFill>
          <a:blip xmlns:r="http://schemas.openxmlformats.org/officeDocument/2006/relationships" xmlns:a="http://schemas.openxmlformats.org/drawingml/2006/main" r:embed="R93ef15ce4dd0488f"/>
          <a:stretch xmlns:a="http://schemas.openxmlformats.org/drawingml/2006/main"/>
        </p:blipFill>
        <p:spPr>
          <a:xfrm xmlns:a="http://schemas.openxmlformats.org/drawingml/2006/main">
            <a:off x="1881729" y="1905000"/>
            <a:ext cx="8428541" cy="609600"/>
          </a:xfrm>
          <a:prstGeom xmlns:a="http://schemas.openxmlformats.org/drawingml/2006/main" prst="rect">
            <a:avLst/>
          </a:prstGeom>
        </p:spPr>
      </p:pic>
      <p:graphicFrame>
        <p:nvGraphicFramePr>
          <p:cNvPr id="3" name="">
            <a:extLst xmlns:a="http://schemas.openxmlformats.org/drawingml/2006/main">
              <a:ext uri="{FF2B5EF4-FFF2-40B4-BE49-F238E27FC236}">
                <a16:creationId xmlns:a16="http://schemas.microsoft.com/office/drawing/2014/main" id="{C0338FFE-DF43-4630-83DA-BFC6C1B13896}"/>
              </a:ext>
            </a:extLst>
          </p:cNvPr>
          <p:cNvGraphicFramePr/>
          <p:nvPr/>
        </p:nvGraphicFramePr>
        <p:xfrm>
          <a:off xmlns:a="http://schemas.openxmlformats.org/drawingml/2006/main" x="609600" y="2790825"/>
          <a:ext xmlns:a="http://schemas.openxmlformats.org/drawingml/2006/main" cx="10972800" cy="2143125"/>
        </p:xfrm>
        <a:graphic xmlns:a="http://schemas.openxmlformats.org/drawingml/2006/main">
          <a:graphicData uri="http://schemas.openxmlformats.org/drawingml/2006/table">
            <a:tbl>
              <a:tblPr firstRow="1" bandRow="0"/>
              <a:tblGrid>
                <a:gridCol w="2962379"/>
                <a:gridCol w="4079039"/>
                <a:gridCol w="3931382"/>
              </a:tblGrid>
              <a:tr h="714375">
                <a:tc>
                  <a:txBody>
                    <a:bodyPr wrap="square">
                      <a:noAutofit/>
                    </a:bodyPr>
                    <a:lstStyle/>
                    <a:p>
                      <a:pPr algn="l">
                        <a:lnSpc>
                          <a:spcPct val="100000"/>
                        </a:lnSpc>
                        <a:buNone/>
                      </a:pPr>
                      <a:r>
                        <a:rPr sz="1950" b="1">
                          <a:solidFill>
                            <a:srgbClr val="587C95"/>
                          </a:solidFill>
                          <a:latin typeface="Noto Sans CJK SC"/>
                          <a:ea typeface="Noto Sans CJK SC"/>
                          <a:cs typeface="Noto Sans CJK SC"/>
                        </a:rPr>
                        <a:t>政策</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最优误差</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尚未消除的风险</a:t>
                      </a:r>
                    </a:p>
                  </a:txBody>
                  <a:tcPr marL="95250" marR="95250" marT="66675" marB="66675" anchor="ctr">
                    <a:solidFill>
                      <a:srgbClr val="EDF2F5"/>
                    </a:solidFill>
                  </a:tcPr>
                </a:tc>
              </a:tr>
              <a:tr h="714375">
                <a:tc>
                  <a:txBody>
                    <a:bodyPr wrap="square">
                      <a:noAutofit/>
                    </a:bodyPr>
                    <a:lstStyle/>
                    <a:p>
                      <a:pPr algn="l">
                        <a:lnSpc>
                          <a:spcPct val="100000"/>
                        </a:lnSpc>
                        <a:buNone/>
                      </a:pPr>
                      <a:r>
                        <a:rPr sz="1950" b="0">
                          <a:solidFill>
                            <a:srgbClr val="111111"/>
                          </a:solidFill>
                          <a:latin typeface="Noto Sans CJK SC"/>
                          <a:ea typeface="Noto Sans CJK SC"/>
                          <a:cs typeface="Noto Sans CJK SC"/>
                        </a:rPr>
                        <a:t>N：杜绝误报</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α*=0，β*=(1−b0)/(1−e)</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仍可能漏检违规者</a:t>
                      </a:r>
                    </a:p>
                  </a:txBody>
                  <a:tcPr marL="95250" marR="95250" marT="66675" marB="66675" anchor="ctr">
                    <a:solidFill>
                      <a:srgbClr val="FFFFFF"/>
                    </a:solidFill>
                  </a:tcPr>
                </a:tc>
              </a:tr>
              <a:tr h="714375">
                <a:tc>
                  <a:txBody>
                    <a:bodyPr wrap="square">
                      <a:noAutofit/>
                    </a:bodyPr>
                    <a:lstStyle/>
                    <a:p>
                      <a:pPr algn="l">
                        <a:lnSpc>
                          <a:spcPct val="100000"/>
                        </a:lnSpc>
                        <a:buNone/>
                      </a:pPr>
                      <a:r>
                        <a:rPr sz="1950" b="0">
                          <a:solidFill>
                            <a:srgbClr val="111111"/>
                          </a:solidFill>
                          <a:latin typeface="Noto Sans CJK SC"/>
                          <a:ea typeface="Noto Sans CJK SC"/>
                          <a:cs typeface="Noto Sans CJK SC"/>
                        </a:rPr>
                        <a:t>C：一网打尽</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α*=(1−b0)/e，β*=0</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仍可能误伤合规者</a:t>
                      </a:r>
                    </a:p>
                  </a:txBody>
                  <a:tcPr marL="95250" marR="95250" marT="66675" marB="66675" anchor="ctr">
                    <a:solidFill>
                      <a:srgbClr val="FFFFFF"/>
                    </a:solidFill>
                  </a:tcPr>
                </a:tc>
              </a:tr>
            </a:tbl>
          </a:graphicData>
        </a:graphic>
      </p:graphicFrame>
      <p:sp>
        <p:nvSpPr>
          <p:cNvPr id="4" name="解释-1">
            <a:extLst xmlns:a="http://schemas.openxmlformats.org/drawingml/2006/main">
              <a:ext uri="{FF2B5EF4-FFF2-40B4-BE49-F238E27FC236}">
                <a16:creationId xmlns:a16="http://schemas.microsoft.com/office/drawing/2014/main" id="{BF7F274D-A6B8-4506-94F3-4659AF4903CE}"/>
              </a:ext>
            </a:extLst>
          </p:cNvPr>
          <p:cNvSpPr>
            <a:spLocks xmlns:a="http://schemas.openxmlformats.org/drawingml/2006/main" noGrp="1"/>
          </p:cNvSpPr>
          <p:nvPr/>
        </p:nvSpPr>
        <p:spPr>
          <a:xfrm xmlns:a="http://schemas.openxmlformats.org/drawingml/2006/main">
            <a:off x="609600" y="5286375"/>
            <a:ext cx="109728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给定 b₀，企业把一种错误先降为零，将有限错误留在另一种上。</a:t>
            </a:r>
          </a:p>
        </p:txBody>
      </p:sp>
      <p:sp>
        <p:nvSpPr>
          <p:cNvPr id="5" name="解释-2">
            <a:extLst xmlns:a="http://schemas.openxmlformats.org/drawingml/2006/main">
              <a:ext uri="{FF2B5EF4-FFF2-40B4-BE49-F238E27FC236}">
                <a16:creationId xmlns:a16="http://schemas.microsoft.com/office/drawing/2014/main" id="{25FF4403-685E-49B4-910D-6B83A29DFCF5}"/>
              </a:ext>
            </a:extLst>
          </p:cNvPr>
          <p:cNvSpPr>
            <a:spLocks xmlns:a="http://schemas.openxmlformats.org/drawingml/2006/main" noGrp="1"/>
          </p:cNvSpPr>
          <p:nvPr/>
        </p:nvSpPr>
        <p:spPr>
          <a:xfrm xmlns:a="http://schemas.openxmlformats.org/drawingml/2006/main">
            <a:off x="609600" y="5857875"/>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875" b="0">
                <a:solidFill>
                  <a:srgbClr val="111111"/>
                </a:solidFill>
                <a:latin typeface="Noto Sans CJK SC"/>
                <a:ea typeface="Noto Sans CJK SC"/>
                <a:cs typeface="Noto Sans CJK SC"/>
              </a:defRPr>
            </a:defPPr>
          </a:lstStyle>
          <a:p xmlns:a="http://schemas.openxmlformats.org/drawingml/2006/main">
            <a:pPr algn="l">
              <a:lnSpc>
                <a:spcPct val="108000"/>
              </a:lnSpc>
              <a:buNone/>
              <a:defRPr sz="1875" b="0">
                <a:solidFill>
                  <a:srgbClr val="111111"/>
                </a:solidFill>
                <a:latin typeface="Noto Sans CJK SC"/>
                <a:ea typeface="Noto Sans CJK SC"/>
                <a:cs typeface="Noto Sans CJK SC"/>
              </a:defRPr>
            </a:pPr>
            <a:r>
              <a:rPr sz="1875" b="0">
                <a:solidFill>
                  <a:srgbClr val="111111"/>
                </a:solidFill>
                <a:latin typeface="Noto Sans CJK SC"/>
                <a:ea typeface="Noto Sans CJK SC"/>
                <a:cs typeface="Noto Sans CJK SC"/>
              </a:rPr>
              <a:t>依据：最优治理后的损失在等准确度线段上为凹函数，最小值可取端点。</a:t>
            </a:r>
          </a:p>
        </p:txBody>
      </p:sp>
      <p:sp>
        <p:nvSpPr>
          <p:cNvPr id="6" name="解释-3">
            <a:extLst xmlns:a="http://schemas.openxmlformats.org/drawingml/2006/main">
              <a:ext uri="{FF2B5EF4-FFF2-40B4-BE49-F238E27FC236}">
                <a16:creationId xmlns:a16="http://schemas.microsoft.com/office/drawing/2014/main" id="{F97838D8-16F7-4334-8324-B7C1F9C5D3D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 7；端点：N 与 C</a:t>
            </a:r>
          </a:p>
        </p:txBody>
      </p:sp>
      <p:sp>
        <p:nvSpPr>
          <p:cNvPr id="7" name="解释-4">
            <a:extLst xmlns:a="http://schemas.openxmlformats.org/drawingml/2006/main">
              <a:ext uri="{FF2B5EF4-FFF2-40B4-BE49-F238E27FC236}">
                <a16:creationId xmlns:a16="http://schemas.microsoft.com/office/drawing/2014/main" id="{C623E0F2-0A8D-43D7-867F-571BFD03FADB}"/>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13</a:t>
            </a:r>
          </a:p>
        </p:txBody>
      </p:sp>
    </p:spTree>
    <p:extLst>
      <p:ext uri="{BB962C8B-B14F-4D97-AF65-F5344CB8AC3E}">
        <p14:creationId xmlns:p14="http://schemas.microsoft.com/office/powerpoint/2010/main" val="874601788"/>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7" name="文本框 6">
            <a:extLst xmlns:a="http://schemas.openxmlformats.org/drawingml/2006/main">
              <a:ext uri="{FF2B5EF4-FFF2-40B4-BE49-F238E27FC236}">
                <a16:creationId xmlns:a16="http://schemas.microsoft.com/office/drawing/2014/main" id="{F9755EA8-CA98-4806-86AE-80AA03CE9B38}"/>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五、基准分析：成本如何决定错误政策</a:t>
            </a:r>
            <a:endParaRPr sz="3000" b="1" i="0" u="none" strike="noStrike" kern="0" cap="none" spc="75" baseline="0">
              <a:latin typeface="微软雅黑"/>
              <a:ea typeface="微软雅黑"/>
              <a:cs typeface="微软雅黑"/>
            </a:endParaRPr>
          </a:p>
        </p:txBody>
      </p:sp>
      <p:pic>
        <p:nvPicPr>
          <p:cNvPr id="9" name="图片 8">
            <a:extLst xmlns:a="http://schemas.openxmlformats.org/drawingml/2006/main">
              <a:ext uri="{FF2B5EF4-FFF2-40B4-BE49-F238E27FC236}">
                <a16:creationId xmlns:a16="http://schemas.microsoft.com/office/drawing/2014/main" id="{A13C273A-7892-481E-9E51-899AC579E80B}"/>
              </a:ext>
            </a:extLst>
          </p:cNvPr>
          <p:cNvPicPr>
            <a:picLocks xmlns:a="http://schemas.openxmlformats.org/drawingml/2006/main" noChangeAspect="1"/>
          </p:cNvPicPr>
          <p:nvPr/>
        </p:nvPicPr>
        <p:blipFill>
          <a:blip xmlns:r="http://schemas.openxmlformats.org/officeDocument/2006/relationships" xmlns:a="http://schemas.openxmlformats.org/drawingml/2006/main" r:embed="R6c60f652bcc24778"/>
          <a:srcRect xmlns:a="http://schemas.openxmlformats.org/drawingml/2006/main" l="1845" t="1706" r="3676" b="12489"/>
          <a:stretch xmlns:a="http://schemas.openxmlformats.org/drawingml/2006/main">
            <a:fillRect l="0" t="0" r="0" b="0"/>
          </a:stretch>
        </p:blipFill>
        <p:spPr>
          <a:xfrm xmlns:a="http://schemas.openxmlformats.org/drawingml/2006/main">
            <a:off x="323850" y="1947608"/>
            <a:ext cx="4124325" cy="4048635"/>
          </a:xfrm>
          <a:prstGeom xmlns:a="http://schemas.openxmlformats.org/drawingml/2006/main" prst="rect">
            <a:avLst/>
          </a:prstGeom>
        </p:spPr>
      </p:pic>
      <p:graphicFrame>
        <p:nvGraphicFramePr>
          <p:cNvPr id="10" name="">
            <a:extLst xmlns:a="http://schemas.openxmlformats.org/drawingml/2006/main">
              <a:ext uri="{FF2B5EF4-FFF2-40B4-BE49-F238E27FC236}">
                <a16:creationId xmlns:a16="http://schemas.microsoft.com/office/drawing/2014/main" id="{A6887127-C45A-419E-963A-33A2B02F4F59}"/>
              </a:ext>
            </a:extLst>
          </p:cNvPr>
          <p:cNvGraphicFramePr/>
          <p:nvPr/>
        </p:nvGraphicFramePr>
        <p:xfrm>
          <a:off xmlns:a="http://schemas.openxmlformats.org/drawingml/2006/main" x="4733925" y="2200275"/>
          <a:ext xmlns:a="http://schemas.openxmlformats.org/drawingml/2006/main" cx="6886575" cy="2714625"/>
        </p:xfrm>
        <a:graphic xmlns:a="http://schemas.openxmlformats.org/drawingml/2006/main">
          <a:graphicData uri="http://schemas.openxmlformats.org/drawingml/2006/table">
            <a:tbl>
              <a:tblPr firstRow="1" bandRow="0"/>
              <a:tblGrid>
                <a:gridCol w="2667000"/>
                <a:gridCol w="4219575"/>
              </a:tblGrid>
              <a:tr h="542925">
                <a:tc>
                  <a:txBody>
                    <a:bodyPr wrap="square">
                      <a:noAutofit/>
                    </a:bodyPr>
                    <a:lstStyle/>
                    <a:p>
                      <a:pPr algn="l">
                        <a:lnSpc>
                          <a:spcPct val="100000"/>
                        </a:lnSpc>
                        <a:buNone/>
                      </a:pPr>
                      <a:r>
                        <a:rPr sz="1875" b="1">
                          <a:solidFill>
                            <a:srgbClr val="587C95"/>
                          </a:solidFill>
                          <a:latin typeface="Noto Sans CJK SC"/>
                          <a:ea typeface="Noto Sans CJK SC"/>
                          <a:cs typeface="Noto Sans CJK SC"/>
                        </a:rPr>
                        <a:t>成本结构</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错误政策与治理</a:t>
                      </a:r>
                    </a:p>
                  </a:txBody>
                  <a:tcPr marL="95250" marR="95250" marT="66675" marB="66675" anchor="ctr">
                    <a:solidFill>
                      <a:srgbClr val="EDF2F5"/>
                    </a:solidFill>
                  </a:tcPr>
                </a:tc>
              </a:tr>
              <a:tr h="542925">
                <a:tc>
                  <a:txBody>
                    <a:bodyPr wrap="square">
                      <a:noAutofit/>
                    </a:bodyPr>
                    <a:lstStyle/>
                    <a:p>
                      <a:pPr algn="l">
                        <a:lnSpc>
                          <a:spcPct val="100000"/>
                        </a:lnSpc>
                        <a:buNone/>
                      </a:pPr>
                      <a:r>
                        <a:rPr sz="1875" b="0">
                          <a:solidFill>
                            <a:srgbClr val="111111"/>
                          </a:solidFill>
                          <a:latin typeface="Noto Sans CJK SC"/>
                          <a:ea typeface="Noto Sans CJK SC"/>
                          <a:cs typeface="Noto Sans CJK SC"/>
                        </a:rPr>
                        <a:t>替换比整改贵</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始终整改，Δr 高时选 N，低时选 C</a:t>
                      </a:r>
                    </a:p>
                  </a:txBody>
                  <a:tcPr marL="95250" marR="95250" marT="66675" marB="66675" anchor="ctr">
                    <a:solidFill>
                      <a:srgbClr val="FFFFFF"/>
                    </a:solidFill>
                  </a:tcPr>
                </a:tc>
              </a:tr>
              <a:tr h="542925">
                <a:tc>
                  <a:txBody>
                    <a:bodyPr wrap="square">
                      <a:noAutofit/>
                    </a:bodyPr>
                    <a:lstStyle/>
                    <a:p>
                      <a:pPr algn="l">
                        <a:lnSpc>
                          <a:spcPct val="100000"/>
                        </a:lnSpc>
                        <a:buNone/>
                      </a:pPr>
                      <a:r>
                        <a:rPr sz="1875" b="0">
                          <a:solidFill>
                            <a:srgbClr val="111111"/>
                          </a:solidFill>
                          <a:latin typeface="Noto Sans CJK SC"/>
                          <a:ea typeface="Noto Sans CJK SC"/>
                          <a:cs typeface="Noto Sans CJK SC"/>
                        </a:rPr>
                        <a:t>整改明显更贵</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始终替换，Δs 高时选 N，低时选 C</a:t>
                      </a:r>
                    </a:p>
                  </a:txBody>
                  <a:tcPr marL="95250" marR="95250" marT="66675" marB="66675" anchor="ctr">
                    <a:solidFill>
                      <a:srgbClr val="FFFFFF"/>
                    </a:solidFill>
                  </a:tcPr>
                </a:tc>
              </a:tr>
              <a:tr h="542925">
                <a:tc>
                  <a:txBody>
                    <a:bodyPr wrap="square">
                      <a:noAutofit/>
                    </a:bodyPr>
                    <a:lstStyle/>
                    <a:p>
                      <a:pPr algn="l">
                        <a:lnSpc>
                          <a:spcPct val="100000"/>
                        </a:lnSpc>
                        <a:buNone/>
                      </a:pPr>
                      <a:r>
                        <a:rPr sz="1875" b="0">
                          <a:solidFill>
                            <a:srgbClr val="111111"/>
                          </a:solidFill>
                          <a:latin typeface="Noto Sans CJK SC"/>
                          <a:ea typeface="Noto Sans CJK SC"/>
                          <a:cs typeface="Noto Sans CJK SC"/>
                        </a:rPr>
                        <a:t>两者适中，替换极便宜</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始终 C，预算可使整改转为替换</a:t>
                      </a:r>
                    </a:p>
                  </a:txBody>
                  <a:tcPr marL="95250" marR="95250" marT="66675" marB="66675" anchor="ctr">
                    <a:solidFill>
                      <a:srgbClr val="FFFFFF"/>
                    </a:solidFill>
                  </a:tcPr>
                </a:tc>
              </a:tr>
              <a:tr h="542925">
                <a:tc>
                  <a:txBody>
                    <a:bodyPr wrap="square">
                      <a:noAutofit/>
                    </a:bodyPr>
                    <a:lstStyle/>
                    <a:p>
                      <a:pPr algn="l">
                        <a:lnSpc>
                          <a:spcPct val="100000"/>
                        </a:lnSpc>
                        <a:buNone/>
                      </a:pPr>
                      <a:r>
                        <a:rPr sz="1875" b="0">
                          <a:solidFill>
                            <a:srgbClr val="111111"/>
                          </a:solidFill>
                          <a:latin typeface="Noto Sans CJK SC"/>
                          <a:ea typeface="Noto Sans CJK SC"/>
                          <a:cs typeface="Noto Sans CJK SC"/>
                        </a:rPr>
                        <a:t>中等替换成本区</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低预算 C+整改，高预算 N+替换</a:t>
                      </a:r>
                    </a:p>
                  </a:txBody>
                  <a:tcPr marL="95250" marR="95250" marT="66675" marB="66675" anchor="ctr">
                    <a:solidFill>
                      <a:srgbClr val="FFFFFF"/>
                    </a:solidFill>
                  </a:tcPr>
                </a:tc>
              </a:tr>
            </a:tbl>
          </a:graphicData>
        </a:graphic>
      </p:graphicFrame>
      <p:sp>
        <p:nvSpPr>
          <p:cNvPr id="11" name="解释-1">
            <a:extLst xmlns:a="http://schemas.openxmlformats.org/drawingml/2006/main">
              <a:ext uri="{FF2B5EF4-FFF2-40B4-BE49-F238E27FC236}">
                <a16:creationId xmlns:a16="http://schemas.microsoft.com/office/drawing/2014/main" id="{3601D38F-E587-4B44-9B84-EBB254C83FB8}"/>
              </a:ext>
            </a:extLst>
          </p:cNvPr>
          <p:cNvSpPr>
            <a:spLocks xmlns:a="http://schemas.openxmlformats.org/drawingml/2006/main" noGrp="1"/>
          </p:cNvSpPr>
          <p:nvPr/>
        </p:nvSpPr>
        <p:spPr>
          <a:xfrm xmlns:a="http://schemas.openxmlformats.org/drawingml/2006/main">
            <a:off x="4733925" y="5219700"/>
            <a:ext cx="688657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图中颜色表示 N/C，文字表示整改/替换。</a:t>
            </a:r>
          </a:p>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政策选择与治理动作需要分别判断。</a:t>
            </a:r>
          </a:p>
        </p:txBody>
      </p:sp>
      <p:sp>
        <p:nvSpPr>
          <p:cNvPr id="12" name="解释-2">
            <a:extLst xmlns:a="http://schemas.openxmlformats.org/drawingml/2006/main">
              <a:ext uri="{FF2B5EF4-FFF2-40B4-BE49-F238E27FC236}">
                <a16:creationId xmlns:a16="http://schemas.microsoft.com/office/drawing/2014/main" id="{FA98F052-5945-43B7-8365-CEE87ADED352}"/>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§4，pp. 7–9，Proposition 1，Figure 2(a)</a:t>
            </a:r>
          </a:p>
        </p:txBody>
      </p:sp>
      <p:sp>
        <p:nvSpPr>
          <p:cNvPr id="13" name="解释-3">
            <a:extLst xmlns:a="http://schemas.openxmlformats.org/drawingml/2006/main">
              <a:ext uri="{FF2B5EF4-FFF2-40B4-BE49-F238E27FC236}">
                <a16:creationId xmlns:a16="http://schemas.microsoft.com/office/drawing/2014/main" id="{D016E04C-95B9-4EC4-BF66-A192EF600B6E}"/>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14</a:t>
            </a:r>
          </a:p>
        </p:txBody>
      </p:sp>
    </p:spTree>
    <p:extLst>
      <p:ext uri="{BB962C8B-B14F-4D97-AF65-F5344CB8AC3E}">
        <p14:creationId xmlns:p14="http://schemas.microsoft.com/office/powerpoint/2010/main" val="6030852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557D3E98-9958-49F9-91EA-75CB5D976CFB}"/>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五、基准分析：忽略误报损害的代价</a:t>
            </a:r>
            <a:endParaRPr sz="3000" b="1" i="0" u="none" strike="noStrike" kern="0" cap="none" spc="75" baseline="0">
              <a:latin typeface="微软雅黑"/>
              <a:ea typeface="微软雅黑"/>
              <a:cs typeface="微软雅黑"/>
            </a:endParaRPr>
          </a:p>
        </p:txBody>
      </p:sp>
      <p:pic>
        <p:nvPicPr>
          <p:cNvPr id="4" name="图片 3">
            <a:extLst xmlns:a="http://schemas.openxmlformats.org/drawingml/2006/main">
              <a:ext uri="{FF2B5EF4-FFF2-40B4-BE49-F238E27FC236}">
                <a16:creationId xmlns:a16="http://schemas.microsoft.com/office/drawing/2014/main" id="{5836D6D7-8140-4833-A5D8-444E5E9DD3F2}"/>
              </a:ext>
            </a:extLst>
          </p:cNvPr>
          <p:cNvPicPr>
            <a:picLocks xmlns:a="http://schemas.openxmlformats.org/drawingml/2006/main" noChangeAspect="1"/>
          </p:cNvPicPr>
          <p:nvPr/>
        </p:nvPicPr>
        <p:blipFill>
          <a:blip xmlns:r="http://schemas.openxmlformats.org/officeDocument/2006/relationships" xmlns:a="http://schemas.openxmlformats.org/drawingml/2006/main" r:embed="R2fc1ce0d22714aed"/>
          <a:srcRect xmlns:a="http://schemas.openxmlformats.org/drawingml/2006/main" l="0" t="0" r="976" b="0"/>
          <a:stretch xmlns:a="http://schemas.openxmlformats.org/drawingml/2006/main">
            <a:fillRect l="0" t="0" r="0" b="0"/>
          </a:stretch>
        </p:blipFill>
        <p:spPr>
          <a:xfrm xmlns:a="http://schemas.openxmlformats.org/drawingml/2006/main">
            <a:off x="390525" y="1811241"/>
            <a:ext cx="6991350" cy="3873694"/>
          </a:xfrm>
          <a:prstGeom xmlns:a="http://schemas.openxmlformats.org/drawingml/2006/main" prst="rect">
            <a:avLst/>
          </a:prstGeom>
        </p:spPr>
      </p:pic>
      <p:sp>
        <p:nvSpPr>
          <p:cNvPr id="5" name="解释-1">
            <a:extLst xmlns:a="http://schemas.openxmlformats.org/drawingml/2006/main">
              <a:ext uri="{FF2B5EF4-FFF2-40B4-BE49-F238E27FC236}">
                <a16:creationId xmlns:a16="http://schemas.microsoft.com/office/drawing/2014/main" id="{1ADD4F97-6A51-4B53-8E40-0CEC850DF8DC}"/>
              </a:ext>
            </a:extLst>
          </p:cNvPr>
          <p:cNvSpPr>
            <a:spLocks xmlns:a="http://schemas.openxmlformats.org/drawingml/2006/main" noGrp="1"/>
          </p:cNvSpPr>
          <p:nvPr/>
        </p:nvSpPr>
        <p:spPr>
          <a:xfrm xmlns:a="http://schemas.openxmlformats.org/drawingml/2006/main">
            <a:off x="7696200" y="1990725"/>
            <a:ext cx="385762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将 Dα 设为 0，会改变两类选择：</a:t>
            </a:r>
          </a:p>
        </p:txBody>
      </p:sp>
      <p:sp>
        <p:nvSpPr>
          <p:cNvPr id="6" name="解释-2">
            <a:extLst xmlns:a="http://schemas.openxmlformats.org/drawingml/2006/main">
              <a:ext uri="{FF2B5EF4-FFF2-40B4-BE49-F238E27FC236}">
                <a16:creationId xmlns:a16="http://schemas.microsoft.com/office/drawing/2014/main" id="{44ACF43A-C626-4EC5-8CC7-1408E64F0888}"/>
              </a:ext>
            </a:extLst>
          </p:cNvPr>
          <p:cNvSpPr>
            <a:spLocks xmlns:a="http://schemas.openxmlformats.org/drawingml/2006/main" noGrp="1"/>
          </p:cNvSpPr>
          <p:nvPr/>
        </p:nvSpPr>
        <p:spPr>
          <a:xfrm xmlns:a="http://schemas.openxmlformats.org/drawingml/2006/main">
            <a:off x="7696200" y="2886075"/>
            <a:ext cx="3857625" cy="2438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错误政策：</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过度控制漏报，却低估错误替换的损害。</a:t>
            </a:r>
          </a:p>
          <a:p xmlns:a="http://schemas.openxmlformats.org/drawingml/2006/main">
            <a:r>
              <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治理动作：</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本应整改，却直接替换。</a:t>
            </a:r>
          </a:p>
        </p:txBody>
      </p:sp>
      <p:sp>
        <p:nvSpPr>
          <p:cNvPr id="7" name="解释-3">
            <a:extLst xmlns:a="http://schemas.openxmlformats.org/drawingml/2006/main">
              <a:ext uri="{FF2B5EF4-FFF2-40B4-BE49-F238E27FC236}">
                <a16:creationId xmlns:a16="http://schemas.microsoft.com/office/drawing/2014/main" id="{9321376F-9358-4B04-8684-B6CD2B662487}"/>
              </a:ext>
            </a:extLst>
          </p:cNvPr>
          <p:cNvSpPr>
            <a:spLocks xmlns:a="http://schemas.openxmlformats.org/drawingml/2006/main" noGrp="1"/>
          </p:cNvSpPr>
          <p:nvPr/>
        </p:nvSpPr>
        <p:spPr>
          <a:xfrm xmlns:a="http://schemas.openxmlformats.org/drawingml/2006/main">
            <a:off x="609600" y="5867400"/>
            <a:ext cx="109728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推论 1：忽略误报造成的额外损失随审计预算提高而下降。</a:t>
            </a:r>
          </a:p>
        </p:txBody>
      </p:sp>
      <p:sp>
        <p:nvSpPr>
          <p:cNvPr id="8" name="解释-4">
            <a:extLst xmlns:a="http://schemas.openxmlformats.org/drawingml/2006/main">
              <a:ext uri="{FF2B5EF4-FFF2-40B4-BE49-F238E27FC236}">
                <a16:creationId xmlns:a16="http://schemas.microsoft.com/office/drawing/2014/main" id="{205A6831-1562-4220-8225-702FB2CE8A9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 9，Corollary 1，Figure 2</a:t>
            </a:r>
          </a:p>
        </p:txBody>
      </p:sp>
      <p:sp>
        <p:nvSpPr>
          <p:cNvPr id="9" name="解释-5">
            <a:extLst xmlns:a="http://schemas.openxmlformats.org/drawingml/2006/main">
              <a:ext uri="{FF2B5EF4-FFF2-40B4-BE49-F238E27FC236}">
                <a16:creationId xmlns:a16="http://schemas.microsoft.com/office/drawing/2014/main" id="{83E59531-BD66-4C6B-9523-BE800B330F2E}"/>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15</a:t>
            </a:r>
          </a:p>
        </p:txBody>
      </p:sp>
    </p:spTree>
    <p:extLst>
      <p:ext uri="{BB962C8B-B14F-4D97-AF65-F5344CB8AC3E}">
        <p14:creationId xmlns:p14="http://schemas.microsoft.com/office/powerpoint/2010/main" val="202050133"/>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2702C71D-320F-4B89-8445-297136EB507F}"/>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五、基准分析：买方收益比较</a:t>
            </a:r>
            <a:endParaRPr sz="3000" b="1" i="0" u="none" strike="noStrike" kern="0" cap="none" spc="75" baseline="0">
              <a:latin typeface="微软雅黑"/>
              <a:ea typeface="微软雅黑"/>
              <a:cs typeface="微软雅黑"/>
            </a:endParaRPr>
          </a:p>
        </p:txBody>
      </p:sp>
      <p:sp>
        <p:nvSpPr>
          <p:cNvPr id="5" name="文本框 4">
            <a:extLst xmlns:a="http://schemas.openxmlformats.org/drawingml/2006/main">
              <a:ext uri="{FF2B5EF4-FFF2-40B4-BE49-F238E27FC236}">
                <a16:creationId xmlns:a16="http://schemas.microsoft.com/office/drawing/2014/main" id="{11039870-C3D8-4609-867D-7E1E864BA367}"/>
              </a:ext>
            </a:extLst>
          </p:cNvPr>
          <p:cNvSpPr>
            <a:spLocks xmlns:a="http://schemas.openxmlformats.org/drawingml/2006/main" noGrp="1"/>
          </p:cNvSpPr>
          <p:nvPr/>
        </p:nvSpPr>
        <p:spPr>
          <a:xfrm xmlns:a="http://schemas.openxmlformats.org/drawingml/2006/main">
            <a:off x="609600" y="4029075"/>
            <a:ext cx="10972800" cy="437083"/>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2100" b="0">
                <a:solidFill>
                  <a:srgbClr val="111111"/>
                </a:solidFill>
                <a:latin typeface="Noto Sans CJK SC"/>
                <a:ea typeface="Noto Sans CJK SC"/>
                <a:cs typeface="Noto Sans CJK SC"/>
              </a:defRPr>
            </a:pPr>
            <a:r>
              <a:rPr sz="2100" b="0" i="0" u="none" strike="noStrike" cap="none" spc="0" baseline="0">
                <a:solidFill>
                  <a:srgbClr val="111111"/>
                </a:solidFill>
                <a:latin typeface="Noto Sans CJK SC"/>
                <a:ea typeface="Noto Sans CJK SC"/>
                <a:cs typeface="Noto Sans CJK SC"/>
              </a:rPr>
              <a:t>B 增加：可行审计方案扩大，买方的最优期望利润弱增加。</a:t>
            </a:r>
            <a:endParaRPr sz="1800" b="0" i="0" u="none" strike="noStrike" kern="0" cap="none" spc="0" baseline="0">
              <a:latin typeface="微软雅黑"/>
              <a:ea typeface="微软雅黑"/>
              <a:cs typeface="微软雅黑"/>
            </a:endParaRPr>
          </a:p>
        </p:txBody>
      </p:sp>
      <p:pic>
        <p:nvPicPr>
          <p:cNvPr id="6" name="图片 5">
            <a:extLst xmlns:a="http://schemas.openxmlformats.org/drawingml/2006/main">
              <a:ext uri="{FF2B5EF4-FFF2-40B4-BE49-F238E27FC236}">
                <a16:creationId xmlns:a16="http://schemas.microsoft.com/office/drawing/2014/main" id="{7C6D2623-1F00-420A-A1B7-21F277603514}"/>
              </a:ext>
            </a:extLst>
          </p:cNvPr>
          <p:cNvPicPr>
            <a:picLocks xmlns:a="http://schemas.openxmlformats.org/drawingml/2006/main" noChangeAspect="1"/>
          </p:cNvPicPr>
          <p:nvPr/>
        </p:nvPicPr>
        <p:blipFill>
          <a:blip xmlns:r="http://schemas.openxmlformats.org/officeDocument/2006/relationships" xmlns:a="http://schemas.openxmlformats.org/drawingml/2006/main" r:embed="Refb7aa7683114a99"/>
          <a:stretch xmlns:a="http://schemas.openxmlformats.org/drawingml/2006/main">
            <a:fillRect l="0" t="0" r="0" b="0"/>
          </a:stretch>
        </p:blipFill>
        <p:spPr>
          <a:xfrm xmlns:a="http://schemas.openxmlformats.org/drawingml/2006/main">
            <a:off x="762000" y="2227931"/>
            <a:ext cx="10668000" cy="1249614"/>
          </a:xfrm>
          <a:prstGeom xmlns:a="http://schemas.openxmlformats.org/drawingml/2006/main" prst="rect">
            <a:avLst/>
          </a:prstGeom>
        </p:spPr>
      </p:pic>
      <p:sp>
        <p:nvSpPr>
          <p:cNvPr id="7" name="解释-2">
            <a:extLst xmlns:a="http://schemas.openxmlformats.org/drawingml/2006/main">
              <a:ext uri="{FF2B5EF4-FFF2-40B4-BE49-F238E27FC236}">
                <a16:creationId xmlns:a16="http://schemas.microsoft.com/office/drawing/2014/main" id="{BBC1EF0B-15A5-4712-A655-5DFD6B9D0056}"/>
              </a:ext>
            </a:extLst>
          </p:cNvPr>
          <p:cNvSpPr>
            <a:spLocks xmlns:a="http://schemas.openxmlformats.org/drawingml/2006/main" noGrp="1"/>
          </p:cNvSpPr>
          <p:nvPr/>
        </p:nvSpPr>
        <p:spPr>
          <a:xfrm xmlns:a="http://schemas.openxmlformats.org/drawingml/2006/main">
            <a:off x="609600" y="4714875"/>
            <a:ext cx="109728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e 增加：在共同有效审计区间内，最优期望利润弱增加。</a:t>
            </a:r>
          </a:p>
        </p:txBody>
      </p:sp>
      <p:sp>
        <p:nvSpPr>
          <p:cNvPr id="8" name="解释-3">
            <a:extLst xmlns:a="http://schemas.openxmlformats.org/drawingml/2006/main">
              <a:ext uri="{FF2B5EF4-FFF2-40B4-BE49-F238E27FC236}">
                <a16:creationId xmlns:a16="http://schemas.microsoft.com/office/drawing/2014/main" id="{6CE9E857-4A83-492D-8715-68BD670E86D8}"/>
              </a:ext>
            </a:extLst>
          </p:cNvPr>
          <p:cNvSpPr>
            <a:spLocks xmlns:a="http://schemas.openxmlformats.org/drawingml/2006/main" noGrp="1"/>
          </p:cNvSpPr>
          <p:nvPr/>
        </p:nvSpPr>
        <p:spPr>
          <a:xfrm xmlns:a="http://schemas.openxmlformats.org/drawingml/2006/main">
            <a:off x="609600" y="5400675"/>
            <a:ext cx="109728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Dα 或 Dβ 增加：错误的经济后果更大，最优期望利润弱减少。</a:t>
            </a:r>
          </a:p>
        </p:txBody>
      </p:sp>
      <p:sp>
        <p:nvSpPr>
          <p:cNvPr id="9" name="解释-4">
            <a:extLst xmlns:a="http://schemas.openxmlformats.org/drawingml/2006/main">
              <a:ext uri="{FF2B5EF4-FFF2-40B4-BE49-F238E27FC236}">
                <a16:creationId xmlns:a16="http://schemas.microsoft.com/office/drawing/2014/main" id="{82AC9135-2970-42B5-BAE4-CC93E106095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 9，Corollary 2</a:t>
            </a:r>
          </a:p>
        </p:txBody>
      </p:sp>
      <p:sp>
        <p:nvSpPr>
          <p:cNvPr id="10" name="解释-5">
            <a:extLst xmlns:a="http://schemas.openxmlformats.org/drawingml/2006/main">
              <a:ext uri="{FF2B5EF4-FFF2-40B4-BE49-F238E27FC236}">
                <a16:creationId xmlns:a16="http://schemas.microsoft.com/office/drawing/2014/main" id="{27F8EF01-BF5B-4B3C-8F19-09677A8DD2DD}"/>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16</a:t>
            </a:r>
          </a:p>
        </p:txBody>
      </p:sp>
    </p:spTree>
    <p:extLst>
      <p:ext uri="{BB962C8B-B14F-4D97-AF65-F5344CB8AC3E}">
        <p14:creationId xmlns:p14="http://schemas.microsoft.com/office/powerpoint/2010/main" val="1164913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86BFB026-8578-4C6A-BDDF-775D0D379051}"/>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五、基准分析：预算与社会筛查</a:t>
            </a:r>
            <a:endParaRPr sz="3000" b="1" i="0" u="none" strike="noStrike" kern="0" cap="none" spc="75" baseline="0">
              <a:latin typeface="微软雅黑"/>
              <a:ea typeface="微软雅黑"/>
              <a:cs typeface="微软雅黑"/>
            </a:endParaRPr>
          </a:p>
        </p:txBody>
      </p:sp>
      <p:sp>
        <p:nvSpPr>
          <p:cNvPr id="11" name="文本框 10">
            <a:extLst xmlns:a="http://schemas.openxmlformats.org/drawingml/2006/main">
              <a:ext uri="{FF2B5EF4-FFF2-40B4-BE49-F238E27FC236}">
                <a16:creationId xmlns:a16="http://schemas.microsoft.com/office/drawing/2014/main" id="{C6B00FE2-13E8-4213-A66B-629AC59428FF}"/>
              </a:ext>
            </a:extLst>
          </p:cNvPr>
          <p:cNvSpPr>
            <a:spLocks xmlns:a="http://schemas.openxmlformats.org/drawingml/2006/main" noGrp="1"/>
          </p:cNvSpPr>
          <p:nvPr/>
        </p:nvSpPr>
        <p:spPr>
          <a:xfrm xmlns:a="http://schemas.openxmlformats.org/drawingml/2006/main">
            <a:off x="609600" y="6029325"/>
            <a:ext cx="10972800" cy="412394"/>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预算更高可能提高企业收益，却在政策切换时使违规流入概率向上跳。</a:t>
            </a:r>
            <a:endParaRPr sz="1600">
              <a:latin typeface="微软雅黑"/>
              <a:ea typeface="微软雅黑"/>
              <a:cs typeface="微软雅黑"/>
            </a:endParaRPr>
          </a:p>
        </p:txBody>
      </p:sp>
      <p:pic>
        <p:nvPicPr>
          <p:cNvPr id="3" name="图片 2">
            <a:extLst xmlns:a="http://schemas.openxmlformats.org/drawingml/2006/main">
              <a:ext uri="{FF2B5EF4-FFF2-40B4-BE49-F238E27FC236}">
                <a16:creationId xmlns:a16="http://schemas.microsoft.com/office/drawing/2014/main" id="{4766AAB8-9839-4442-A64B-0D8801AB96EA}"/>
              </a:ext>
            </a:extLst>
          </p:cNvPr>
          <p:cNvPicPr>
            <a:picLocks xmlns:a="http://schemas.openxmlformats.org/drawingml/2006/main" noChangeAspect="1"/>
          </p:cNvPicPr>
          <p:nvPr/>
        </p:nvPicPr>
        <p:blipFill>
          <a:blip xmlns:r="http://schemas.openxmlformats.org/officeDocument/2006/relationships" xmlns:a="http://schemas.openxmlformats.org/drawingml/2006/main" r:embed="Rfab7325791c149da"/>
          <a:stretch xmlns:a="http://schemas.openxmlformats.org/drawingml/2006/main">
            <a:fillRect l="0" t="0" r="0" b="0"/>
          </a:stretch>
        </p:blipFill>
        <p:spPr>
          <a:xfrm xmlns:a="http://schemas.openxmlformats.org/drawingml/2006/main">
            <a:off x="1206938" y="2962275"/>
            <a:ext cx="9778125" cy="1419225"/>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A896618A-4C53-4CD8-9366-87DC5BDAB648}"/>
              </a:ext>
            </a:extLst>
          </p:cNvPr>
          <p:cNvPicPr>
            <a:picLocks xmlns:a="http://schemas.openxmlformats.org/drawingml/2006/main" noChangeAspect="1"/>
          </p:cNvPicPr>
          <p:nvPr/>
        </p:nvPicPr>
        <p:blipFill>
          <a:blip xmlns:r="http://schemas.openxmlformats.org/officeDocument/2006/relationships" xmlns:a="http://schemas.openxmlformats.org/drawingml/2006/main" r:embed="Ra337462390ed4000"/>
          <a:stretch xmlns:a="http://schemas.openxmlformats.org/drawingml/2006/main"/>
        </p:blipFill>
        <p:spPr>
          <a:xfrm xmlns:a="http://schemas.openxmlformats.org/drawingml/2006/main">
            <a:off x="1378681" y="1905000"/>
            <a:ext cx="9434638" cy="657225"/>
          </a:xfrm>
          <a:prstGeom xmlns:a="http://schemas.openxmlformats.org/drawingml/2006/main" prst="rect">
            <a:avLst/>
          </a:prstGeom>
        </p:spPr>
      </p:pic>
      <p:graphicFrame>
        <p:nvGraphicFramePr>
          <p:cNvPr id="13" name="">
            <a:extLst xmlns:a="http://schemas.openxmlformats.org/drawingml/2006/main">
              <a:ext uri="{FF2B5EF4-FFF2-40B4-BE49-F238E27FC236}">
                <a16:creationId xmlns:a16="http://schemas.microsoft.com/office/drawing/2014/main" id="{04309AA8-27CC-4A5B-9499-9E672A3F32B2}"/>
              </a:ext>
            </a:extLst>
          </p:cNvPr>
          <p:cNvGraphicFramePr/>
          <p:nvPr/>
        </p:nvGraphicFramePr>
        <p:xfrm>
          <a:off xmlns:a="http://schemas.openxmlformats.org/drawingml/2006/main" x="609600" y="4819650"/>
          <a:ext xmlns:a="http://schemas.openxmlformats.org/drawingml/2006/main" cx="10972800" cy="1019175"/>
        </p:xfrm>
        <a:graphic xmlns:a="http://schemas.openxmlformats.org/drawingml/2006/main">
          <a:graphicData uri="http://schemas.openxmlformats.org/drawingml/2006/table">
            <a:tbl>
              <a:tblPr firstRow="1" bandRow="0"/>
              <a:tblGrid>
                <a:gridCol w="5362575"/>
                <a:gridCol w="2733675"/>
                <a:gridCol w="2876550"/>
              </a:tblGrid>
              <a:tr h="509588">
                <a:tc>
                  <a:txBody>
                    <a:bodyPr wrap="square">
                      <a:noAutofit/>
                    </a:bodyPr>
                    <a:lstStyle/>
                    <a:p>
                      <a:pPr algn="l">
                        <a:lnSpc>
                          <a:spcPct val="100000"/>
                        </a:lnSpc>
                        <a:buNone/>
                      </a:pPr>
                      <a:r>
                        <a:rPr sz="1875" b="1">
                          <a:solidFill>
                            <a:srgbClr val="587C95"/>
                          </a:solidFill>
                          <a:latin typeface="Noto Sans CJK SC"/>
                          <a:ea typeface="Noto Sans CJK SC"/>
                          <a:cs typeface="Noto Sans CJK SC"/>
                        </a:rPr>
                        <a:t>成本切换区</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低预算</a:t>
                      </a:r>
                    </a:p>
                  </a:txBody>
                  <a:tcPr marL="95250" marR="95250" marT="66675" marB="66675" anchor="ctr">
                    <a:solidFill>
                      <a:srgbClr val="EDF2F5"/>
                    </a:solidFill>
                  </a:tcPr>
                </a:tc>
                <a:tc>
                  <a:txBody>
                    <a:bodyPr wrap="square">
                      <a:noAutofit/>
                    </a:bodyPr>
                    <a:lstStyle/>
                    <a:p>
                      <a:pPr algn="l">
                        <a:lnSpc>
                          <a:spcPct val="100000"/>
                        </a:lnSpc>
                        <a:buNone/>
                      </a:pPr>
                      <a:r>
                        <a:rPr sz="1875" b="1">
                          <a:solidFill>
                            <a:srgbClr val="587C95"/>
                          </a:solidFill>
                          <a:latin typeface="Noto Sans CJK SC"/>
                          <a:ea typeface="Noto Sans CJK SC"/>
                          <a:cs typeface="Noto Sans CJK SC"/>
                        </a:rPr>
                        <a:t>高预算</a:t>
                      </a:r>
                    </a:p>
                  </a:txBody>
                  <a:tcPr marL="95250" marR="95250" marT="66675" marB="66675" anchor="ctr">
                    <a:solidFill>
                      <a:srgbClr val="EDF2F5"/>
                    </a:solidFill>
                  </a:tcPr>
                </a:tc>
              </a:tr>
              <a:tr h="509588">
                <a:tc>
                  <a:txBody>
                    <a:bodyPr wrap="square">
                      <a:noAutofit/>
                    </a:bodyPr>
                    <a:lstStyle/>
                    <a:p>
                      <a:pPr algn="l">
                        <a:lnSpc>
                          <a:spcPct val="100000"/>
                        </a:lnSpc>
                        <a:buNone/>
                      </a:pPr>
                      <a:r>
                        <a:rPr sz="1875" b="0">
                          <a:solidFill>
                            <a:srgbClr val="111111"/>
                          </a:solidFill>
                          <a:latin typeface="Noto Sans CJK SC"/>
                          <a:ea typeface="Noto Sans CJK SC"/>
                          <a:cs typeface="Noto Sans CJK SC"/>
                        </a:rPr>
                        <a:t>(Dβ−Dα)/2 &lt; Δs &lt; Δr &lt; Dβ/2</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C+整改</a:t>
                      </a:r>
                    </a:p>
                    <a:p>
                      <a:pPr algn="l">
                        <a:lnSpc>
                          <a:spcPct val="100000"/>
                        </a:lnSpc>
                        <a:buNone/>
                      </a:pPr>
                      <a:r>
                        <a:rPr sz="1875" b="0">
                          <a:solidFill>
                            <a:srgbClr val="111111"/>
                          </a:solidFill>
                          <a:latin typeface="Noto Sans CJK SC"/>
                          <a:ea typeface="Noto Sans CJK SC"/>
                          <a:cs typeface="Noto Sans CJK SC"/>
                        </a:rPr>
                        <a:t>L*=0</a:t>
                      </a:r>
                    </a:p>
                  </a:txBody>
                  <a:tcPr marL="95250" marR="95250" marT="66675" marB="66675" anchor="ctr">
                    <a:solidFill>
                      <a:srgbClr val="FFFFFF"/>
                    </a:solidFill>
                  </a:tcPr>
                </a:tc>
                <a:tc>
                  <a:txBody>
                    <a:bodyPr wrap="square">
                      <a:noAutofit/>
                    </a:bodyPr>
                    <a:lstStyle/>
                    <a:p>
                      <a:pPr algn="l">
                        <a:lnSpc>
                          <a:spcPct val="100000"/>
                        </a:lnSpc>
                        <a:buNone/>
                      </a:pPr>
                      <a:r>
                        <a:rPr sz="1875" b="0">
                          <a:solidFill>
                            <a:srgbClr val="111111"/>
                          </a:solidFill>
                          <a:latin typeface="Noto Sans CJK SC"/>
                          <a:ea typeface="Noto Sans CJK SC"/>
                          <a:cs typeface="Noto Sans CJK SC"/>
                        </a:rPr>
                        <a:t>N+替换</a:t>
                      </a:r>
                    </a:p>
                    <a:p>
                      <a:pPr algn="l">
                        <a:lnSpc>
                          <a:spcPct val="100000"/>
                        </a:lnSpc>
                        <a:buNone/>
                      </a:pPr>
                      <a:r>
                        <a:rPr sz="1875" b="0">
                          <a:solidFill>
                            <a:srgbClr val="111111"/>
                          </a:solidFill>
                          <a:latin typeface="Noto Sans CJK SC"/>
                          <a:ea typeface="Noto Sans CJK SC"/>
                          <a:cs typeface="Noto Sans CJK SC"/>
                        </a:rPr>
                        <a:t>L*=1−b₀</a:t>
                      </a:r>
                    </a:p>
                  </a:txBody>
                  <a:tcPr marL="95250" marR="95250" marT="66675" marB="66675" anchor="ctr">
                    <a:solidFill>
                      <a:srgbClr val="FFFFFF"/>
                    </a:solidFill>
                  </a:tcPr>
                </a:tc>
              </a:tr>
            </a:tbl>
          </a:graphicData>
        </a:graphic>
      </p:graphicFrame>
      <p:sp>
        <p:nvSpPr>
          <p:cNvPr id="14" name="解释-2">
            <a:extLst xmlns:a="http://schemas.openxmlformats.org/drawingml/2006/main">
              <a:ext uri="{FF2B5EF4-FFF2-40B4-BE49-F238E27FC236}">
                <a16:creationId xmlns:a16="http://schemas.microsoft.com/office/drawing/2014/main" id="{0FA0670F-08D6-4C8F-8C26-47212A33EB8B}"/>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§4，pp. 9–10，Proposition 2</a:t>
            </a:r>
          </a:p>
        </p:txBody>
      </p:sp>
      <p:sp>
        <p:nvSpPr>
          <p:cNvPr id="15" name="解释-3">
            <a:extLst xmlns:a="http://schemas.openxmlformats.org/drawingml/2006/main">
              <a:ext uri="{FF2B5EF4-FFF2-40B4-BE49-F238E27FC236}">
                <a16:creationId xmlns:a16="http://schemas.microsoft.com/office/drawing/2014/main" id="{8A9CA1E4-0707-4534-9894-83CCA80888CD}"/>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17</a:t>
            </a:r>
          </a:p>
        </p:txBody>
      </p:sp>
    </p:spTree>
    <p:extLst>
      <p:ext uri="{BB962C8B-B14F-4D97-AF65-F5344CB8AC3E}">
        <p14:creationId xmlns:p14="http://schemas.microsoft.com/office/powerpoint/2010/main" val="191354929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sp>
        <p:nvSpPr>
          <p:cNvPr id="7" name="文本框 6">
            <a:extLst xmlns:a="http://schemas.openxmlformats.org/drawingml/2006/main">
              <a:ext uri="{FF2B5EF4-FFF2-40B4-BE49-F238E27FC236}">
                <a16:creationId xmlns:a16="http://schemas.microsoft.com/office/drawing/2014/main" id="{314C4F91-FDA3-4C50-B268-DE893D717339}"/>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五、装配网络：治理决策的分解</a:t>
            </a:r>
            <a:endParaRPr sz="3000" b="1" i="0" u="none" strike="noStrike" kern="0" cap="none" spc="75" baseline="0">
              <a:latin typeface="微软雅黑"/>
              <a:ea typeface="微软雅黑"/>
              <a:cs typeface="微软雅黑"/>
            </a:endParaRPr>
          </a:p>
        </p:txBody>
      </p:sp>
      <p:pic>
        <p:nvPicPr>
          <p:cNvPr id="9" name="图片 8">
            <a:extLst xmlns:a="http://schemas.openxmlformats.org/drawingml/2006/main">
              <a:ext uri="{FF2B5EF4-FFF2-40B4-BE49-F238E27FC236}">
                <a16:creationId xmlns:a16="http://schemas.microsoft.com/office/drawing/2014/main" id="{BEED201D-E202-41C0-8E8B-3A31E5026B78}"/>
              </a:ext>
            </a:extLst>
          </p:cNvPr>
          <p:cNvPicPr>
            <a:picLocks xmlns:a="http://schemas.openxmlformats.org/drawingml/2006/main" noChangeAspect="1"/>
          </p:cNvPicPr>
          <p:nvPr/>
        </p:nvPicPr>
        <p:blipFill>
          <a:blip xmlns:r="http://schemas.openxmlformats.org/officeDocument/2006/relationships" xmlns:a="http://schemas.openxmlformats.org/drawingml/2006/main" r:embed="Rab506b8556524a7e"/>
          <a:srcRect xmlns:a="http://schemas.openxmlformats.org/drawingml/2006/main" l="7280" t="0" r="8275" b="0"/>
          <a:stretch xmlns:a="http://schemas.openxmlformats.org/drawingml/2006/main">
            <a:fillRect l="0" t="0" r="0" b="0"/>
          </a:stretch>
        </p:blipFill>
        <p:spPr>
          <a:xfrm xmlns:a="http://schemas.openxmlformats.org/drawingml/2006/main">
            <a:off x="628650" y="2058240"/>
            <a:ext cx="3790950" cy="1874745"/>
          </a:xfrm>
          <a:prstGeom xmlns:a="http://schemas.openxmlformats.org/drawingml/2006/main" prst="rect">
            <a:avLst/>
          </a:prstGeom>
        </p:spPr>
      </p:pic>
      <p:pic>
        <p:nvPicPr>
          <p:cNvPr id="10" name="图片 9">
            <a:extLst xmlns:a="http://schemas.openxmlformats.org/drawingml/2006/main">
              <a:ext uri="{FF2B5EF4-FFF2-40B4-BE49-F238E27FC236}">
                <a16:creationId xmlns:a16="http://schemas.microsoft.com/office/drawing/2014/main" id="{DC3380C3-44E6-4FB7-A800-783E5CC51380}"/>
              </a:ext>
            </a:extLst>
          </p:cNvPr>
          <p:cNvPicPr>
            <a:picLocks xmlns:a="http://schemas.openxmlformats.org/drawingml/2006/main" noChangeAspect="1"/>
          </p:cNvPicPr>
          <p:nvPr/>
        </p:nvPicPr>
        <p:blipFill>
          <a:blip xmlns:r="http://schemas.openxmlformats.org/officeDocument/2006/relationships" xmlns:a="http://schemas.openxmlformats.org/drawingml/2006/main" r:embed="R41ff148682134372"/>
          <a:stretch xmlns:a="http://schemas.openxmlformats.org/drawingml/2006/main">
            <a:fillRect l="0" t="0" r="0" b="0"/>
          </a:stretch>
        </p:blipFill>
        <p:spPr>
          <a:xfrm xmlns:a="http://schemas.openxmlformats.org/drawingml/2006/main">
            <a:off x="4819650" y="1976247"/>
            <a:ext cx="6657975" cy="1343405"/>
          </a:xfrm>
          <a:prstGeom xmlns:a="http://schemas.openxmlformats.org/drawingml/2006/main" prst="rect">
            <a:avLst/>
          </a:prstGeom>
        </p:spPr>
      </p:pic>
      <p:sp>
        <p:nvSpPr>
          <p:cNvPr id="11" name="文本框 10">
            <a:extLst xmlns:a="http://schemas.openxmlformats.org/drawingml/2006/main">
              <a:ext uri="{FF2B5EF4-FFF2-40B4-BE49-F238E27FC236}">
                <a16:creationId xmlns:a16="http://schemas.microsoft.com/office/drawing/2014/main" id="{ED1986B4-21B3-4146-BFF9-B7244FEBDA9D}"/>
              </a:ext>
            </a:extLst>
          </p:cNvPr>
          <p:cNvSpPr>
            <a:spLocks xmlns:a="http://schemas.openxmlformats.org/drawingml/2006/main" noGrp="1"/>
          </p:cNvSpPr>
          <p:nvPr/>
        </p:nvSpPr>
        <p:spPr>
          <a:xfrm xmlns:a="http://schemas.openxmlformats.org/drawingml/2006/main">
            <a:off x="4819650" y="3848100"/>
            <a:ext cx="6657975" cy="449428"/>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75"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175" b="1">
                <a:solidFill>
                  <a:srgbClr val="587C95"/>
                </a:solidFill>
                <a:latin typeface="Noto Sans CJK SC"/>
                <a:ea typeface="Noto Sans CJK SC"/>
                <a:cs typeface="Noto Sans CJK SC"/>
              </a:defRPr>
            </a:pPr>
            <a:r>
              <a:rPr sz="2175" b="1">
                <a:solidFill>
                  <a:srgbClr val="587C95"/>
                </a:solidFill>
                <a:latin typeface="Noto Sans CJK SC"/>
                <a:ea typeface="Noto Sans CJK SC"/>
                <a:cs typeface="Noto Sans CJK SC"/>
              </a:rPr>
              <a:t>每家的治理阈值，只由自身的审计误差决定。</a:t>
            </a:r>
            <a:endParaRPr>
              <a:latin typeface="微软雅黑"/>
              <a:ea typeface="微软雅黑"/>
              <a:cs typeface="微软雅黑"/>
            </a:endParaRPr>
          </a:p>
        </p:txBody>
      </p:sp>
      <p:sp>
        <p:nvSpPr>
          <p:cNvPr id="12" name="解释-2">
            <a:extLst xmlns:a="http://schemas.openxmlformats.org/drawingml/2006/main">
              <a:ext uri="{FF2B5EF4-FFF2-40B4-BE49-F238E27FC236}">
                <a16:creationId xmlns:a16="http://schemas.microsoft.com/office/drawing/2014/main" id="{53D2DAB2-A491-4A8A-ADDA-3DEEC873CBD0}"/>
              </a:ext>
            </a:extLst>
          </p:cNvPr>
          <p:cNvSpPr>
            <a:spLocks xmlns:a="http://schemas.openxmlformats.org/drawingml/2006/main" noGrp="1"/>
          </p:cNvSpPr>
          <p:nvPr/>
        </p:nvSpPr>
        <p:spPr>
          <a:xfrm xmlns:a="http://schemas.openxmlformats.org/drawingml/2006/main">
            <a:off x="4819650" y="4876800"/>
            <a:ext cx="6657975"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治理动作可以逐家判断，但两家仍共享预算。</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最终产品的违规风险还需要合并两个投入品的残余风险。</a:t>
            </a:r>
          </a:p>
        </p:txBody>
      </p:sp>
      <p:sp>
        <p:nvSpPr>
          <p:cNvPr id="13" name="解释-3">
            <a:extLst xmlns:a="http://schemas.openxmlformats.org/drawingml/2006/main">
              <a:ext uri="{FF2B5EF4-FFF2-40B4-BE49-F238E27FC236}">
                <a16:creationId xmlns:a16="http://schemas.microsoft.com/office/drawing/2014/main" id="{BC5699C6-EB7E-48C8-9BB3-ABA740A76837}"/>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§5，pp. 10–11，Proposition 3</a:t>
            </a:r>
          </a:p>
        </p:txBody>
      </p:sp>
      <p:sp>
        <p:nvSpPr>
          <p:cNvPr id="14" name="解释-4">
            <a:extLst xmlns:a="http://schemas.openxmlformats.org/drawingml/2006/main">
              <a:ext uri="{FF2B5EF4-FFF2-40B4-BE49-F238E27FC236}">
                <a16:creationId xmlns:a16="http://schemas.microsoft.com/office/drawing/2014/main" id="{9C751B38-0BEE-4355-9CA5-CAF1E09A0D37}"/>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18</a:t>
            </a:r>
          </a:p>
        </p:txBody>
      </p:sp>
    </p:spTree>
    <p:extLst>
      <p:ext uri="{BB962C8B-B14F-4D97-AF65-F5344CB8AC3E}">
        <p14:creationId xmlns:p14="http://schemas.microsoft.com/office/powerpoint/2010/main" val="1929865999"/>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24A4CB2E-F44F-454D-9655-239D1EEC2683}"/>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五、装配网络：准确度与预算分配</a:t>
            </a:r>
            <a:endParaRPr sz="3000" b="1" i="0" u="none" strike="noStrike" kern="0" cap="none" spc="75" baseline="0">
              <a:latin typeface="微软雅黑"/>
              <a:ea typeface="微软雅黑"/>
              <a:cs typeface="微软雅黑"/>
            </a:endParaRPr>
          </a:p>
        </p:txBody>
      </p:sp>
      <p:sp>
        <p:nvSpPr>
          <p:cNvPr id="8" name="文本框 7">
            <a:extLst xmlns:a="http://schemas.openxmlformats.org/drawingml/2006/main">
              <a:ext uri="{FF2B5EF4-FFF2-40B4-BE49-F238E27FC236}">
                <a16:creationId xmlns:a16="http://schemas.microsoft.com/office/drawing/2014/main" id="{B205D75D-A914-439A-80DF-0F9037FE4936}"/>
              </a:ext>
            </a:extLst>
          </p:cNvPr>
          <p:cNvSpPr>
            <a:spLocks xmlns:a="http://schemas.openxmlformats.org/drawingml/2006/main" noGrp="1"/>
          </p:cNvSpPr>
          <p:nvPr/>
        </p:nvSpPr>
        <p:spPr>
          <a:xfrm xmlns:a="http://schemas.openxmlformats.org/drawingml/2006/main">
            <a:off x="7867650" y="3705225"/>
            <a:ext cx="3714750" cy="782726"/>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bᵢ 是可达准确度，</a:t>
            </a:r>
            <a:endParaRPr>
              <a:latin typeface="微软雅黑"/>
              <a:ea typeface="微软雅黑"/>
              <a:cs typeface="微软雅黑"/>
            </a:endParaRPr>
          </a:p>
          <a:p xmlns:a="http://schemas.openxmlformats.org/drawingml/2006/main">
            <a:pPr marL="0" indent="0"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预算金额为 bᵢ²/2。</a:t>
            </a:r>
            <a:endParaRPr>
              <a:latin typeface="微软雅黑"/>
              <a:ea typeface="微软雅黑"/>
              <a:cs typeface="微软雅黑"/>
            </a:endParaRPr>
          </a:p>
        </p:txBody>
      </p:sp>
      <p:pic>
        <p:nvPicPr>
          <p:cNvPr id="5" name="图片 4">
            <a:extLst xmlns:a="http://schemas.openxmlformats.org/drawingml/2006/main">
              <a:ext uri="{FF2B5EF4-FFF2-40B4-BE49-F238E27FC236}">
                <a16:creationId xmlns:a16="http://schemas.microsoft.com/office/drawing/2014/main" id="{DD5B2AD9-3B9F-45F7-B2A7-2262B9F98429}"/>
              </a:ext>
            </a:extLst>
          </p:cNvPr>
          <p:cNvPicPr>
            <a:picLocks xmlns:a="http://schemas.openxmlformats.org/drawingml/2006/main" noChangeAspect="1"/>
          </p:cNvPicPr>
          <p:nvPr/>
        </p:nvPicPr>
        <p:blipFill>
          <a:blip xmlns:r="http://schemas.openxmlformats.org/officeDocument/2006/relationships" xmlns:a="http://schemas.openxmlformats.org/drawingml/2006/main" r:embed="Rd915c5b32c6b4181"/>
          <a:stretch xmlns:a="http://schemas.openxmlformats.org/drawingml/2006/main">
            <a:fillRect l="0" t="0" r="0" b="0"/>
          </a:stretch>
        </p:blipFill>
        <p:spPr>
          <a:xfrm xmlns:a="http://schemas.openxmlformats.org/drawingml/2006/main">
            <a:off x="861646" y="2105025"/>
            <a:ext cx="10468708" cy="904875"/>
          </a:xfrm>
          <a:prstGeom xmlns:a="http://schemas.openxmlformats.org/drawingml/2006/main" prst="rect">
            <a:avLst/>
          </a:prstGeom>
        </p:spPr>
      </p:pic>
      <p:pic>
        <p:nvPicPr>
          <p:cNvPr id="6" name="图片 5">
            <a:extLst xmlns:a="http://schemas.openxmlformats.org/drawingml/2006/main">
              <a:ext uri="{FF2B5EF4-FFF2-40B4-BE49-F238E27FC236}">
                <a16:creationId xmlns:a16="http://schemas.microsoft.com/office/drawing/2014/main" id="{5ADBA7CD-5847-475E-9ECB-0951DCF06174}"/>
              </a:ext>
            </a:extLst>
          </p:cNvPr>
          <p:cNvPicPr>
            <a:picLocks xmlns:a="http://schemas.openxmlformats.org/drawingml/2006/main" noChangeAspect="1"/>
          </p:cNvPicPr>
          <p:nvPr/>
        </p:nvPicPr>
        <p:blipFill>
          <a:blip xmlns:r="http://schemas.openxmlformats.org/officeDocument/2006/relationships" xmlns:a="http://schemas.openxmlformats.org/drawingml/2006/main" r:embed="Ra4f8fd42b2304efb"/>
          <a:stretch xmlns:a="http://schemas.openxmlformats.org/drawingml/2006/main">
            <a:fillRect l="0" t="0" r="0" b="0"/>
          </a:stretch>
        </p:blipFill>
        <p:spPr>
          <a:xfrm xmlns:a="http://schemas.openxmlformats.org/drawingml/2006/main">
            <a:off x="609600" y="3658094"/>
            <a:ext cx="6696075" cy="1837338"/>
          </a:xfrm>
          <a:prstGeom xmlns:a="http://schemas.openxmlformats.org/drawingml/2006/main" prst="rect">
            <a:avLst/>
          </a:prstGeom>
        </p:spPr>
      </p:pic>
      <p:sp>
        <p:nvSpPr>
          <p:cNvPr id="9" name="解释-2">
            <a:extLst xmlns:a="http://schemas.openxmlformats.org/drawingml/2006/main">
              <a:ext uri="{FF2B5EF4-FFF2-40B4-BE49-F238E27FC236}">
                <a16:creationId xmlns:a16="http://schemas.microsoft.com/office/drawing/2014/main" id="{0B8BEAC0-C0A1-4929-807B-7882349B3910}"/>
              </a:ext>
            </a:extLst>
          </p:cNvPr>
          <p:cNvSpPr>
            <a:spLocks xmlns:a="http://schemas.openxmlformats.org/drawingml/2006/main" noGrp="1"/>
          </p:cNvSpPr>
          <p:nvPr/>
        </p:nvSpPr>
        <p:spPr>
          <a:xfrm xmlns:a="http://schemas.openxmlformats.org/drawingml/2006/main">
            <a:off x="7867650" y="4895850"/>
            <a:ext cx="371475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0">
                <a:solidFill>
                  <a:srgbClr val="111111"/>
                </a:solidFill>
                <a:latin typeface="Noto Sans CJK SC"/>
                <a:ea typeface="Noto Sans CJK SC"/>
                <a:cs typeface="Noto Sans CJK SC"/>
              </a:defRPr>
            </a:defPPr>
          </a:lstStyle>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内层：给定准确度选 α、β。</a:t>
            </a:r>
          </a:p>
          <a:p xmlns:a="http://schemas.openxmlformats.org/drawingml/2006/main">
            <a:pPr algn="l">
              <a:lnSpc>
                <a:spcPct val="108000"/>
              </a:lnSpc>
              <a:buNone/>
              <a:defRPr sz="1950" b="0">
                <a:solidFill>
                  <a:srgbClr val="111111"/>
                </a:solidFill>
                <a:latin typeface="Noto Sans CJK SC"/>
                <a:ea typeface="Noto Sans CJK SC"/>
                <a:cs typeface="Noto Sans CJK SC"/>
              </a:defRPr>
            </a:pPr>
            <a:r>
              <a:rPr sz="1950" b="0">
                <a:solidFill>
                  <a:srgbClr val="111111"/>
                </a:solidFill>
                <a:latin typeface="Noto Sans CJK SC"/>
                <a:ea typeface="Noto Sans CJK SC"/>
                <a:cs typeface="Noto Sans CJK SC"/>
              </a:rPr>
              <a:t>外层：给定预算选 b₁、b₂。</a:t>
            </a:r>
          </a:p>
        </p:txBody>
      </p:sp>
      <p:sp>
        <p:nvSpPr>
          <p:cNvPr id="10" name="解释-3">
            <a:extLst xmlns:a="http://schemas.openxmlformats.org/drawingml/2006/main">
              <a:ext uri="{FF2B5EF4-FFF2-40B4-BE49-F238E27FC236}">
                <a16:creationId xmlns:a16="http://schemas.microsoft.com/office/drawing/2014/main" id="{87F20258-1E61-48C6-8CA8-130A827B5F5C}"/>
              </a:ext>
            </a:extLst>
          </p:cNvPr>
          <p:cNvSpPr>
            <a:spLocks xmlns:a="http://schemas.openxmlformats.org/drawingml/2006/main" noGrp="1"/>
          </p:cNvSpPr>
          <p:nvPr/>
        </p:nvSpPr>
        <p:spPr>
          <a:xfrm xmlns:a="http://schemas.openxmlformats.org/drawingml/2006/main">
            <a:off x="609600" y="60674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875" b="0">
                <a:solidFill>
                  <a:srgbClr val="111111"/>
                </a:solidFill>
                <a:latin typeface="Noto Sans CJK SC"/>
                <a:ea typeface="Noto Sans CJK SC"/>
                <a:cs typeface="Noto Sans CJK SC"/>
              </a:defRPr>
            </a:defPPr>
          </a:lstStyle>
          <a:p xmlns:a="http://schemas.openxmlformats.org/drawingml/2006/main">
            <a:pPr algn="l">
              <a:lnSpc>
                <a:spcPct val="108000"/>
              </a:lnSpc>
              <a:buNone/>
              <a:defRPr sz="1875" b="0">
                <a:solidFill>
                  <a:srgbClr val="111111"/>
                </a:solidFill>
                <a:latin typeface="Noto Sans CJK SC"/>
                <a:ea typeface="Noto Sans CJK SC"/>
                <a:cs typeface="Noto Sans CJK SC"/>
              </a:defRPr>
            </a:pPr>
            <a:r>
              <a:rPr sz="1875" b="0">
                <a:solidFill>
                  <a:srgbClr val="111111"/>
                </a:solidFill>
                <a:latin typeface="Noto Sans CJK SC"/>
                <a:ea typeface="Noto Sans CJK SC"/>
                <a:cs typeface="Noto Sans CJK SC"/>
              </a:rPr>
              <a:t>只有单家误差约束变为线性，共享预算约束仍是二次约束。</a:t>
            </a:r>
          </a:p>
        </p:txBody>
      </p:sp>
      <p:sp>
        <p:nvSpPr>
          <p:cNvPr id="11" name="解释-4">
            <a:extLst xmlns:a="http://schemas.openxmlformats.org/drawingml/2006/main">
              <a:ext uri="{FF2B5EF4-FFF2-40B4-BE49-F238E27FC236}">
                <a16:creationId xmlns:a16="http://schemas.microsoft.com/office/drawing/2014/main" id="{C9D35FD8-415F-4C47-A043-EEE04647CB10}"/>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 11，Eqs. (11)–(15)</a:t>
            </a:r>
          </a:p>
        </p:txBody>
      </p:sp>
      <p:sp>
        <p:nvSpPr>
          <p:cNvPr id="12" name="解释-5">
            <a:extLst xmlns:a="http://schemas.openxmlformats.org/drawingml/2006/main">
              <a:ext uri="{FF2B5EF4-FFF2-40B4-BE49-F238E27FC236}">
                <a16:creationId xmlns:a16="http://schemas.microsoft.com/office/drawing/2014/main" id="{4E12E323-DBEC-40AB-90C0-AE59B6AA4CB1}"/>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19</a:t>
            </a:r>
          </a:p>
        </p:txBody>
      </p:sp>
    </p:spTree>
    <p:extLst>
      <p:ext uri="{BB962C8B-B14F-4D97-AF65-F5344CB8AC3E}">
        <p14:creationId xmlns:p14="http://schemas.microsoft.com/office/powerpoint/2010/main" val="899497309"/>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1DEA18BC-882F-45A6-9D28-0BFCFB7381AA}"/>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五、装配网络：给定分配的审计政策</a:t>
            </a:r>
            <a:endParaRPr sz="3000" b="1" i="0" u="none" strike="noStrike" kern="0" cap="none" spc="75" baseline="0">
              <a:latin typeface="微软雅黑"/>
              <a:ea typeface="微软雅黑"/>
              <a:cs typeface="微软雅黑"/>
            </a:endParaRPr>
          </a:p>
        </p:txBody>
      </p:sp>
      <p:sp>
        <p:nvSpPr>
          <p:cNvPr id="6" name="文本框 5">
            <a:extLst xmlns:a="http://schemas.openxmlformats.org/drawingml/2006/main">
              <a:ext uri="{FF2B5EF4-FFF2-40B4-BE49-F238E27FC236}">
                <a16:creationId xmlns:a16="http://schemas.microsoft.com/office/drawing/2014/main" id="{20B75B34-0FE2-469E-95D7-E560C8F974F2}"/>
              </a:ext>
            </a:extLst>
          </p:cNvPr>
          <p:cNvSpPr>
            <a:spLocks xmlns:a="http://schemas.openxmlformats.org/drawingml/2006/main" noGrp="1"/>
          </p:cNvSpPr>
          <p:nvPr/>
        </p:nvSpPr>
        <p:spPr>
          <a:xfrm xmlns:a="http://schemas.openxmlformats.org/drawingml/2006/main">
            <a:off x="4781550" y="5153025"/>
            <a:ext cx="6762750" cy="93345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图3中的灰色区域允许 N/C 不同。</a:t>
            </a:r>
            <a:endParaRPr sz="1600">
              <a:latin typeface="微软雅黑"/>
              <a:ea typeface="微软雅黑"/>
              <a:cs typeface="微软雅黑"/>
            </a:endParaRPr>
          </a:p>
          <a:p xmlns:a="http://schemas.openxmlformats.org/drawingml/2006/main">
            <a:pPr marL="0" indent="0"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同一政策也不一定对应同一治理动作。</a:t>
            </a:r>
            <a:endParaRPr sz="1600">
              <a:latin typeface="微软雅黑"/>
              <a:ea typeface="微软雅黑"/>
              <a:cs typeface="微软雅黑"/>
            </a:endParaRPr>
          </a:p>
        </p:txBody>
      </p:sp>
      <p:pic>
        <p:nvPicPr>
          <p:cNvPr id="8" name="图片 7">
            <a:extLst xmlns:a="http://schemas.openxmlformats.org/drawingml/2006/main">
              <a:ext uri="{FF2B5EF4-FFF2-40B4-BE49-F238E27FC236}">
                <a16:creationId xmlns:a16="http://schemas.microsoft.com/office/drawing/2014/main" id="{B3CD1F9A-82FC-4278-8B46-F97D4205E2E0}"/>
              </a:ext>
            </a:extLst>
          </p:cNvPr>
          <p:cNvPicPr>
            <a:picLocks xmlns:a="http://schemas.openxmlformats.org/drawingml/2006/main" noChangeAspect="1"/>
          </p:cNvPicPr>
          <p:nvPr/>
        </p:nvPicPr>
        <p:blipFill>
          <a:blip xmlns:r="http://schemas.openxmlformats.org/officeDocument/2006/relationships" xmlns:a="http://schemas.openxmlformats.org/drawingml/2006/main" r:embed="Re9b65f72faf54455"/>
          <a:srcRect xmlns:a="http://schemas.openxmlformats.org/drawingml/2006/main" l="5789" t="1994" r="3521" b="0"/>
          <a:stretch xmlns:a="http://schemas.openxmlformats.org/drawingml/2006/main">
            <a:fillRect l="0" t="0" r="0" b="0"/>
          </a:stretch>
        </p:blipFill>
        <p:spPr>
          <a:xfrm xmlns:a="http://schemas.openxmlformats.org/drawingml/2006/main">
            <a:off x="394921" y="1876425"/>
            <a:ext cx="3934558" cy="4114800"/>
          </a:xfrm>
          <a:prstGeom xmlns:a="http://schemas.openxmlformats.org/drawingml/2006/main" prst="rect">
            <a:avLst/>
          </a:prstGeom>
        </p:spPr>
      </p:pic>
      <p:graphicFrame>
        <p:nvGraphicFramePr>
          <p:cNvPr id="9" name="">
            <a:extLst xmlns:a="http://schemas.openxmlformats.org/drawingml/2006/main">
              <a:ext uri="{FF2B5EF4-FFF2-40B4-BE49-F238E27FC236}">
                <a16:creationId xmlns:a16="http://schemas.microsoft.com/office/drawing/2014/main" id="{9C54A28E-429F-4B86-88B3-D2CBA1D67F4A}"/>
              </a:ext>
            </a:extLst>
          </p:cNvPr>
          <p:cNvGraphicFramePr/>
          <p:nvPr/>
        </p:nvGraphicFramePr>
        <p:xfrm>
          <a:off xmlns:a="http://schemas.openxmlformats.org/drawingml/2006/main" x="4781550" y="2209800"/>
          <a:ext xmlns:a="http://schemas.openxmlformats.org/drawingml/2006/main" cx="6762750" cy="2352675"/>
        </p:xfrm>
        <a:graphic xmlns:a="http://schemas.openxmlformats.org/drawingml/2006/main">
          <a:graphicData uri="http://schemas.openxmlformats.org/drawingml/2006/table">
            <a:tbl>
              <a:tblPr firstRow="1" bandRow="0"/>
              <a:tblGrid>
                <a:gridCol w="3143250"/>
                <a:gridCol w="3619500"/>
              </a:tblGrid>
              <a:tr h="588169">
                <a:tc>
                  <a:txBody>
                    <a:bodyPr wrap="square">
                      <a:noAutofit/>
                    </a:bodyPr>
                    <a:lstStyle/>
                    <a:p>
                      <a:pPr algn="l">
                        <a:lnSpc>
                          <a:spcPct val="100000"/>
                        </a:lnSpc>
                        <a:buNone/>
                      </a:pPr>
                      <a:r>
                        <a:rPr sz="1950" b="1">
                          <a:solidFill>
                            <a:srgbClr val="587C95"/>
                          </a:solidFill>
                          <a:latin typeface="Noto Sans CJK SC"/>
                          <a:ea typeface="Noto Sans CJK SC"/>
                          <a:cs typeface="Noto Sans CJK SC"/>
                        </a:rPr>
                        <a:t>准确度与成本区域</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两家的最优政策</a:t>
                      </a:r>
                    </a:p>
                  </a:txBody>
                  <a:tcPr marL="95250" marR="95250" marT="66675" marB="66675" anchor="ctr">
                    <a:solidFill>
                      <a:srgbClr val="EDF2F5"/>
                    </a:solidFill>
                  </a:tcPr>
                </a:tc>
              </a:tr>
              <a:tr h="588169">
                <a:tc>
                  <a:txBody>
                    <a:bodyPr wrap="square">
                      <a:noAutofit/>
                    </a:bodyPr>
                    <a:lstStyle/>
                    <a:p>
                      <a:pPr algn="l">
                        <a:lnSpc>
                          <a:spcPct val="100000"/>
                        </a:lnSpc>
                        <a:buNone/>
                      </a:pPr>
                      <a:r>
                        <a:rPr sz="1950" b="0">
                          <a:solidFill>
                            <a:srgbClr val="111111"/>
                          </a:solidFill>
                          <a:latin typeface="Noto Sans CJK SC"/>
                          <a:ea typeface="Noto Sans CJK SC"/>
                          <a:cs typeface="Noto Sans CJK SC"/>
                        </a:rPr>
                        <a:t>治理动作稳定的区域</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逐家按命题1选择 N/C</a:t>
                      </a:r>
                    </a:p>
                  </a:txBody>
                  <a:tcPr marL="95250" marR="95250" marT="66675" marB="66675" anchor="ctr">
                    <a:solidFill>
                      <a:srgbClr val="FFFFFF"/>
                    </a:solidFill>
                  </a:tcPr>
                </a:tc>
              </a:tr>
              <a:tr h="588169">
                <a:tc>
                  <a:txBody>
                    <a:bodyPr wrap="square">
                      <a:noAutofit/>
                    </a:bodyPr>
                    <a:lstStyle/>
                    <a:p>
                      <a:pPr algn="l">
                        <a:lnSpc>
                          <a:spcPct val="100000"/>
                        </a:lnSpc>
                        <a:buNone/>
                      </a:pPr>
                      <a:r>
                        <a:rPr sz="1950" b="0">
                          <a:solidFill>
                            <a:srgbClr val="111111"/>
                          </a:solidFill>
                          <a:latin typeface="Noto Sans CJK SC"/>
                          <a:ea typeface="Noto Sans CJK SC"/>
                          <a:cs typeface="Noto Sans CJK SC"/>
                        </a:rPr>
                        <a:t>极低替换成本区 (iii.a)</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两家都用 C，治理可能不同</a:t>
                      </a:r>
                    </a:p>
                  </a:txBody>
                  <a:tcPr marL="95250" marR="95250" marT="66675" marB="66675" anchor="ctr">
                    <a:solidFill>
                      <a:srgbClr val="FFFFFF"/>
                    </a:solidFill>
                  </a:tcPr>
                </a:tc>
              </a:tr>
              <a:tr h="588169">
                <a:tc>
                  <a:txBody>
                    <a:bodyPr wrap="square">
                      <a:noAutofit/>
                    </a:bodyPr>
                    <a:lstStyle/>
                    <a:p>
                      <a:pPr algn="l">
                        <a:lnSpc>
                          <a:spcPct val="100000"/>
                        </a:lnSpc>
                        <a:buNone/>
                      </a:pPr>
                      <a:r>
                        <a:rPr sz="1950" b="0">
                          <a:solidFill>
                            <a:srgbClr val="111111"/>
                          </a:solidFill>
                          <a:latin typeface="Noto Sans CJK SC"/>
                          <a:ea typeface="Noto Sans CJK SC"/>
                          <a:cs typeface="Noto Sans CJK SC"/>
                        </a:rPr>
                        <a:t>中等替换成本区 (iii.b)</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bᵢ 低于阈值：C+整改</a:t>
                      </a:r>
                    </a:p>
                    <a:p>
                      <a:pPr algn="l">
                        <a:lnSpc>
                          <a:spcPct val="100000"/>
                        </a:lnSpc>
                        <a:buNone/>
                      </a:pPr>
                      <a:r>
                        <a:rPr sz="1950" b="0">
                          <a:solidFill>
                            <a:srgbClr val="111111"/>
                          </a:solidFill>
                          <a:latin typeface="Noto Sans CJK SC"/>
                          <a:ea typeface="Noto Sans CJK SC"/>
                          <a:cs typeface="Noto Sans CJK SC"/>
                        </a:rPr>
                        <a:t>bᵢ 高于阈值：N+替换</a:t>
                      </a:r>
                    </a:p>
                  </a:txBody>
                  <a:tcPr marL="95250" marR="95250" marT="66675" marB="66675" anchor="ctr">
                    <a:solidFill>
                      <a:srgbClr val="FFFFFF"/>
                    </a:solidFill>
                  </a:tcPr>
                </a:tc>
              </a:tr>
            </a:tbl>
          </a:graphicData>
        </a:graphic>
      </p:graphicFrame>
      <p:sp>
        <p:nvSpPr>
          <p:cNvPr id="10" name="解释-2">
            <a:extLst xmlns:a="http://schemas.openxmlformats.org/drawingml/2006/main">
              <a:ext uri="{FF2B5EF4-FFF2-40B4-BE49-F238E27FC236}">
                <a16:creationId xmlns:a16="http://schemas.microsoft.com/office/drawing/2014/main" id="{78162C22-A580-4679-A6DD-696935D8BC44}"/>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 11，Proposition 4；Figure 3(a)</a:t>
            </a:r>
          </a:p>
        </p:txBody>
      </p:sp>
      <p:sp>
        <p:nvSpPr>
          <p:cNvPr id="11" name="解释-3">
            <a:extLst xmlns:a="http://schemas.openxmlformats.org/drawingml/2006/main">
              <a:ext uri="{FF2B5EF4-FFF2-40B4-BE49-F238E27FC236}">
                <a16:creationId xmlns:a16="http://schemas.microsoft.com/office/drawing/2014/main" id="{29B58E03-9F0B-45E8-94F9-E52666780207}"/>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20</a:t>
            </a:r>
          </a:p>
        </p:txBody>
      </p:sp>
    </p:spTree>
    <p:extLst>
      <p:ext uri="{BB962C8B-B14F-4D97-AF65-F5344CB8AC3E}">
        <p14:creationId xmlns:p14="http://schemas.microsoft.com/office/powerpoint/2010/main" val="81016038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621DE793-8F8F-44BE-B321-759310BC477A}"/>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五、装配网络：均分与不均分</a:t>
            </a:r>
            <a:endParaRPr sz="3000" b="1" i="0" u="none" strike="noStrike" kern="0" cap="none" spc="75"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0B5C516E-7A58-4B69-AA66-064849F95F19}"/>
              </a:ext>
            </a:extLst>
          </p:cNvPr>
          <p:cNvSpPr>
            <a:spLocks xmlns:a="http://schemas.openxmlformats.org/drawingml/2006/main" noGrp="1"/>
          </p:cNvSpPr>
          <p:nvPr/>
        </p:nvSpPr>
        <p:spPr>
          <a:xfrm xmlns:a="http://schemas.openxmlformats.org/drawingml/2006/main">
            <a:off x="609600" y="4962525"/>
            <a:ext cx="10972800" cy="53340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75"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175" b="1">
                <a:solidFill>
                  <a:srgbClr val="587C95"/>
                </a:solidFill>
                <a:latin typeface="Noto Sans CJK SC"/>
                <a:ea typeface="Noto Sans CJK SC"/>
                <a:cs typeface="Noto Sans CJK SC"/>
              </a:defRPr>
            </a:pPr>
            <a:r>
              <a:rPr sz="2175" b="1">
                <a:solidFill>
                  <a:srgbClr val="587C95"/>
                </a:solidFill>
                <a:latin typeface="Noto Sans CJK SC"/>
                <a:ea typeface="Noto Sans CJK SC"/>
                <a:cs typeface="Noto Sans CJK SC"/>
              </a:rPr>
              <a:t>低预算与高预算可能均分，中等预算可能不均分。</a:t>
            </a:r>
            <a:endParaRPr sz="1800">
              <a:latin typeface="微软雅黑"/>
              <a:ea typeface="微软雅黑"/>
              <a:cs typeface="微软雅黑"/>
            </a:endParaRPr>
          </a:p>
        </p:txBody>
      </p:sp>
      <p:pic>
        <p:nvPicPr>
          <p:cNvPr id="2" name="图片 1">
            <a:extLst xmlns:a="http://schemas.openxmlformats.org/drawingml/2006/main">
              <a:ext uri="{FF2B5EF4-FFF2-40B4-BE49-F238E27FC236}">
                <a16:creationId xmlns:a16="http://schemas.microsoft.com/office/drawing/2014/main" id="{E1483DFA-70FE-45E8-8859-F46C844789D2}"/>
              </a:ext>
            </a:extLst>
          </p:cNvPr>
          <p:cNvPicPr>
            <a:picLocks xmlns:a="http://schemas.openxmlformats.org/drawingml/2006/main" noChangeAspect="1"/>
          </p:cNvPicPr>
          <p:nvPr/>
        </p:nvPicPr>
        <p:blipFill>
          <a:blip xmlns:r="http://schemas.openxmlformats.org/officeDocument/2006/relationships" xmlns:a="http://schemas.openxmlformats.org/drawingml/2006/main" r:embed="Re9e60822faa2409f"/>
          <a:stretch xmlns:a="http://schemas.openxmlformats.org/drawingml/2006/main">
            <a:fillRect l="0" t="0" r="0" b="0"/>
          </a:stretch>
        </p:blipFill>
        <p:spPr>
          <a:xfrm xmlns:a="http://schemas.openxmlformats.org/drawingml/2006/main">
            <a:off x="1336470" y="1876425"/>
            <a:ext cx="9519060" cy="2695575"/>
          </a:xfrm>
          <a:prstGeom xmlns:a="http://schemas.openxmlformats.org/drawingml/2006/main" prst="rect">
            <a:avLst/>
          </a:prstGeom>
        </p:spPr>
      </p:pic>
      <p:sp>
        <p:nvSpPr>
          <p:cNvPr id="13" name="解释-2">
            <a:extLst xmlns:a="http://schemas.openxmlformats.org/drawingml/2006/main">
              <a:ext uri="{FF2B5EF4-FFF2-40B4-BE49-F238E27FC236}">
                <a16:creationId xmlns:a16="http://schemas.microsoft.com/office/drawing/2014/main" id="{0C545D29-6B6E-4BAF-958A-AA6D289DBE09}"/>
              </a:ext>
            </a:extLst>
          </p:cNvPr>
          <p:cNvSpPr>
            <a:spLocks xmlns:a="http://schemas.openxmlformats.org/drawingml/2006/main" noGrp="1"/>
          </p:cNvSpPr>
          <p:nvPr/>
        </p:nvSpPr>
        <p:spPr>
          <a:xfrm xmlns:a="http://schemas.openxmlformats.org/drawingml/2006/main">
            <a:off x="609600" y="5619750"/>
            <a:ext cx="109728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决定因素是“准确度的边际价值”，包括错误控制和治理成本。</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即使两家都用 C，整改与替换不同也可能造成不均分。</a:t>
            </a:r>
          </a:p>
        </p:txBody>
      </p:sp>
      <p:sp>
        <p:nvSpPr>
          <p:cNvPr id="14" name="解释-3">
            <a:extLst xmlns:a="http://schemas.openxmlformats.org/drawingml/2006/main">
              <a:ext uri="{FF2B5EF4-FFF2-40B4-BE49-F238E27FC236}">
                <a16:creationId xmlns:a16="http://schemas.microsoft.com/office/drawing/2014/main" id="{45D14365-352B-4B6D-B641-E018007962FA}"/>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§5.1，pp. 11–12，Proposition 5</a:t>
            </a:r>
          </a:p>
        </p:txBody>
      </p:sp>
      <p:sp>
        <p:nvSpPr>
          <p:cNvPr id="15" name="解释-4">
            <a:extLst xmlns:a="http://schemas.openxmlformats.org/drawingml/2006/main">
              <a:ext uri="{FF2B5EF4-FFF2-40B4-BE49-F238E27FC236}">
                <a16:creationId xmlns:a16="http://schemas.microsoft.com/office/drawing/2014/main" id="{9A066AC0-6087-4FB0-8D2F-573A777940D9}"/>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21</a:t>
            </a:r>
          </a:p>
        </p:txBody>
      </p:sp>
    </p:spTree>
    <p:extLst>
      <p:ext uri="{BB962C8B-B14F-4D97-AF65-F5344CB8AC3E}">
        <p14:creationId xmlns:p14="http://schemas.microsoft.com/office/powerpoint/2010/main" val="667666755"/>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sp>
        <p:nvSpPr>
          <p:cNvPr id="7" name="解释-0">
            <a:extLst xmlns:a="http://schemas.openxmlformats.org/drawingml/2006/main">
              <a:ext uri="{FF2B5EF4-FFF2-40B4-BE49-F238E27FC236}">
                <a16:creationId xmlns:a16="http://schemas.microsoft.com/office/drawing/2014/main" id="{28F82C77-FA97-4392-A030-A413AA7F3FEF}"/>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五、装配网络：不均分的经济机制</a:t>
            </a:r>
          </a:p>
        </p:txBody>
      </p:sp>
      <p:graphicFrame>
        <p:nvGraphicFramePr>
          <p:cNvPr id="2" name="">
            <a:extLst xmlns:a="http://schemas.openxmlformats.org/drawingml/2006/main">
              <a:ext uri="{FF2B5EF4-FFF2-40B4-BE49-F238E27FC236}">
                <a16:creationId xmlns:a16="http://schemas.microsoft.com/office/drawing/2014/main" id="{4A0EF60F-74E2-4727-93AE-F083B94EC552}"/>
              </a:ext>
            </a:extLst>
          </p:cNvPr>
          <p:cNvGraphicFramePr/>
          <p:nvPr/>
        </p:nvGraphicFramePr>
        <p:xfrm>
          <a:off xmlns:a="http://schemas.openxmlformats.org/drawingml/2006/main" x="609600" y="2009775"/>
          <a:ext xmlns:a="http://schemas.openxmlformats.org/drawingml/2006/main" cx="10972800" cy="2371725"/>
        </p:xfrm>
        <a:graphic xmlns:a="http://schemas.openxmlformats.org/drawingml/2006/main">
          <a:graphicData uri="http://schemas.openxmlformats.org/drawingml/2006/table">
            <a:tbl>
              <a:tblPr firstRow="1" bandRow="0"/>
              <a:tblGrid>
                <a:gridCol w="3390900"/>
                <a:gridCol w="7581900"/>
              </a:tblGrid>
              <a:tr h="592931">
                <a:tc>
                  <a:txBody>
                    <a:bodyPr wrap="square">
                      <a:noAutofit/>
                    </a:bodyPr>
                    <a:lstStyle/>
                    <a:p>
                      <a:pPr algn="l">
                        <a:lnSpc>
                          <a:spcPct val="100000"/>
                        </a:lnSpc>
                        <a:buNone/>
                      </a:pPr>
                      <a:r>
                        <a:rPr sz="1950" b="1">
                          <a:solidFill>
                            <a:srgbClr val="587C95"/>
                          </a:solidFill>
                          <a:latin typeface="Noto Sans CJK SC"/>
                          <a:ea typeface="Noto Sans CJK SC"/>
                          <a:cs typeface="Noto Sans CJK SC"/>
                        </a:rPr>
                        <a:t>分支</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提高准确度的边际收益 w</a:t>
                      </a:r>
                    </a:p>
                  </a:txBody>
                  <a:tcPr marL="95250" marR="95250" marT="66675" marB="66675" anchor="ctr">
                    <a:solidFill>
                      <a:srgbClr val="EDF2F5"/>
                    </a:solidFill>
                  </a:tcPr>
                </a:tc>
              </a:tr>
              <a:tr h="592931">
                <a:tc>
                  <a:txBody>
                    <a:bodyPr wrap="square">
                      <a:noAutofit/>
                    </a:bodyPr>
                    <a:lstStyle/>
                    <a:p>
                      <a:pPr algn="l">
                        <a:lnSpc>
                          <a:spcPct val="100000"/>
                        </a:lnSpc>
                        <a:buNone/>
                      </a:pPr>
                      <a:r>
                        <a:rPr sz="1950" b="0">
                          <a:solidFill>
                            <a:srgbClr val="111111"/>
                          </a:solidFill>
                          <a:latin typeface="Noto Sans CJK SC"/>
                          <a:ea typeface="Noto Sans CJK SC"/>
                          <a:cs typeface="Noto Sans CJK SC"/>
                        </a:rPr>
                        <a:t>C+整改</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Δr：减少对合规者的无谓整改</a:t>
                      </a:r>
                    </a:p>
                  </a:txBody>
                  <a:tcPr marL="95250" marR="95250" marT="66675" marB="66675" anchor="ctr">
                    <a:solidFill>
                      <a:srgbClr val="FFFFFF"/>
                    </a:solidFill>
                  </a:tcPr>
                </a:tc>
              </a:tr>
              <a:tr h="592931">
                <a:tc>
                  <a:txBody>
                    <a:bodyPr wrap="square">
                      <a:noAutofit/>
                    </a:bodyPr>
                    <a:lstStyle/>
                    <a:p>
                      <a:pPr algn="l">
                        <a:lnSpc>
                          <a:spcPct val="100000"/>
                        </a:lnSpc>
                        <a:buNone/>
                      </a:pPr>
                      <a:r>
                        <a:rPr sz="1950" b="0">
                          <a:solidFill>
                            <a:srgbClr val="111111"/>
                          </a:solidFill>
                          <a:latin typeface="Noto Sans CJK SC"/>
                          <a:ea typeface="Noto Sans CJK SC"/>
                          <a:cs typeface="Noto Sans CJK SC"/>
                        </a:rPr>
                        <a:t>C+替换</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Dα+Δs：减少错误替换及其损害</a:t>
                      </a:r>
                    </a:p>
                  </a:txBody>
                  <a:tcPr marL="95250" marR="95250" marT="66675" marB="66675" anchor="ctr">
                    <a:solidFill>
                      <a:srgbClr val="FFFFFF"/>
                    </a:solidFill>
                  </a:tcPr>
                </a:tc>
              </a:tr>
              <a:tr h="592931">
                <a:tc>
                  <a:txBody>
                    <a:bodyPr wrap="square">
                      <a:noAutofit/>
                    </a:bodyPr>
                    <a:lstStyle/>
                    <a:p>
                      <a:pPr algn="l">
                        <a:lnSpc>
                          <a:spcPct val="100000"/>
                        </a:lnSpc>
                        <a:buNone/>
                      </a:pPr>
                      <a:r>
                        <a:rPr sz="1950" b="0">
                          <a:solidFill>
                            <a:srgbClr val="111111"/>
                          </a:solidFill>
                          <a:latin typeface="Noto Sans CJK SC"/>
                          <a:ea typeface="Noto Sans CJK SC"/>
                          <a:cs typeface="Noto Sans CJK SC"/>
                        </a:rPr>
                        <a:t>N+替换</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Dβ−Δs：减少漏报，但增加真实违规者的替换</a:t>
                      </a:r>
                    </a:p>
                  </a:txBody>
                  <a:tcPr marL="95250" marR="95250" marT="66675" marB="66675" anchor="ctr">
                    <a:solidFill>
                      <a:srgbClr val="FFFFFF"/>
                    </a:solidFill>
                  </a:tcPr>
                </a:tc>
              </a:tr>
            </a:tbl>
          </a:graphicData>
        </a:graphic>
      </p:graphicFrame>
      <p:pic>
        <p:nvPicPr>
          <p:cNvPr id="3" name="">
            <a:extLst xmlns:a="http://schemas.openxmlformats.org/drawingml/2006/main">
              <a:ext uri="{FF2B5EF4-FFF2-40B4-BE49-F238E27FC236}">
                <a16:creationId xmlns:a16="http://schemas.microsoft.com/office/drawing/2014/main" id="{AE7DF440-D558-4D9E-97CA-5EA111DC1D9C}"/>
              </a:ext>
            </a:extLst>
          </p:cNvPr>
          <p:cNvPicPr>
            <a:picLocks xmlns:a="http://schemas.openxmlformats.org/drawingml/2006/main" noChangeAspect="1"/>
          </p:cNvPicPr>
          <p:nvPr/>
        </p:nvPicPr>
        <p:blipFill>
          <a:blip xmlns:r="http://schemas.openxmlformats.org/officeDocument/2006/relationships" xmlns:a="http://schemas.openxmlformats.org/drawingml/2006/main" r:embed="Rff4cfba11755433b"/>
          <a:stretch xmlns:a="http://schemas.openxmlformats.org/drawingml/2006/main"/>
        </p:blipFill>
        <p:spPr>
          <a:xfrm xmlns:a="http://schemas.openxmlformats.org/drawingml/2006/main">
            <a:off x="4162154" y="4705350"/>
            <a:ext cx="3867692" cy="666750"/>
          </a:xfrm>
          <a:prstGeom xmlns:a="http://schemas.openxmlformats.org/drawingml/2006/main" prst="rect">
            <a:avLst/>
          </a:prstGeom>
        </p:spPr>
      </p:pic>
      <p:sp>
        <p:nvSpPr>
          <p:cNvPr id="4" name="解释-1">
            <a:extLst xmlns:a="http://schemas.openxmlformats.org/drawingml/2006/main">
              <a:ext uri="{FF2B5EF4-FFF2-40B4-BE49-F238E27FC236}">
                <a16:creationId xmlns:a16="http://schemas.microsoft.com/office/drawing/2014/main" id="{475BD746-76CE-4AA5-AC05-DF7F04E01C05}"/>
              </a:ext>
            </a:extLst>
          </p:cNvPr>
          <p:cNvSpPr>
            <a:spLocks xmlns:a="http://schemas.openxmlformats.org/drawingml/2006/main" noGrp="1"/>
          </p:cNvSpPr>
          <p:nvPr/>
        </p:nvSpPr>
        <p:spPr>
          <a:xfrm xmlns:a="http://schemas.openxmlformats.org/drawingml/2006/main">
            <a:off x="609600" y="56102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在固定分支的内部最优点，准确度偏向边际收益更高的一家。</a:t>
            </a:r>
          </a:p>
        </p:txBody>
      </p:sp>
      <p:sp>
        <p:nvSpPr>
          <p:cNvPr id="5" name="解释-2">
            <a:extLst xmlns:a="http://schemas.openxmlformats.org/drawingml/2006/main">
              <a:ext uri="{FF2B5EF4-FFF2-40B4-BE49-F238E27FC236}">
                <a16:creationId xmlns:a16="http://schemas.microsoft.com/office/drawing/2014/main" id="{E206D9DA-9DEB-492F-8371-321554C8B1E4}"/>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§5.1，pp. 11–12；根据四条损失分支说明</a:t>
            </a:r>
          </a:p>
        </p:txBody>
      </p:sp>
      <p:sp>
        <p:nvSpPr>
          <p:cNvPr id="6" name="解释-3">
            <a:extLst xmlns:a="http://schemas.openxmlformats.org/drawingml/2006/main">
              <a:ext uri="{FF2B5EF4-FFF2-40B4-BE49-F238E27FC236}">
                <a16:creationId xmlns:a16="http://schemas.microsoft.com/office/drawing/2014/main" id="{46C85F4B-7919-4CC4-862B-E7B9E45A23BC}"/>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22</a:t>
            </a:r>
          </a:p>
        </p:txBody>
      </p:sp>
    </p:spTree>
    <p:extLst>
      <p:ext uri="{BB962C8B-B14F-4D97-AF65-F5344CB8AC3E}">
        <p14:creationId xmlns:p14="http://schemas.microsoft.com/office/powerpoint/2010/main" val="486162840"/>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CD06FBA5-6BD3-439B-B3A3-3C08E6E0C1FA}"/>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五、装配网络：联合策略与原图对照</a:t>
            </a:r>
            <a:endParaRPr sz="3000" b="1" i="0" u="none" strike="noStrike" kern="0" cap="none" spc="75" baseline="0">
              <a:latin typeface="微软雅黑"/>
              <a:ea typeface="微软雅黑"/>
              <a:cs typeface="微软雅黑"/>
            </a:endParaRPr>
          </a:p>
        </p:txBody>
      </p:sp>
      <p:pic>
        <p:nvPicPr>
          <p:cNvPr id="6" name="图片 5">
            <a:extLst xmlns:a="http://schemas.openxmlformats.org/drawingml/2006/main">
              <a:ext uri="{FF2B5EF4-FFF2-40B4-BE49-F238E27FC236}">
                <a16:creationId xmlns:a16="http://schemas.microsoft.com/office/drawing/2014/main" id="{B6DFF258-75D1-4440-A5B7-BFEFCA798C3F}"/>
              </a:ext>
            </a:extLst>
          </p:cNvPr>
          <p:cNvPicPr>
            <a:picLocks xmlns:a="http://schemas.openxmlformats.org/drawingml/2006/main" noChangeAspect="1"/>
          </p:cNvPicPr>
          <p:nvPr/>
        </p:nvPicPr>
        <p:blipFill>
          <a:blip xmlns:r="http://schemas.openxmlformats.org/officeDocument/2006/relationships" xmlns:a="http://schemas.openxmlformats.org/drawingml/2006/main" r:embed="R55e78237c1a64db5"/>
          <a:srcRect xmlns:a="http://schemas.openxmlformats.org/drawingml/2006/main" l="0" t="1852" r="5539" b="0"/>
          <a:stretch xmlns:a="http://schemas.openxmlformats.org/drawingml/2006/main">
            <a:fillRect l="0" t="0" r="0" b="0"/>
          </a:stretch>
        </p:blipFill>
        <p:spPr>
          <a:xfrm xmlns:a="http://schemas.openxmlformats.org/drawingml/2006/main">
            <a:off x="7562023" y="1828800"/>
            <a:ext cx="4135505" cy="4057650"/>
          </a:xfrm>
          <a:prstGeom xmlns:a="http://schemas.openxmlformats.org/drawingml/2006/main" prst="rect">
            <a:avLst/>
          </a:prstGeom>
        </p:spPr>
      </p:pic>
      <p:pic>
        <p:nvPicPr>
          <p:cNvPr id="7" name="图片 6">
            <a:extLst xmlns:a="http://schemas.openxmlformats.org/drawingml/2006/main">
              <a:ext uri="{FF2B5EF4-FFF2-40B4-BE49-F238E27FC236}">
                <a16:creationId xmlns:a16="http://schemas.microsoft.com/office/drawing/2014/main" id="{3556482A-BC6A-44AF-84AF-C4D1175FFCDE}"/>
              </a:ext>
            </a:extLst>
          </p:cNvPr>
          <p:cNvPicPr>
            <a:picLocks xmlns:a="http://schemas.openxmlformats.org/drawingml/2006/main" noChangeAspect="1"/>
          </p:cNvPicPr>
          <p:nvPr/>
        </p:nvPicPr>
        <p:blipFill>
          <a:blip xmlns:r="http://schemas.openxmlformats.org/officeDocument/2006/relationships" xmlns:a="http://schemas.openxmlformats.org/drawingml/2006/main" r:embed="R416cd52c0b4c4e0e"/>
          <a:stretch xmlns:a="http://schemas.openxmlformats.org/drawingml/2006/main">
            <a:fillRect l="0" t="0" r="0" b="0"/>
          </a:stretch>
        </p:blipFill>
        <p:spPr>
          <a:xfrm xmlns:a="http://schemas.openxmlformats.org/drawingml/2006/main">
            <a:off x="7615238" y="5981700"/>
            <a:ext cx="4000500" cy="419100"/>
          </a:xfrm>
          <a:prstGeom xmlns:a="http://schemas.openxmlformats.org/drawingml/2006/main" prst="rect">
            <a:avLst/>
          </a:prstGeom>
        </p:spPr>
      </p:pic>
      <p:sp>
        <p:nvSpPr>
          <p:cNvPr id="9" name="文本框 8">
            <a:extLst xmlns:a="http://schemas.openxmlformats.org/drawingml/2006/main">
              <a:ext uri="{FF2B5EF4-FFF2-40B4-BE49-F238E27FC236}">
                <a16:creationId xmlns:a16="http://schemas.microsoft.com/office/drawing/2014/main" id="{F2820D29-FE4E-4B60-9E2B-6BD0A2724308}"/>
              </a:ext>
            </a:extLst>
          </p:cNvPr>
          <p:cNvSpPr>
            <a:spLocks xmlns:a="http://schemas.openxmlformats.org/drawingml/2006/main" noGrp="1"/>
          </p:cNvSpPr>
          <p:nvPr/>
        </p:nvSpPr>
        <p:spPr>
          <a:xfrm xmlns:a="http://schemas.openxmlformats.org/drawingml/2006/main">
            <a:off x="581025" y="4810125"/>
            <a:ext cx="6572250" cy="1057275"/>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情形 a：两家始终 C，治理不同仍可不均分。</a:t>
            </a:r>
            <a:endParaRPr sz="2400">
              <a:latin typeface="微软雅黑"/>
              <a:ea typeface="微软雅黑"/>
              <a:cs typeface="微软雅黑"/>
            </a:endParaRP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图中 Dα=0 时，预算诱导的非对称区消失。</a:t>
            </a:r>
            <a:endParaRPr sz="2400">
              <a:latin typeface="微软雅黑"/>
              <a:ea typeface="微软雅黑"/>
              <a:cs typeface="微软雅黑"/>
            </a:endParaRPr>
          </a:p>
        </p:txBody>
      </p:sp>
      <p:graphicFrame>
        <p:nvGraphicFramePr>
          <p:cNvPr id="10" name="">
            <a:extLst xmlns:a="http://schemas.openxmlformats.org/drawingml/2006/main">
              <a:ext uri="{FF2B5EF4-FFF2-40B4-BE49-F238E27FC236}">
                <a16:creationId xmlns:a16="http://schemas.microsoft.com/office/drawing/2014/main" id="{1F888A6E-942A-410F-938E-05745E76E3ED}"/>
              </a:ext>
            </a:extLst>
          </p:cNvPr>
          <p:cNvGraphicFramePr/>
          <p:nvPr/>
        </p:nvGraphicFramePr>
        <p:xfrm>
          <a:off xmlns:a="http://schemas.openxmlformats.org/drawingml/2006/main" x="561975" y="2085975"/>
          <a:ext xmlns:a="http://schemas.openxmlformats.org/drawingml/2006/main" cx="6591300" cy="2295525"/>
        </p:xfrm>
        <a:graphic xmlns:a="http://schemas.openxmlformats.org/drawingml/2006/main">
          <a:graphicData uri="http://schemas.openxmlformats.org/drawingml/2006/table">
            <a:tbl>
              <a:tblPr firstRow="1" bandRow="0"/>
              <a:tblGrid>
                <a:gridCol w="2847975"/>
                <a:gridCol w="1952625"/>
                <a:gridCol w="1790700"/>
              </a:tblGrid>
              <a:tr h="573881">
                <a:tc>
                  <a:txBody>
                    <a:bodyPr wrap="square">
                      <a:noAutofit/>
                    </a:bodyPr>
                    <a:lstStyle/>
                    <a:p>
                      <a:pPr algn="l">
                        <a:lnSpc>
                          <a:spcPct val="100000"/>
                        </a:lnSpc>
                        <a:buNone/>
                      </a:pPr>
                      <a:r>
                        <a:rPr sz="1950" b="1">
                          <a:solidFill>
                            <a:srgbClr val="587C95"/>
                          </a:solidFill>
                          <a:latin typeface="Noto Sans CJK SC"/>
                          <a:ea typeface="Noto Sans CJK SC"/>
                          <a:cs typeface="Noto Sans CJK SC"/>
                        </a:rPr>
                        <a:t>情形 b 的预算区间</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错误政策</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分配</a:t>
                      </a:r>
                    </a:p>
                  </a:txBody>
                  <a:tcPr marL="95250" marR="95250" marT="66675" marB="66675" anchor="ctr">
                    <a:solidFill>
                      <a:srgbClr val="EDF2F5"/>
                    </a:solidFill>
                  </a:tcPr>
                </a:tc>
              </a:tr>
              <a:tr h="573881">
                <a:tc>
                  <a:txBody>
                    <a:bodyPr wrap="square">
                      <a:noAutofit/>
                    </a:bodyPr>
                    <a:lstStyle/>
                    <a:p>
                      <a:pPr algn="l">
                        <a:lnSpc>
                          <a:spcPct val="100000"/>
                        </a:lnSpc>
                        <a:buNone/>
                      </a:pPr>
                      <a:r>
                        <a:rPr sz="1950" b="0">
                          <a:solidFill>
                            <a:srgbClr val="111111"/>
                          </a:solidFill>
                          <a:latin typeface="Noto Sans CJK SC"/>
                          <a:ea typeface="Noto Sans CJK SC"/>
                          <a:cs typeface="Noto Sans CJK SC"/>
                        </a:rPr>
                        <a:t>B &lt; B_L</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C / C</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均分</a:t>
                      </a:r>
                    </a:p>
                  </a:txBody>
                  <a:tcPr marL="95250" marR="95250" marT="66675" marB="66675" anchor="ctr">
                    <a:solidFill>
                      <a:srgbClr val="FFFFFF"/>
                    </a:solidFill>
                  </a:tcPr>
                </a:tc>
              </a:tr>
              <a:tr h="573881">
                <a:tc>
                  <a:txBody>
                    <a:bodyPr wrap="square">
                      <a:noAutofit/>
                    </a:bodyPr>
                    <a:lstStyle/>
                    <a:p>
                      <a:pPr algn="l">
                        <a:lnSpc>
                          <a:spcPct val="100000"/>
                        </a:lnSpc>
                        <a:buNone/>
                      </a:pPr>
                      <a:r>
                        <a:rPr sz="1950" b="0">
                          <a:solidFill>
                            <a:srgbClr val="111111"/>
                          </a:solidFill>
                          <a:latin typeface="Noto Sans CJK SC"/>
                          <a:ea typeface="Noto Sans CJK SC"/>
                          <a:cs typeface="Noto Sans CJK SC"/>
                        </a:rPr>
                        <a:t>B_L &lt; B &lt; B_U</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N / C</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不均分</a:t>
                      </a:r>
                    </a:p>
                  </a:txBody>
                  <a:tcPr marL="95250" marR="95250" marT="66675" marB="66675" anchor="ctr">
                    <a:solidFill>
                      <a:srgbClr val="FFFFFF"/>
                    </a:solidFill>
                  </a:tcPr>
                </a:tc>
              </a:tr>
              <a:tr h="573881">
                <a:tc>
                  <a:txBody>
                    <a:bodyPr wrap="square">
                      <a:noAutofit/>
                    </a:bodyPr>
                    <a:lstStyle/>
                    <a:p>
                      <a:pPr algn="l">
                        <a:lnSpc>
                          <a:spcPct val="100000"/>
                        </a:lnSpc>
                        <a:buNone/>
                      </a:pPr>
                      <a:r>
                        <a:rPr sz="1950" b="0">
                          <a:solidFill>
                            <a:srgbClr val="111111"/>
                          </a:solidFill>
                          <a:latin typeface="Noto Sans CJK SC"/>
                          <a:ea typeface="Noto Sans CJK SC"/>
                          <a:cs typeface="Noto Sans CJK SC"/>
                        </a:rPr>
                        <a:t>B &gt; B_U</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N / N</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均分</a:t>
                      </a:r>
                    </a:p>
                  </a:txBody>
                  <a:tcPr marL="95250" marR="95250" marT="66675" marB="66675" anchor="ctr">
                    <a:solidFill>
                      <a:srgbClr val="FFFFFF"/>
                    </a:solidFill>
                  </a:tcPr>
                </a:tc>
              </a:tr>
            </a:tbl>
          </a:graphicData>
        </a:graphic>
      </p:graphicFrame>
      <p:sp>
        <p:nvSpPr>
          <p:cNvPr id="11" name="解释-2">
            <a:extLst xmlns:a="http://schemas.openxmlformats.org/drawingml/2006/main">
              <a:ext uri="{FF2B5EF4-FFF2-40B4-BE49-F238E27FC236}">
                <a16:creationId xmlns:a16="http://schemas.microsoft.com/office/drawing/2014/main" id="{3CC634FF-29EF-4822-A764-62F7BB7B206B}"/>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 13，Corollary 3；Figure 3(b)</a:t>
            </a:r>
          </a:p>
        </p:txBody>
      </p:sp>
      <p:sp>
        <p:nvSpPr>
          <p:cNvPr id="12" name="解释-3">
            <a:extLst xmlns:a="http://schemas.openxmlformats.org/drawingml/2006/main">
              <a:ext uri="{FF2B5EF4-FFF2-40B4-BE49-F238E27FC236}">
                <a16:creationId xmlns:a16="http://schemas.microsoft.com/office/drawing/2014/main" id="{D7D6FA13-1597-49AA-8A1F-395FEDF7D8F9}"/>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23</a:t>
            </a:r>
          </a:p>
        </p:txBody>
      </p:sp>
    </p:spTree>
    <p:extLst>
      <p:ext uri="{BB962C8B-B14F-4D97-AF65-F5344CB8AC3E}">
        <p14:creationId xmlns:p14="http://schemas.microsoft.com/office/powerpoint/2010/main" val="902796612"/>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2374E757-74BD-4BFB-B14D-B6768B46E540}"/>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五、装配网络：社会效果与切换点</a:t>
            </a:r>
            <a:endParaRPr sz="3000" b="1" i="0" u="none" strike="noStrike" kern="0" cap="none" spc="75"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65F9C851-0A61-48A5-ADBE-49017BC9E223}"/>
              </a:ext>
            </a:extLst>
          </p:cNvPr>
          <p:cNvSpPr>
            <a:spLocks xmlns:a="http://schemas.openxmlformats.org/drawingml/2006/main" noGrp="1"/>
          </p:cNvSpPr>
          <p:nvPr/>
        </p:nvSpPr>
        <p:spPr>
          <a:xfrm xmlns:a="http://schemas.openxmlformats.org/drawingml/2006/main">
            <a:off x="609600" y="5514975"/>
            <a:ext cx="10972800" cy="619125"/>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未饱和区间：C/C 时 L*=0，N/C 时 L*=1−b₁*，N/N 时 L*=1−B。</a:t>
            </a:r>
            <a:endParaRPr sz="1800">
              <a:latin typeface="微软雅黑"/>
              <a:ea typeface="微软雅黑"/>
              <a:cs typeface="微软雅黑"/>
            </a:endParaRPr>
          </a:p>
        </p:txBody>
      </p:sp>
      <p:pic>
        <p:nvPicPr>
          <p:cNvPr id="7" name="图片 6">
            <a:extLst xmlns:a="http://schemas.openxmlformats.org/drawingml/2006/main">
              <a:ext uri="{FF2B5EF4-FFF2-40B4-BE49-F238E27FC236}">
                <a16:creationId xmlns:a16="http://schemas.microsoft.com/office/drawing/2014/main" id="{A2AC6D5F-C47F-4991-BA91-0E4472ED0009}"/>
              </a:ext>
            </a:extLst>
          </p:cNvPr>
          <p:cNvPicPr>
            <a:picLocks xmlns:a="http://schemas.openxmlformats.org/drawingml/2006/main" noChangeAspect="1"/>
          </p:cNvPicPr>
          <p:nvPr/>
        </p:nvPicPr>
        <p:blipFill>
          <a:blip xmlns:r="http://schemas.openxmlformats.org/officeDocument/2006/relationships" xmlns:a="http://schemas.openxmlformats.org/drawingml/2006/main" r:embed="Rc8597947d0c14511"/>
          <a:stretch xmlns:a="http://schemas.openxmlformats.org/drawingml/2006/main">
            <a:fillRect l="0" t="0" r="0" b="0"/>
          </a:stretch>
        </p:blipFill>
        <p:spPr>
          <a:xfrm xmlns:a="http://schemas.openxmlformats.org/drawingml/2006/main">
            <a:off x="991715" y="2809875"/>
            <a:ext cx="10208571" cy="2486025"/>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8744773E-5D48-4183-AB49-68CA8A6A06FD}"/>
              </a:ext>
            </a:extLst>
          </p:cNvPr>
          <p:cNvPicPr>
            <a:picLocks xmlns:a="http://schemas.openxmlformats.org/drawingml/2006/main" noChangeAspect="1"/>
          </p:cNvPicPr>
          <p:nvPr/>
        </p:nvPicPr>
        <p:blipFill>
          <a:blip xmlns:r="http://schemas.openxmlformats.org/officeDocument/2006/relationships" xmlns:a="http://schemas.openxmlformats.org/drawingml/2006/main" r:embed="Re0802b5463574ecd"/>
          <a:stretch xmlns:a="http://schemas.openxmlformats.org/drawingml/2006/main"/>
        </p:blipFill>
        <p:spPr>
          <a:xfrm xmlns:a="http://schemas.openxmlformats.org/drawingml/2006/main">
            <a:off x="1941081" y="1847850"/>
            <a:ext cx="8309837" cy="628650"/>
          </a:xfrm>
          <a:prstGeom xmlns:a="http://schemas.openxmlformats.org/drawingml/2006/main" prst="rect">
            <a:avLst/>
          </a:prstGeom>
        </p:spPr>
      </p:pic>
      <p:sp>
        <p:nvSpPr>
          <p:cNvPr id="14" name="解释-2">
            <a:extLst xmlns:a="http://schemas.openxmlformats.org/drawingml/2006/main">
              <a:ext uri="{FF2B5EF4-FFF2-40B4-BE49-F238E27FC236}">
                <a16:creationId xmlns:a16="http://schemas.microsoft.com/office/drawing/2014/main" id="{BC844013-3CDF-4054-BDB0-E3DCEF3B4592}"/>
              </a:ext>
            </a:extLst>
          </p:cNvPr>
          <p:cNvSpPr>
            <a:spLocks xmlns:a="http://schemas.openxmlformats.org/drawingml/2006/main" noGrp="1"/>
          </p:cNvSpPr>
          <p:nvPr/>
        </p:nvSpPr>
        <p:spPr>
          <a:xfrm xmlns:a="http://schemas.openxmlformats.org/drawingml/2006/main">
            <a:off x="609600" y="6153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各分支内可下降，跨分支切换时可能向上跳。</a:t>
            </a:r>
          </a:p>
        </p:txBody>
      </p:sp>
      <p:sp>
        <p:nvSpPr>
          <p:cNvPr id="15" name="解释-3">
            <a:extLst xmlns:a="http://schemas.openxmlformats.org/drawingml/2006/main">
              <a:ext uri="{FF2B5EF4-FFF2-40B4-BE49-F238E27FC236}">
                <a16:creationId xmlns:a16="http://schemas.microsoft.com/office/drawing/2014/main" id="{CC784AEB-291B-4621-BC0D-EDFA05481C7E}"/>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§5.1，p. 13，Proposition 6</a:t>
            </a:r>
          </a:p>
        </p:txBody>
      </p:sp>
      <p:sp>
        <p:nvSpPr>
          <p:cNvPr id="16" name="解释-4">
            <a:extLst xmlns:a="http://schemas.openxmlformats.org/drawingml/2006/main">
              <a:ext uri="{FF2B5EF4-FFF2-40B4-BE49-F238E27FC236}">
                <a16:creationId xmlns:a16="http://schemas.microsoft.com/office/drawing/2014/main" id="{EB8B776C-A4C7-420B-9F85-17D5ADFFE9BF}"/>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24</a:t>
            </a:r>
          </a:p>
        </p:txBody>
      </p:sp>
    </p:spTree>
    <p:extLst>
      <p:ext uri="{BB962C8B-B14F-4D97-AF65-F5344CB8AC3E}">
        <p14:creationId xmlns:p14="http://schemas.microsoft.com/office/powerpoint/2010/main" val="605627755"/>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1573C71D-35CF-4651-B5E9-43E899E36FDC}"/>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五、装配网络：只审计一家</a:t>
            </a:r>
            <a:endParaRPr sz="3000" b="1" i="0" u="none" strike="noStrike" kern="0" cap="none" spc="75"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795D21E8-27A1-40ED-A0CC-D43AE64E75EE}"/>
              </a:ext>
            </a:extLst>
          </p:cNvPr>
          <p:cNvSpPr>
            <a:spLocks xmlns:a="http://schemas.openxmlformats.org/drawingml/2006/main" noGrp="1"/>
          </p:cNvSpPr>
          <p:nvPr/>
        </p:nvSpPr>
        <p:spPr>
          <a:xfrm xmlns:a="http://schemas.openxmlformats.org/drawingml/2006/main">
            <a:off x="609600" y="4800600"/>
            <a:ext cx="10972800" cy="68580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被审计家沿用基准规则，未审计家产生固定损失 (1−e)Dβ。</a:t>
            </a:r>
            <a:endParaRPr sz="1800">
              <a:latin typeface="微软雅黑"/>
              <a:ea typeface="微软雅黑"/>
              <a:cs typeface="微软雅黑"/>
            </a:endParaRPr>
          </a:p>
        </p:txBody>
      </p:sp>
      <p:pic>
        <p:nvPicPr>
          <p:cNvPr id="4" name="图片 3">
            <a:extLst xmlns:a="http://schemas.openxmlformats.org/drawingml/2006/main">
              <a:ext uri="{FF2B5EF4-FFF2-40B4-BE49-F238E27FC236}">
                <a16:creationId xmlns:a16="http://schemas.microsoft.com/office/drawing/2014/main" id="{E86B7370-0A91-4F91-B069-8FB8CC06DAFA}"/>
              </a:ext>
            </a:extLst>
          </p:cNvPr>
          <p:cNvPicPr>
            <a:picLocks xmlns:a="http://schemas.openxmlformats.org/drawingml/2006/main" noChangeAspect="1"/>
          </p:cNvPicPr>
          <p:nvPr/>
        </p:nvPicPr>
        <p:blipFill>
          <a:blip xmlns:r="http://schemas.openxmlformats.org/officeDocument/2006/relationships" xmlns:a="http://schemas.openxmlformats.org/drawingml/2006/main" r:embed="Rf89ebb1515b44e71"/>
          <a:stretch xmlns:a="http://schemas.openxmlformats.org/drawingml/2006/main">
            <a:fillRect l="0" t="0" r="0" b="0"/>
          </a:stretch>
        </p:blipFill>
        <p:spPr>
          <a:xfrm xmlns:a="http://schemas.openxmlformats.org/drawingml/2006/main">
            <a:off x="1889053" y="1866900"/>
            <a:ext cx="8413895" cy="2657475"/>
          </a:xfrm>
          <a:prstGeom xmlns:a="http://schemas.openxmlformats.org/drawingml/2006/main" prst="rect">
            <a:avLst/>
          </a:prstGeom>
        </p:spPr>
      </p:pic>
      <p:sp>
        <p:nvSpPr>
          <p:cNvPr id="13" name="解释-2">
            <a:extLst xmlns:a="http://schemas.openxmlformats.org/drawingml/2006/main">
              <a:ext uri="{FF2B5EF4-FFF2-40B4-BE49-F238E27FC236}">
                <a16:creationId xmlns:a16="http://schemas.microsoft.com/office/drawing/2014/main" id="{79B27E3F-E9BA-47E1-96C6-462938134F9C}"/>
              </a:ext>
            </a:extLst>
          </p:cNvPr>
          <p:cNvSpPr>
            <a:spLocks xmlns:a="http://schemas.openxmlformats.org/drawingml/2006/main" noGrp="1"/>
          </p:cNvSpPr>
          <p:nvPr/>
        </p:nvSpPr>
        <p:spPr>
          <a:xfrm xmlns:a="http://schemas.openxmlformats.org/drawingml/2006/main">
            <a:off x="609600" y="5657850"/>
            <a:ext cx="109728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整个装配产品风险：被审计家用 C 时为 1−e，用 N 时为 1−e b₀。</a:t>
            </a:r>
          </a:p>
        </p:txBody>
      </p:sp>
      <p:sp>
        <p:nvSpPr>
          <p:cNvPr id="14" name="解释-3">
            <a:extLst xmlns:a="http://schemas.openxmlformats.org/drawingml/2006/main">
              <a:ext uri="{FF2B5EF4-FFF2-40B4-BE49-F238E27FC236}">
                <a16:creationId xmlns:a16="http://schemas.microsoft.com/office/drawing/2014/main" id="{3546EA33-9FFE-4AB1-A6DC-1F5591A91B10}"/>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§5.2，pp. 13–14，Corollary 4</a:t>
            </a:r>
          </a:p>
        </p:txBody>
      </p:sp>
      <p:sp>
        <p:nvSpPr>
          <p:cNvPr id="15" name="解释-4">
            <a:extLst xmlns:a="http://schemas.openxmlformats.org/drawingml/2006/main">
              <a:ext uri="{FF2B5EF4-FFF2-40B4-BE49-F238E27FC236}">
                <a16:creationId xmlns:a16="http://schemas.microsoft.com/office/drawing/2014/main" id="{C025375F-0F1F-4A17-AFAD-1E48326ABDC2}"/>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25</a:t>
            </a:r>
          </a:p>
        </p:txBody>
      </p:sp>
    </p:spTree>
    <p:extLst>
      <p:ext uri="{BB962C8B-B14F-4D97-AF65-F5344CB8AC3E}">
        <p14:creationId xmlns:p14="http://schemas.microsoft.com/office/powerpoint/2010/main" val="684218481"/>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DAF119C4-C3B9-44FE-82CB-30EB2EB3DBE0}"/>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五、装配网络：审计覆盖为何可能缩小</a:t>
            </a:r>
            <a:endParaRPr sz="3000" b="1" i="0" u="none" strike="noStrike" kern="0" cap="none" spc="75"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947BDA16-377F-47B0-AB69-178F282CB536}"/>
              </a:ext>
            </a:extLst>
          </p:cNvPr>
          <p:cNvSpPr>
            <a:spLocks xmlns:a="http://schemas.openxmlformats.org/drawingml/2006/main" noGrp="1"/>
          </p:cNvSpPr>
          <p:nvPr/>
        </p:nvSpPr>
        <p:spPr>
          <a:xfrm xmlns:a="http://schemas.openxmlformats.org/drawingml/2006/main">
            <a:off x="609600" y="5943600"/>
            <a:ext cx="10972800" cy="51435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在 Δs&lt;Δr&lt;min{Δs+Dα/2,Dβ/2} 时，预算增加可能使审计覆盖反转。</a:t>
            </a:r>
            <a:endParaRPr sz="1600" b="1">
              <a:latin typeface="微软雅黑"/>
              <a:ea typeface="微软雅黑"/>
              <a:cs typeface="微软雅黑"/>
            </a:endParaRPr>
          </a:p>
        </p:txBody>
      </p:sp>
      <p:pic>
        <p:nvPicPr>
          <p:cNvPr id="13" name="">
            <a:extLst xmlns:a="http://schemas.openxmlformats.org/drawingml/2006/main">
              <a:ext uri="{FF2B5EF4-FFF2-40B4-BE49-F238E27FC236}">
                <a16:creationId xmlns:a16="http://schemas.microsoft.com/office/drawing/2014/main" id="{A706BD08-015C-4F32-A9CE-C0B879C43833}"/>
              </a:ext>
            </a:extLst>
          </p:cNvPr>
          <p:cNvPicPr>
            <a:picLocks xmlns:a="http://schemas.openxmlformats.org/drawingml/2006/main" noChangeAspect="1"/>
          </p:cNvPicPr>
          <p:nvPr/>
        </p:nvPicPr>
        <p:blipFill>
          <a:blip xmlns:r="http://schemas.openxmlformats.org/officeDocument/2006/relationships" xmlns:a="http://schemas.openxmlformats.org/drawingml/2006/main" r:embed="Rb33ff71798064d03"/>
          <a:stretch xmlns:a="http://schemas.openxmlformats.org/drawingml/2006/main"/>
        </p:blipFill>
        <p:spPr>
          <a:xfrm xmlns:a="http://schemas.openxmlformats.org/drawingml/2006/main">
            <a:off x="1374361" y="1809750"/>
            <a:ext cx="9443278" cy="3886200"/>
          </a:xfrm>
          <a:prstGeom xmlns:a="http://schemas.openxmlformats.org/drawingml/2006/main" prst="rect">
            <a:avLst/>
          </a:prstGeom>
        </p:spPr>
      </p:pic>
      <p:sp>
        <p:nvSpPr>
          <p:cNvPr id="14" name="解释-2">
            <a:extLst xmlns:a="http://schemas.openxmlformats.org/drawingml/2006/main">
              <a:ext uri="{FF2B5EF4-FFF2-40B4-BE49-F238E27FC236}">
                <a16:creationId xmlns:a16="http://schemas.microsoft.com/office/drawing/2014/main" id="{B5101506-1B62-4DC6-866A-8E2A5105F9A6}"/>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§5.2，pp. 14–15，Proposition 7，Figure 4</a:t>
            </a:r>
          </a:p>
        </p:txBody>
      </p:sp>
      <p:sp>
        <p:nvSpPr>
          <p:cNvPr id="15" name="解释-3">
            <a:extLst xmlns:a="http://schemas.openxmlformats.org/drawingml/2006/main">
              <a:ext uri="{FF2B5EF4-FFF2-40B4-BE49-F238E27FC236}">
                <a16:creationId xmlns:a16="http://schemas.microsoft.com/office/drawing/2014/main" id="{2992947A-CBF0-4E9D-B23D-49183D08546A}"/>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26</a:t>
            </a:r>
          </a:p>
        </p:txBody>
      </p:sp>
    </p:spTree>
    <p:extLst>
      <p:ext uri="{BB962C8B-B14F-4D97-AF65-F5344CB8AC3E}">
        <p14:creationId xmlns:p14="http://schemas.microsoft.com/office/powerpoint/2010/main" val="1227128715"/>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sp>
        <p:nvSpPr>
          <p:cNvPr id="3" name="文本框 2">
            <a:extLst xmlns:a="http://schemas.openxmlformats.org/drawingml/2006/main">
              <a:ext uri="{FF2B5EF4-FFF2-40B4-BE49-F238E27FC236}">
                <a16:creationId xmlns:a16="http://schemas.microsoft.com/office/drawing/2014/main" id="{C21C0D34-9979-4308-A24F-4F3E8BDDBB5E}"/>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R="0" algn="l">
              <a:lnSpc>
                <a:spcPct val="108000"/>
              </a:lnSpc>
              <a:spcBef>
                <a:spcPts val="100"/>
              </a:spcBef>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五、装配网络：误报损害的作用</a:t>
            </a:r>
            <a:endParaRPr sz="3000" b="1" i="0" u="none" strike="noStrike" kern="0" cap="none" spc="75" baseline="0">
              <a:latin typeface="微软雅黑"/>
              <a:ea typeface="微软雅黑"/>
              <a:cs typeface="微软雅黑"/>
            </a:endParaRPr>
          </a:p>
        </p:txBody>
      </p:sp>
      <p:sp>
        <p:nvSpPr>
          <p:cNvPr id="12" name="文本框 11">
            <a:extLst xmlns:a="http://schemas.openxmlformats.org/drawingml/2006/main">
              <a:ext uri="{FF2B5EF4-FFF2-40B4-BE49-F238E27FC236}">
                <a16:creationId xmlns:a16="http://schemas.microsoft.com/office/drawing/2014/main" id="{C7B59709-2799-472D-9533-A5AF4EE01941}"/>
              </a:ext>
            </a:extLst>
          </p:cNvPr>
          <p:cNvSpPr>
            <a:spLocks xmlns:a="http://schemas.openxmlformats.org/drawingml/2006/main" noGrp="1"/>
          </p:cNvSpPr>
          <p:nvPr/>
        </p:nvSpPr>
        <p:spPr>
          <a:xfrm xmlns:a="http://schemas.openxmlformats.org/drawingml/2006/main">
            <a:off x="609600" y="3914775"/>
            <a:ext cx="10972800" cy="70485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75" b="1">
                <a:solidFill>
                  <a:srgbClr val="587C95"/>
                </a:solidFill>
                <a:latin typeface="Noto Sans CJK SC"/>
                <a:ea typeface="Noto Sans CJK SC"/>
                <a:cs typeface="Noto Sans CJK SC"/>
              </a:defRPr>
            </a:defPPr>
          </a:lstStyle>
          <a:p xmlns:a="http://schemas.openxmlformats.org/drawingml/2006/main">
            <a:pPr marL="0" indent="0" algn="l">
              <a:lnSpc>
                <a:spcPct val="108000"/>
              </a:lnSpc>
              <a:buNone/>
              <a:defRPr sz="2175" b="1">
                <a:solidFill>
                  <a:srgbClr val="587C95"/>
                </a:solidFill>
                <a:latin typeface="Noto Sans CJK SC"/>
                <a:ea typeface="Noto Sans CJK SC"/>
                <a:cs typeface="Noto Sans CJK SC"/>
              </a:defRPr>
            </a:pPr>
            <a:r>
              <a:rPr sz="2175" b="1">
                <a:solidFill>
                  <a:srgbClr val="587C95"/>
                </a:solidFill>
                <a:latin typeface="Noto Sans CJK SC"/>
                <a:ea typeface="Noto Sans CJK SC"/>
                <a:cs typeface="Noto Sans CJK SC"/>
              </a:rPr>
              <a:t>Dα=0 时，审计覆盖随可用预算弱扩大，反转区消失。</a:t>
            </a:r>
            <a:endParaRPr sz="1800">
              <a:latin typeface="微软雅黑"/>
              <a:ea typeface="微软雅黑"/>
              <a:cs typeface="微软雅黑"/>
            </a:endParaRPr>
          </a:p>
        </p:txBody>
      </p:sp>
      <p:pic>
        <p:nvPicPr>
          <p:cNvPr id="2" name="图片 1">
            <a:extLst xmlns:a="http://schemas.openxmlformats.org/drawingml/2006/main">
              <a:ext uri="{FF2B5EF4-FFF2-40B4-BE49-F238E27FC236}">
                <a16:creationId xmlns:a16="http://schemas.microsoft.com/office/drawing/2014/main" id="{6738489F-F187-4711-8318-2D3DF3EC77E5}"/>
              </a:ext>
            </a:extLst>
          </p:cNvPr>
          <p:cNvPicPr>
            <a:picLocks xmlns:a="http://schemas.openxmlformats.org/drawingml/2006/main" noChangeAspect="1"/>
          </p:cNvPicPr>
          <p:nvPr/>
        </p:nvPicPr>
        <p:blipFill>
          <a:blip xmlns:r="http://schemas.openxmlformats.org/officeDocument/2006/relationships" xmlns:a="http://schemas.openxmlformats.org/drawingml/2006/main" r:embed="R6491e0677b8145ac"/>
          <a:stretch xmlns:a="http://schemas.openxmlformats.org/drawingml/2006/main">
            <a:fillRect l="0" t="0" r="0" b="0"/>
          </a:stretch>
        </p:blipFill>
        <p:spPr>
          <a:xfrm xmlns:a="http://schemas.openxmlformats.org/drawingml/2006/main">
            <a:off x="790575" y="2223980"/>
            <a:ext cx="10610850" cy="1086064"/>
          </a:xfrm>
          <a:prstGeom xmlns:a="http://schemas.openxmlformats.org/drawingml/2006/main" prst="rect">
            <a:avLst/>
          </a:prstGeom>
        </p:spPr>
      </p:pic>
      <p:sp>
        <p:nvSpPr>
          <p:cNvPr id="13" name="解释-2">
            <a:extLst xmlns:a="http://schemas.openxmlformats.org/drawingml/2006/main">
              <a:ext uri="{FF2B5EF4-FFF2-40B4-BE49-F238E27FC236}">
                <a16:creationId xmlns:a16="http://schemas.microsoft.com/office/drawing/2014/main" id="{488B8412-22D2-4ADC-A8D7-951132363449}"/>
              </a:ext>
            </a:extLst>
          </p:cNvPr>
          <p:cNvSpPr>
            <a:spLocks xmlns:a="http://schemas.openxmlformats.org/drawingml/2006/main" noGrp="1"/>
          </p:cNvSpPr>
          <p:nvPr/>
        </p:nvSpPr>
        <p:spPr>
          <a:xfrm xmlns:a="http://schemas.openxmlformats.org/drawingml/2006/main">
            <a:off x="609600" y="4838700"/>
            <a:ext cx="109728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Dα=0 表示不计错误替换的经济损害，误报概率 α 仍可能大于零。</a:t>
            </a:r>
          </a:p>
        </p:txBody>
      </p:sp>
      <p:sp>
        <p:nvSpPr>
          <p:cNvPr id="14" name="解释-3">
            <a:extLst xmlns:a="http://schemas.openxmlformats.org/drawingml/2006/main">
              <a:ext uri="{FF2B5EF4-FFF2-40B4-BE49-F238E27FC236}">
                <a16:creationId xmlns:a16="http://schemas.microsoft.com/office/drawing/2014/main" id="{738867EC-A174-460A-BE6D-A8C226A16A0C}"/>
              </a:ext>
            </a:extLst>
          </p:cNvPr>
          <p:cNvSpPr>
            <a:spLocks xmlns:a="http://schemas.openxmlformats.org/drawingml/2006/main" noGrp="1"/>
          </p:cNvSpPr>
          <p:nvPr/>
        </p:nvSpPr>
        <p:spPr>
          <a:xfrm xmlns:a="http://schemas.openxmlformats.org/drawingml/2006/main">
            <a:off x="609600" y="57626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考虑 Dα&gt;0 时，即使 B&gt;1/2，也可能只审一家至完全准确并留存预算。</a:t>
            </a:r>
          </a:p>
        </p:txBody>
      </p:sp>
      <p:sp>
        <p:nvSpPr>
          <p:cNvPr id="15" name="解释-4">
            <a:extLst xmlns:a="http://schemas.openxmlformats.org/drawingml/2006/main">
              <a:ext uri="{FF2B5EF4-FFF2-40B4-BE49-F238E27FC236}">
                <a16:creationId xmlns:a16="http://schemas.microsoft.com/office/drawing/2014/main" id="{3BB53452-CBF6-4D92-A8F9-426BF1815D8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§5.2，p. 15，Corollary 5 及讨论</a:t>
            </a:r>
          </a:p>
        </p:txBody>
      </p:sp>
      <p:sp>
        <p:nvSpPr>
          <p:cNvPr id="16" name="解释-5">
            <a:extLst xmlns:a="http://schemas.openxmlformats.org/drawingml/2006/main">
              <a:ext uri="{FF2B5EF4-FFF2-40B4-BE49-F238E27FC236}">
                <a16:creationId xmlns:a16="http://schemas.microsoft.com/office/drawing/2014/main" id="{D9BBD3BE-28FA-4348-B5A2-C6E562A460D7}"/>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27</a:t>
            </a:r>
          </a:p>
        </p:txBody>
      </p:sp>
    </p:spTree>
    <p:extLst>
      <p:ext uri="{BB962C8B-B14F-4D97-AF65-F5344CB8AC3E}">
        <p14:creationId xmlns:p14="http://schemas.microsoft.com/office/powerpoint/2010/main" val="48413638"/>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29F842A5-B2E1-47F5-98EB-6B0EDCF45446}"/>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spcBef>
                <a:spcPts val="100"/>
              </a:spcBef>
              <a:buNone/>
              <a:defRPr sz="2925" b="1">
                <a:solidFill>
                  <a:srgbClr val="111111"/>
                </a:solidFill>
                <a:latin typeface="Noto Sans CJK SC"/>
                <a:ea typeface="Noto Sans CJK SC"/>
                <a:cs typeface="Noto Sans CJK SC"/>
              </a:defRPr>
            </a:pPr>
            <a:r>
              <a:rPr sz="2925" b="1" spc="75">
                <a:solidFill>
                  <a:srgbClr val="111111"/>
                </a:solidFill>
                <a:latin typeface="Noto Sans CJK SC"/>
                <a:ea typeface="Noto Sans CJK SC"/>
                <a:cs typeface="Noto Sans CJK SC"/>
              </a:rPr>
              <a:t>六、扩展模型：内生责任努力</a:t>
            </a:r>
            <a:endParaRPr sz="3000" b="1" spc="75">
              <a:latin typeface="微软雅黑"/>
              <a:ea typeface="微软雅黑"/>
              <a:cs typeface="微软雅黑"/>
            </a:endParaRPr>
          </a:p>
        </p:txBody>
      </p:sp>
      <p:sp>
        <p:nvSpPr>
          <p:cNvPr id="4" name="文本框 3">
            <a:extLst xmlns:a="http://schemas.openxmlformats.org/drawingml/2006/main">
              <a:ext uri="{FF2B5EF4-FFF2-40B4-BE49-F238E27FC236}">
                <a16:creationId xmlns:a16="http://schemas.microsoft.com/office/drawing/2014/main" id="{6A58EF04-5442-4DAA-8E89-53071EAD3AB4}"/>
              </a:ext>
            </a:extLst>
          </p:cNvPr>
          <p:cNvSpPr>
            <a:spLocks xmlns:a="http://schemas.openxmlformats.org/drawingml/2006/main" noGrp="1"/>
          </p:cNvSpPr>
          <p:nvPr/>
        </p:nvSpPr>
        <p:spPr>
          <a:xfrm xmlns:a="http://schemas.openxmlformats.org/drawingml/2006/main">
            <a:off x="609600" y="1800225"/>
            <a:ext cx="10972800" cy="437083"/>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00" b="1">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2100" b="1">
                <a:solidFill>
                  <a:srgbClr val="111111"/>
                </a:solidFill>
                <a:latin typeface="Noto Sans CJK SC"/>
                <a:ea typeface="Noto Sans CJK SC"/>
                <a:cs typeface="Noto Sans CJK SC"/>
              </a:defRPr>
            </a:pPr>
            <a:r>
              <a:rPr sz="2100" b="1">
                <a:solidFill>
                  <a:srgbClr val="111111"/>
                </a:solidFill>
                <a:latin typeface="Noto Sans CJK SC"/>
                <a:ea typeface="Noto Sans CJK SC"/>
                <a:cs typeface="Noto Sans CJK SC"/>
              </a:rPr>
              <a:t>供应商先选择 eₛ，承担责任努力成本 κeₛ²/2。买方观察后再设计审计。</a:t>
            </a:r>
            <a:endParaRPr sz="1800">
              <a:latin typeface="微软雅黑"/>
              <a:ea typeface="微软雅黑"/>
              <a:cs typeface="微软雅黑"/>
            </a:endParaRPr>
          </a:p>
        </p:txBody>
      </p:sp>
      <p:sp>
        <p:nvSpPr>
          <p:cNvPr id="5" name="解释-2">
            <a:extLst xmlns:a="http://schemas.openxmlformats.org/drawingml/2006/main">
              <a:ext uri="{FF2B5EF4-FFF2-40B4-BE49-F238E27FC236}">
                <a16:creationId xmlns:a16="http://schemas.microsoft.com/office/drawing/2014/main" id="{D01E25B0-A539-4EAE-9F1C-F884EB19191A}"/>
              </a:ext>
            </a:extLst>
          </p:cNvPr>
          <p:cNvSpPr>
            <a:spLocks xmlns:a="http://schemas.openxmlformats.org/drawingml/2006/main" noGrp="1"/>
          </p:cNvSpPr>
          <p:nvPr/>
        </p:nvSpPr>
        <p:spPr>
          <a:xfrm xmlns:a="http://schemas.openxmlformats.org/drawingml/2006/main">
            <a:off x="609600" y="2667000"/>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供应商被整改时承担 δr，被替换时失去交易利润 Πₛ。</a:t>
            </a:r>
          </a:p>
        </p:txBody>
      </p:sp>
      <p:pic>
        <p:nvPicPr>
          <p:cNvPr id="6" name="">
            <a:extLst xmlns:a="http://schemas.openxmlformats.org/drawingml/2006/main">
              <a:ext uri="{FF2B5EF4-FFF2-40B4-BE49-F238E27FC236}">
                <a16:creationId xmlns:a16="http://schemas.microsoft.com/office/drawing/2014/main" id="{13758025-7423-4545-8FFF-4ABDE418AC33}"/>
              </a:ext>
            </a:extLst>
          </p:cNvPr>
          <p:cNvPicPr>
            <a:picLocks xmlns:a="http://schemas.openxmlformats.org/drawingml/2006/main" noChangeAspect="1"/>
          </p:cNvPicPr>
          <p:nvPr/>
        </p:nvPicPr>
        <p:blipFill>
          <a:blip xmlns:r="http://schemas.openxmlformats.org/officeDocument/2006/relationships" xmlns:a="http://schemas.openxmlformats.org/drawingml/2006/main" r:embed="R34ddf786c83d4fdb"/>
          <a:stretch xmlns:a="http://schemas.openxmlformats.org/drawingml/2006/main"/>
        </p:blipFill>
        <p:spPr>
          <a:xfrm xmlns:a="http://schemas.openxmlformats.org/drawingml/2006/main">
            <a:off x="1536512" y="3400425"/>
            <a:ext cx="9118977" cy="752475"/>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0AD80315-605D-4BF1-80FC-7B0EAB28D9D7}"/>
              </a:ext>
            </a:extLst>
          </p:cNvPr>
          <p:cNvPicPr>
            <a:picLocks xmlns:a="http://schemas.openxmlformats.org/drawingml/2006/main" noChangeAspect="1"/>
          </p:cNvPicPr>
          <p:nvPr/>
        </p:nvPicPr>
        <p:blipFill>
          <a:blip xmlns:r="http://schemas.openxmlformats.org/officeDocument/2006/relationships" xmlns:a="http://schemas.openxmlformats.org/drawingml/2006/main" r:embed="R3a9fcc5e89f440d8"/>
          <a:stretch xmlns:a="http://schemas.openxmlformats.org/drawingml/2006/main"/>
        </p:blipFill>
        <p:spPr>
          <a:xfrm xmlns:a="http://schemas.openxmlformats.org/drawingml/2006/main">
            <a:off x="2132604" y="4286250"/>
            <a:ext cx="7926791" cy="733425"/>
          </a:xfrm>
          <a:prstGeom xmlns:a="http://schemas.openxmlformats.org/drawingml/2006/main" prst="rect">
            <a:avLst/>
          </a:prstGeom>
        </p:spPr>
      </p:pic>
      <p:sp>
        <p:nvSpPr>
          <p:cNvPr id="8" name="解释-3">
            <a:extLst xmlns:a="http://schemas.openxmlformats.org/drawingml/2006/main">
              <a:ext uri="{FF2B5EF4-FFF2-40B4-BE49-F238E27FC236}">
                <a16:creationId xmlns:a16="http://schemas.microsoft.com/office/drawing/2014/main" id="{CB7E4823-2A91-4BE1-958E-87FC64DB7562}"/>
              </a:ext>
            </a:extLst>
          </p:cNvPr>
          <p:cNvSpPr>
            <a:spLocks xmlns:a="http://schemas.openxmlformats.org/drawingml/2006/main" noGrp="1"/>
          </p:cNvSpPr>
          <p:nvPr/>
        </p:nvSpPr>
        <p:spPr>
          <a:xfrm xmlns:a="http://schemas.openxmlformats.org/drawingml/2006/main">
            <a:off x="609600" y="5248275"/>
            <a:ext cx="109728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1">
                <a:solidFill>
                  <a:srgbClr val="587C95"/>
                </a:solidFill>
                <a:latin typeface="Noto Sans CJK SC"/>
                <a:ea typeface="Noto Sans CJK SC"/>
                <a:cs typeface="Noto Sans CJK SC"/>
              </a:defRPr>
            </a:defPPr>
          </a:lstStyle>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δr 是供应商的整改成本，Δr 是买方的整改成本。</a:t>
            </a:r>
          </a:p>
          <a:p xmlns:a="http://schemas.openxmlformats.org/drawingml/2006/main">
            <a:pPr algn="l">
              <a:lnSpc>
                <a:spcPct val="108000"/>
              </a:lnSpc>
              <a:buNone/>
              <a:defRPr sz="2100" b="1">
                <a:solidFill>
                  <a:srgbClr val="587C95"/>
                </a:solidFill>
                <a:latin typeface="Noto Sans CJK SC"/>
                <a:ea typeface="Noto Sans CJK SC"/>
                <a:cs typeface="Noto Sans CJK SC"/>
              </a:defRPr>
            </a:pPr>
            <a:r>
              <a:rPr sz="2100" b="1">
                <a:solidFill>
                  <a:srgbClr val="587C95"/>
                </a:solidFill>
                <a:latin typeface="Noto Sans CJK SC"/>
                <a:ea typeface="Noto Sans CJK SC"/>
                <a:cs typeface="Noto Sans CJK SC"/>
              </a:rPr>
              <a:t>买方只有在方案无差异时偏好整改。</a:t>
            </a:r>
          </a:p>
        </p:txBody>
      </p:sp>
      <p:sp>
        <p:nvSpPr>
          <p:cNvPr id="9" name="解释-4">
            <a:extLst xmlns:a="http://schemas.openxmlformats.org/drawingml/2006/main">
              <a:ext uri="{FF2B5EF4-FFF2-40B4-BE49-F238E27FC236}">
                <a16:creationId xmlns:a16="http://schemas.microsoft.com/office/drawing/2014/main" id="{813F7DA1-DDAD-4B86-93C8-FDC55D587032}"/>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§6.1，p. 15；一对一拓展</a:t>
            </a:r>
          </a:p>
        </p:txBody>
      </p:sp>
      <p:sp>
        <p:nvSpPr>
          <p:cNvPr id="10" name="解释-5">
            <a:extLst xmlns:a="http://schemas.openxmlformats.org/drawingml/2006/main">
              <a:ext uri="{FF2B5EF4-FFF2-40B4-BE49-F238E27FC236}">
                <a16:creationId xmlns:a16="http://schemas.microsoft.com/office/drawing/2014/main" id="{BB52EC84-9914-4BA5-8500-DE0A25097808}"/>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28</a:t>
            </a:r>
          </a:p>
        </p:txBody>
      </p:sp>
    </p:spTree>
    <p:extLst>
      <p:ext uri="{BB962C8B-B14F-4D97-AF65-F5344CB8AC3E}">
        <p14:creationId xmlns:p14="http://schemas.microsoft.com/office/powerpoint/2010/main" val="189850149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647B2470-3B7A-4269-962D-EAF1706CFB14}"/>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spcBef>
                <a:spcPts val="100"/>
              </a:spcBef>
              <a:buNone/>
              <a:defRPr sz="2925" b="1">
                <a:solidFill>
                  <a:srgbClr val="111111"/>
                </a:solidFill>
                <a:latin typeface="Noto Sans CJK SC"/>
                <a:ea typeface="Noto Sans CJK SC"/>
                <a:cs typeface="Noto Sans CJK SC"/>
              </a:defRPr>
            </a:pPr>
            <a:r>
              <a:rPr sz="2925" b="1" spc="75">
                <a:solidFill>
                  <a:srgbClr val="111111"/>
                </a:solidFill>
                <a:latin typeface="Noto Sans CJK SC"/>
                <a:ea typeface="Noto Sans CJK SC"/>
                <a:cs typeface="Noto Sans CJK SC"/>
              </a:rPr>
              <a:t>六、扩展模型：责任努力的均衡</a:t>
            </a:r>
            <a:endParaRPr sz="3000" b="1" spc="75">
              <a:latin typeface="微软雅黑"/>
              <a:ea typeface="微软雅黑"/>
              <a:cs typeface="微软雅黑"/>
            </a:endParaRPr>
          </a:p>
        </p:txBody>
      </p:sp>
      <p:sp>
        <p:nvSpPr>
          <p:cNvPr id="11" name="文本框 10">
            <a:extLst xmlns:a="http://schemas.openxmlformats.org/drawingml/2006/main">
              <a:ext uri="{FF2B5EF4-FFF2-40B4-BE49-F238E27FC236}">
                <a16:creationId xmlns:a16="http://schemas.microsoft.com/office/drawing/2014/main" id="{C6D7887B-EB2F-4047-AD2B-D312637FA9DA}"/>
              </a:ext>
            </a:extLst>
          </p:cNvPr>
          <p:cNvSpPr>
            <a:spLocks xmlns:a="http://schemas.openxmlformats.org/drawingml/2006/main" noGrp="1"/>
          </p:cNvSpPr>
          <p:nvPr/>
        </p:nvSpPr>
        <p:spPr>
          <a:xfrm xmlns:a="http://schemas.openxmlformats.org/drawingml/2006/main">
            <a:off x="609600" y="5648325"/>
            <a:ext cx="10972800" cy="424739"/>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替换的威慑通常更强，但切换区还存在边界努力，不能只保留两种常数。</a:t>
            </a:r>
            <a:endParaRPr sz="2800">
              <a:latin typeface="微软雅黑"/>
              <a:ea typeface="微软雅黑"/>
              <a:cs typeface="微软雅黑"/>
            </a:endParaRPr>
          </a:p>
        </p:txBody>
      </p:sp>
      <p:pic>
        <p:nvPicPr>
          <p:cNvPr id="12" name="">
            <a:extLst xmlns:a="http://schemas.openxmlformats.org/drawingml/2006/main">
              <a:ext uri="{FF2B5EF4-FFF2-40B4-BE49-F238E27FC236}">
                <a16:creationId xmlns:a16="http://schemas.microsoft.com/office/drawing/2014/main" id="{4FFE7137-DC3D-4B76-96C6-571E3834FCB8}"/>
              </a:ext>
            </a:extLst>
          </p:cNvPr>
          <p:cNvPicPr>
            <a:picLocks xmlns:a="http://schemas.openxmlformats.org/drawingml/2006/main" noChangeAspect="1"/>
          </p:cNvPicPr>
          <p:nvPr/>
        </p:nvPicPr>
        <p:blipFill>
          <a:blip xmlns:r="http://schemas.openxmlformats.org/officeDocument/2006/relationships" xmlns:a="http://schemas.openxmlformats.org/drawingml/2006/main" r:embed="R103fa34d2b314346"/>
          <a:stretch xmlns:a="http://schemas.openxmlformats.org/drawingml/2006/main"/>
        </p:blipFill>
        <p:spPr>
          <a:xfrm xmlns:a="http://schemas.openxmlformats.org/drawingml/2006/main">
            <a:off x="2146527" y="1838325"/>
            <a:ext cx="7898946" cy="571500"/>
          </a:xfrm>
          <a:prstGeom xmlns:a="http://schemas.openxmlformats.org/drawingml/2006/main" prst="rect">
            <a:avLst/>
          </a:prstGeom>
        </p:spPr>
      </p:pic>
      <p:graphicFrame>
        <p:nvGraphicFramePr>
          <p:cNvPr id="13" name="">
            <a:extLst xmlns:a="http://schemas.openxmlformats.org/drawingml/2006/main">
              <a:ext uri="{FF2B5EF4-FFF2-40B4-BE49-F238E27FC236}">
                <a16:creationId xmlns:a16="http://schemas.microsoft.com/office/drawing/2014/main" id="{CD233F7A-C0BF-4EC0-BD59-CA6E6F0E343F}"/>
              </a:ext>
            </a:extLst>
          </p:cNvPr>
          <p:cNvGraphicFramePr/>
          <p:nvPr/>
        </p:nvGraphicFramePr>
        <p:xfrm>
          <a:off xmlns:a="http://schemas.openxmlformats.org/drawingml/2006/main" x="609600" y="2924175"/>
          <a:ext xmlns:a="http://schemas.openxmlformats.org/drawingml/2006/main" cx="10972800" cy="2333625"/>
        </p:xfrm>
        <a:graphic xmlns:a="http://schemas.openxmlformats.org/drawingml/2006/main">
          <a:graphicData uri="http://schemas.openxmlformats.org/drawingml/2006/table">
            <a:tbl>
              <a:tblPr firstRow="1" bandRow="0"/>
              <a:tblGrid>
                <a:gridCol w="3276151"/>
                <a:gridCol w="3571466"/>
                <a:gridCol w="4125182"/>
              </a:tblGrid>
              <a:tr h="583406">
                <a:tc>
                  <a:txBody>
                    <a:bodyPr wrap="square">
                      <a:noAutofit/>
                    </a:bodyPr>
                    <a:lstStyle/>
                    <a:p>
                      <a:pPr algn="l">
                        <a:lnSpc>
                          <a:spcPct val="100000"/>
                        </a:lnSpc>
                        <a:buNone/>
                      </a:pPr>
                      <a:r>
                        <a:rPr sz="1950" b="1">
                          <a:solidFill>
                            <a:srgbClr val="587C95"/>
                          </a:solidFill>
                          <a:latin typeface="Noto Sans CJK SC"/>
                          <a:ea typeface="Noto Sans CJK SC"/>
                          <a:cs typeface="Noto Sans CJK SC"/>
                        </a:rPr>
                        <a:t>买方响应结构</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供应商均衡努力</a:t>
                      </a:r>
                    </a:p>
                  </a:txBody>
                  <a:tcPr marL="95250" marR="95250" marT="66675" marB="66675" anchor="ctr">
                    <a:solidFill>
                      <a:srgbClr val="EDF2F5"/>
                    </a:solidFill>
                  </a:tcPr>
                </a:tc>
                <a:tc>
                  <a:txBody>
                    <a:bodyPr wrap="square">
                      <a:noAutofit/>
                    </a:bodyPr>
                    <a:lstStyle/>
                    <a:p>
                      <a:pPr algn="l">
                        <a:lnSpc>
                          <a:spcPct val="100000"/>
                        </a:lnSpc>
                        <a:buNone/>
                      </a:pPr>
                      <a:r>
                        <a:rPr sz="1950" b="1">
                          <a:solidFill>
                            <a:srgbClr val="587C95"/>
                          </a:solidFill>
                          <a:latin typeface="Noto Sans CJK SC"/>
                          <a:ea typeface="Noto Sans CJK SC"/>
                          <a:cs typeface="Noto Sans CJK SC"/>
                        </a:rPr>
                        <a:t>机制</a:t>
                      </a:r>
                    </a:p>
                  </a:txBody>
                  <a:tcPr marL="95250" marR="95250" marT="66675" marB="66675" anchor="ctr">
                    <a:solidFill>
                      <a:srgbClr val="EDF2F5"/>
                    </a:solidFill>
                  </a:tcPr>
                </a:tc>
              </a:tr>
              <a:tr h="583406">
                <a:tc>
                  <a:txBody>
                    <a:bodyPr wrap="square">
                      <a:noAutofit/>
                    </a:bodyPr>
                    <a:lstStyle/>
                    <a:p>
                      <a:pPr algn="l">
                        <a:lnSpc>
                          <a:spcPct val="100000"/>
                        </a:lnSpc>
                        <a:buNone/>
                      </a:pPr>
                      <a:r>
                        <a:rPr sz="1950" b="0">
                          <a:solidFill>
                            <a:srgbClr val="111111"/>
                          </a:solidFill>
                          <a:latin typeface="Noto Sans CJK SC"/>
                          <a:ea typeface="Noto Sans CJK SC"/>
                          <a:cs typeface="Noto Sans CJK SC"/>
                        </a:rPr>
                        <a:t>稳定整改</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δr/κ</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平衡责任成本与整改支出</a:t>
                      </a:r>
                    </a:p>
                  </a:txBody>
                  <a:tcPr marL="95250" marR="95250" marT="66675" marB="66675" anchor="ctr">
                    <a:solidFill>
                      <a:srgbClr val="FFFFFF"/>
                    </a:solidFill>
                  </a:tcPr>
                </a:tc>
              </a:tr>
              <a:tr h="583406">
                <a:tc>
                  <a:txBody>
                    <a:bodyPr wrap="square">
                      <a:noAutofit/>
                    </a:bodyPr>
                    <a:lstStyle/>
                    <a:p>
                      <a:pPr algn="l">
                        <a:lnSpc>
                          <a:spcPct val="100000"/>
                        </a:lnSpc>
                        <a:buNone/>
                      </a:pPr>
                      <a:r>
                        <a:rPr sz="1950" b="0">
                          <a:solidFill>
                            <a:srgbClr val="111111"/>
                          </a:solidFill>
                          <a:latin typeface="Noto Sans CJK SC"/>
                          <a:ea typeface="Noto Sans CJK SC"/>
                          <a:cs typeface="Noto Sans CJK SC"/>
                        </a:rPr>
                        <a:t>稳定替换</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ΠS/κ（较高）</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避免丧失交易利润</a:t>
                      </a:r>
                    </a:p>
                  </a:txBody>
                  <a:tcPr marL="95250" marR="95250" marT="66675" marB="66675" anchor="ctr">
                    <a:solidFill>
                      <a:srgbClr val="FFFFFF"/>
                    </a:solidFill>
                  </a:tcPr>
                </a:tc>
              </a:tr>
              <a:tr h="583406">
                <a:tc>
                  <a:txBody>
                    <a:bodyPr wrap="square">
                      <a:noAutofit/>
                    </a:bodyPr>
                    <a:lstStyle/>
                    <a:p>
                      <a:pPr algn="l">
                        <a:lnSpc>
                          <a:spcPct val="100000"/>
                        </a:lnSpc>
                        <a:buNone/>
                      </a:pPr>
                      <a:r>
                        <a:rPr sz="1950" b="0">
                          <a:solidFill>
                            <a:srgbClr val="111111"/>
                          </a:solidFill>
                          <a:latin typeface="Noto Sans CJK SC"/>
                          <a:ea typeface="Noto Sans CJK SC"/>
                          <a:cs typeface="Noto Sans CJK SC"/>
                        </a:rPr>
                        <a:t>政策／治理切换区</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边界努力，随预算与收益变化</a:t>
                      </a:r>
                    </a:p>
                  </a:txBody>
                  <a:tcPr marL="95250" marR="95250" marT="66675" marB="66675" anchor="ctr">
                    <a:solidFill>
                      <a:srgbClr val="FFFFFF"/>
                    </a:solidFill>
                  </a:tcPr>
                </a:tc>
                <a:tc>
                  <a:txBody>
                    <a:bodyPr wrap="square">
                      <a:noAutofit/>
                    </a:bodyPr>
                    <a:lstStyle/>
                    <a:p>
                      <a:pPr algn="l">
                        <a:lnSpc>
                          <a:spcPct val="100000"/>
                        </a:lnSpc>
                        <a:buNone/>
                      </a:pPr>
                      <a:r>
                        <a:rPr sz="1950" b="0">
                          <a:solidFill>
                            <a:srgbClr val="111111"/>
                          </a:solidFill>
                          <a:latin typeface="Noto Sans CJK SC"/>
                          <a:ea typeface="Noto Sans CJK SC"/>
                          <a:cs typeface="Noto Sans CJK SC"/>
                        </a:rPr>
                        <a:t>改变努力，影响买方是否继续交易</a:t>
                      </a:r>
                    </a:p>
                  </a:txBody>
                  <a:tcPr marL="95250" marR="95250" marT="66675" marB="66675" anchor="ctr">
                    <a:solidFill>
                      <a:srgbClr val="FFFFFF"/>
                    </a:solidFill>
                  </a:tcPr>
                </a:tc>
              </a:tr>
            </a:tbl>
          </a:graphicData>
        </a:graphic>
      </p:graphicFrame>
      <p:sp>
        <p:nvSpPr>
          <p:cNvPr id="14" name="解释-2">
            <a:extLst xmlns:a="http://schemas.openxmlformats.org/drawingml/2006/main">
              <a:ext uri="{FF2B5EF4-FFF2-40B4-BE49-F238E27FC236}">
                <a16:creationId xmlns:a16="http://schemas.microsoft.com/office/drawing/2014/main" id="{7A1827F7-8341-4C23-9FB8-C0E1C1C088D4}"/>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§6.1，pp. 15–16，Proposition 8</a:t>
            </a:r>
          </a:p>
        </p:txBody>
      </p:sp>
      <p:sp>
        <p:nvSpPr>
          <p:cNvPr id="15" name="解释-3">
            <a:extLst xmlns:a="http://schemas.openxmlformats.org/drawingml/2006/main">
              <a:ext uri="{FF2B5EF4-FFF2-40B4-BE49-F238E27FC236}">
                <a16:creationId xmlns:a16="http://schemas.microsoft.com/office/drawing/2014/main" id="{2E57B5F2-F149-4159-8919-55C065C6EB5C}"/>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29</a:t>
            </a:r>
          </a:p>
        </p:txBody>
      </p:sp>
    </p:spTree>
    <p:extLst>
      <p:ext uri="{BB962C8B-B14F-4D97-AF65-F5344CB8AC3E}">
        <p14:creationId xmlns:p14="http://schemas.microsoft.com/office/powerpoint/2010/main" val="1441163083"/>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sp>
        <p:nvSpPr>
          <p:cNvPr id="8" name="解释-0">
            <a:extLst xmlns:a="http://schemas.openxmlformats.org/drawingml/2006/main">
              <a:ext uri="{FF2B5EF4-FFF2-40B4-BE49-F238E27FC236}">
                <a16:creationId xmlns:a16="http://schemas.microsoft.com/office/drawing/2014/main" id="{DF3CD906-FE93-4D1C-B122-E05183C0F935}"/>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六、扩展模型：随机审计承诺</a:t>
            </a:r>
          </a:p>
        </p:txBody>
      </p:sp>
      <p:sp>
        <p:nvSpPr>
          <p:cNvPr id="2" name="解释-1">
            <a:extLst xmlns:a="http://schemas.openxmlformats.org/drawingml/2006/main">
              <a:ext uri="{FF2B5EF4-FFF2-40B4-BE49-F238E27FC236}">
                <a16:creationId xmlns:a16="http://schemas.microsoft.com/office/drawing/2014/main" id="{D7ED2517-F4EF-446E-8A1F-36A592F9C707}"/>
              </a:ext>
            </a:extLst>
          </p:cNvPr>
          <p:cNvSpPr>
            <a:spLocks xmlns:a="http://schemas.openxmlformats.org/drawingml/2006/main" noGrp="1"/>
          </p:cNvSpPr>
          <p:nvPr/>
        </p:nvSpPr>
        <p:spPr>
          <a:xfrm xmlns:a="http://schemas.openxmlformats.org/drawingml/2006/main">
            <a:off x="609600" y="194310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75" b="1">
                <a:solidFill>
                  <a:srgbClr val="111111"/>
                </a:solidFill>
                <a:latin typeface="Noto Sans CJK SC"/>
                <a:ea typeface="Noto Sans CJK SC"/>
                <a:cs typeface="Noto Sans CJK SC"/>
              </a:defRPr>
            </a:defPPr>
          </a:lstStyle>
          <a:p xmlns:a="http://schemas.openxmlformats.org/drawingml/2006/main">
            <a:pPr algn="l">
              <a:lnSpc>
                <a:spcPct val="108000"/>
              </a:lnSpc>
              <a:buNone/>
              <a:defRPr sz="2175" b="1">
                <a:solidFill>
                  <a:srgbClr val="111111"/>
                </a:solidFill>
                <a:latin typeface="Noto Sans CJK SC"/>
                <a:ea typeface="Noto Sans CJK SC"/>
                <a:cs typeface="Noto Sans CJK SC"/>
              </a:defRPr>
            </a:pPr>
            <a:r>
              <a:rPr sz="2175" b="1">
                <a:solidFill>
                  <a:srgbClr val="111111"/>
                </a:solidFill>
                <a:latin typeface="Noto Sans CJK SC"/>
                <a:ea typeface="Noto Sans CJK SC"/>
                <a:cs typeface="Noto Sans CJK SC"/>
              </a:rPr>
              <a:t>低预算问题：纯策略候选努力超过可达准确度，审计无法持续。</a:t>
            </a:r>
          </a:p>
        </p:txBody>
      </p:sp>
      <p:pic>
        <p:nvPicPr>
          <p:cNvPr id="3" name="">
            <a:extLst xmlns:a="http://schemas.openxmlformats.org/drawingml/2006/main">
              <a:ext uri="{FF2B5EF4-FFF2-40B4-BE49-F238E27FC236}">
                <a16:creationId xmlns:a16="http://schemas.microsoft.com/office/drawing/2014/main" id="{46261292-3578-4035-B97B-A292EB9BD7E2}"/>
              </a:ext>
            </a:extLst>
          </p:cNvPr>
          <p:cNvPicPr>
            <a:picLocks xmlns:a="http://schemas.openxmlformats.org/drawingml/2006/main" noChangeAspect="1"/>
          </p:cNvPicPr>
          <p:nvPr/>
        </p:nvPicPr>
        <p:blipFill>
          <a:blip xmlns:r="http://schemas.openxmlformats.org/officeDocument/2006/relationships" xmlns:a="http://schemas.openxmlformats.org/drawingml/2006/main" r:embed="Red478a76a0524553"/>
          <a:stretch xmlns:a="http://schemas.openxmlformats.org/drawingml/2006/main"/>
        </p:blipFill>
        <p:spPr>
          <a:xfrm xmlns:a="http://schemas.openxmlformats.org/drawingml/2006/main">
            <a:off x="1888830" y="3209925"/>
            <a:ext cx="8414341" cy="742950"/>
          </a:xfrm>
          <a:prstGeom xmlns:a="http://schemas.openxmlformats.org/drawingml/2006/main" prst="rect">
            <a:avLst/>
          </a:prstGeom>
        </p:spPr>
      </p:pic>
      <p:sp>
        <p:nvSpPr>
          <p:cNvPr id="4" name="解释-2">
            <a:extLst xmlns:a="http://schemas.openxmlformats.org/drawingml/2006/main">
              <a:ext uri="{FF2B5EF4-FFF2-40B4-BE49-F238E27FC236}">
                <a16:creationId xmlns:a16="http://schemas.microsoft.com/office/drawing/2014/main" id="{A12A1CC0-6370-4427-946E-FA6A7FC0F908}"/>
              </a:ext>
            </a:extLst>
          </p:cNvPr>
          <p:cNvSpPr>
            <a:spLocks xmlns:a="http://schemas.openxmlformats.org/drawingml/2006/main" noGrp="1"/>
          </p:cNvSpPr>
          <p:nvPr/>
        </p:nvSpPr>
        <p:spPr>
          <a:xfrm xmlns:a="http://schemas.openxmlformats.org/drawingml/2006/main">
            <a:off x="609600" y="4495800"/>
            <a:ext cx="109728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买方事前承诺，以概率 q 启动审计。</a:t>
            </a:r>
          </a:p>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这使供应商面对的审计暴露下降，诱导努力与准确度能力相容。</a:t>
            </a:r>
          </a:p>
        </p:txBody>
      </p:sp>
      <p:sp>
        <p:nvSpPr>
          <p:cNvPr id="5" name="解释-3">
            <a:extLst xmlns:a="http://schemas.openxmlformats.org/drawingml/2006/main">
              <a:ext uri="{FF2B5EF4-FFF2-40B4-BE49-F238E27FC236}">
                <a16:creationId xmlns:a16="http://schemas.microsoft.com/office/drawing/2014/main" id="{8B04F07C-B93D-445A-BEDD-4B0BFD62121C}"/>
              </a:ext>
            </a:extLst>
          </p:cNvPr>
          <p:cNvSpPr>
            <a:spLocks xmlns:a="http://schemas.openxmlformats.org/drawingml/2006/main" noGrp="1"/>
          </p:cNvSpPr>
          <p:nvPr/>
        </p:nvSpPr>
        <p:spPr>
          <a:xfrm xmlns:a="http://schemas.openxmlformats.org/drawingml/2006/main">
            <a:off x="609600" y="5943600"/>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50" b="1">
                <a:solidFill>
                  <a:srgbClr val="587C95"/>
                </a:solidFill>
                <a:latin typeface="Noto Sans CJK SC"/>
                <a:ea typeface="Noto Sans CJK SC"/>
                <a:cs typeface="Noto Sans CJK SC"/>
              </a:defRPr>
            </a:defPPr>
          </a:lstStyle>
          <a:p xmlns:a="http://schemas.openxmlformats.org/drawingml/2006/main">
            <a:pPr algn="l">
              <a:lnSpc>
                <a:spcPct val="108000"/>
              </a:lnSpc>
              <a:buNone/>
              <a:defRPr sz="1950" b="1">
                <a:solidFill>
                  <a:srgbClr val="587C95"/>
                </a:solidFill>
                <a:latin typeface="Noto Sans CJK SC"/>
                <a:ea typeface="Noto Sans CJK SC"/>
                <a:cs typeface="Noto Sans CJK SC"/>
              </a:defRPr>
            </a:pPr>
            <a:r>
              <a:rPr sz="1950" b="1">
                <a:solidFill>
                  <a:srgbClr val="587C95"/>
                </a:solidFill>
                <a:latin typeface="Noto Sans CJK SC"/>
                <a:ea typeface="Noto Sans CJK SC"/>
                <a:cs typeface="Noto Sans CJK SC"/>
              </a:rPr>
              <a:t>该结论依赖事前随机承诺，q 是可支持均衡的一种选择。</a:t>
            </a:r>
          </a:p>
        </p:txBody>
      </p:sp>
      <p:sp>
        <p:nvSpPr>
          <p:cNvPr id="6" name="解释-4">
            <a:extLst xmlns:a="http://schemas.openxmlformats.org/drawingml/2006/main">
              <a:ext uri="{FF2B5EF4-FFF2-40B4-BE49-F238E27FC236}">
                <a16:creationId xmlns:a16="http://schemas.microsoft.com/office/drawing/2014/main" id="{A01CB9C5-52A9-4F58-AC81-2B8409F9FC6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§6.1，pp. 16–17，Proposition 9</a:t>
            </a:r>
          </a:p>
        </p:txBody>
      </p:sp>
      <p:sp>
        <p:nvSpPr>
          <p:cNvPr id="7" name="解释-5">
            <a:extLst xmlns:a="http://schemas.openxmlformats.org/drawingml/2006/main">
              <a:ext uri="{FF2B5EF4-FFF2-40B4-BE49-F238E27FC236}">
                <a16:creationId xmlns:a16="http://schemas.microsoft.com/office/drawing/2014/main" id="{671FF31F-AE7B-4CC1-B5EA-D35CE402992A}"/>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30</a:t>
            </a:r>
          </a:p>
        </p:txBody>
      </p:sp>
    </p:spTree>
    <p:extLst>
      <p:ext uri="{BB962C8B-B14F-4D97-AF65-F5344CB8AC3E}">
        <p14:creationId xmlns:p14="http://schemas.microsoft.com/office/powerpoint/2010/main" val="1019093032"/>
      </p:ext>
    </p:extLst>
  </p:cSld>
</p:sld>
</file>

<file path=ppt/slides/slide31.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9BCB38AD-3CBA-47EB-A1A1-5C14627426F9}"/>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spcBef>
                <a:spcPts val="100"/>
              </a:spcBef>
              <a:buNone/>
              <a:defRPr sz="2925" b="1">
                <a:solidFill>
                  <a:srgbClr val="111111"/>
                </a:solidFill>
                <a:latin typeface="Noto Sans CJK SC"/>
                <a:ea typeface="Noto Sans CJK SC"/>
                <a:cs typeface="Noto Sans CJK SC"/>
              </a:defRPr>
            </a:pPr>
            <a:r>
              <a:rPr sz="2925" b="1" spc="75">
                <a:solidFill>
                  <a:srgbClr val="111111"/>
                </a:solidFill>
                <a:latin typeface="Noto Sans CJK SC"/>
                <a:ea typeface="Noto Sans CJK SC"/>
                <a:cs typeface="Noto Sans CJK SC"/>
              </a:rPr>
              <a:t>六、扩展模型：内生审计预算</a:t>
            </a:r>
            <a:endParaRPr sz="3000" b="1" spc="75">
              <a:latin typeface="微软雅黑"/>
              <a:ea typeface="微软雅黑"/>
              <a:cs typeface="微软雅黑"/>
            </a:endParaRPr>
          </a:p>
        </p:txBody>
      </p:sp>
      <p:sp>
        <p:nvSpPr>
          <p:cNvPr id="11" name="文本框 10">
            <a:extLst xmlns:a="http://schemas.openxmlformats.org/drawingml/2006/main">
              <a:ext uri="{FF2B5EF4-FFF2-40B4-BE49-F238E27FC236}">
                <a16:creationId xmlns:a16="http://schemas.microsoft.com/office/drawing/2014/main" id="{CF7ACB3B-C449-4CE3-AF72-293FA7CB6A15}"/>
              </a:ext>
            </a:extLst>
          </p:cNvPr>
          <p:cNvSpPr>
            <a:spLocks xmlns:a="http://schemas.openxmlformats.org/drawingml/2006/main" noGrp="1"/>
          </p:cNvSpPr>
          <p:nvPr/>
        </p:nvSpPr>
        <p:spPr>
          <a:xfrm xmlns:a="http://schemas.openxmlformats.org/drawingml/2006/main">
            <a:off x="5019675" y="3181350"/>
            <a:ext cx="6448425" cy="807415"/>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75" b="1">
                <a:solidFill>
                  <a:srgbClr val="587C95"/>
                </a:solidFill>
                <a:latin typeface="Noto Sans CJK SC"/>
                <a:ea typeface="Noto Sans CJK SC"/>
                <a:cs typeface="Noto Sans CJK SC"/>
              </a:defRPr>
            </a:defPPr>
          </a:lstStyle>
          <a:p xmlns:a="http://schemas.openxmlformats.org/drawingml/2006/main">
            <a:pPr algn="l">
              <a:lnSpc>
                <a:spcPct val="108000"/>
              </a:lnSpc>
              <a:buNone/>
              <a:defRPr sz="2175" b="1">
                <a:solidFill>
                  <a:srgbClr val="587C95"/>
                </a:solidFill>
                <a:latin typeface="Noto Sans CJK SC"/>
                <a:ea typeface="Noto Sans CJK SC"/>
                <a:cs typeface="Noto Sans CJK SC"/>
              </a:defRPr>
            </a:pPr>
            <a:r>
              <a:rPr sz="2175" b="1">
                <a:solidFill>
                  <a:srgbClr val="587C95"/>
                </a:solidFill>
                <a:latin typeface="Noto Sans CJK SC"/>
                <a:ea typeface="Noto Sans CJK SC"/>
                <a:cs typeface="Noto Sans CJK SC"/>
              </a:rPr>
              <a:t>把审计支出直接扣除，比较净利润。</a:t>
            </a:r>
            <a:endParaRPr sz="2800">
              <a:latin typeface="微软雅黑"/>
              <a:ea typeface="微软雅黑"/>
              <a:cs typeface="微软雅黑"/>
            </a:endParaRPr>
          </a:p>
          <a:p xmlns:a="http://schemas.openxmlformats.org/drawingml/2006/main">
            <a:pPr algn="l">
              <a:lnSpc>
                <a:spcPct val="108000"/>
              </a:lnSpc>
              <a:buNone/>
              <a:defRPr sz="2175" b="1">
                <a:solidFill>
                  <a:srgbClr val="587C95"/>
                </a:solidFill>
                <a:latin typeface="Noto Sans CJK SC"/>
                <a:ea typeface="Noto Sans CJK SC"/>
                <a:cs typeface="Noto Sans CJK SC"/>
              </a:defRPr>
            </a:pPr>
            <a:r>
              <a:rPr sz="2175" b="1">
                <a:solidFill>
                  <a:srgbClr val="587C95"/>
                </a:solidFill>
                <a:latin typeface="Noto Sans CJK SC"/>
                <a:ea typeface="Noto Sans CJK SC"/>
                <a:cs typeface="Noto Sans CJK SC"/>
              </a:rPr>
              <a:t>成本关系：B=cA²/2。</a:t>
            </a:r>
            <a:endParaRPr sz="2800">
              <a:latin typeface="微软雅黑"/>
              <a:ea typeface="微软雅黑"/>
              <a:cs typeface="微软雅黑"/>
            </a:endParaRPr>
          </a:p>
        </p:txBody>
      </p:sp>
      <p:pic>
        <p:nvPicPr>
          <p:cNvPr id="7" name="图片 6">
            <a:extLst xmlns:a="http://schemas.openxmlformats.org/drawingml/2006/main">
              <a:ext uri="{FF2B5EF4-FFF2-40B4-BE49-F238E27FC236}">
                <a16:creationId xmlns:a16="http://schemas.microsoft.com/office/drawing/2014/main" id="{4936960D-48EC-40A3-83FE-D11F8EAC4DA6}"/>
              </a:ext>
            </a:extLst>
          </p:cNvPr>
          <p:cNvPicPr>
            <a:picLocks xmlns:a="http://schemas.openxmlformats.org/drawingml/2006/main" noChangeAspect="1"/>
          </p:cNvPicPr>
          <p:nvPr/>
        </p:nvPicPr>
        <p:blipFill>
          <a:blip xmlns:r="http://schemas.openxmlformats.org/officeDocument/2006/relationships" xmlns:a="http://schemas.openxmlformats.org/drawingml/2006/main" r:embed="Rd3b417f54c9346fa"/>
          <a:stretch xmlns:a="http://schemas.openxmlformats.org/drawingml/2006/main">
            <a:fillRect l="0" t="0" r="0" b="0"/>
          </a:stretch>
        </p:blipFill>
        <p:spPr>
          <a:xfrm xmlns:a="http://schemas.openxmlformats.org/drawingml/2006/main">
            <a:off x="781050" y="1929120"/>
            <a:ext cx="3829050" cy="2085360"/>
          </a:xfrm>
          <a:prstGeom xmlns:a="http://schemas.openxmlformats.org/drawingml/2006/main" prst="rect">
            <a:avLst/>
          </a:prstGeom>
        </p:spPr>
      </p:pic>
      <p:pic>
        <p:nvPicPr>
          <p:cNvPr id="12" name="">
            <a:extLst xmlns:a="http://schemas.openxmlformats.org/drawingml/2006/main">
              <a:ext uri="{FF2B5EF4-FFF2-40B4-BE49-F238E27FC236}">
                <a16:creationId xmlns:a16="http://schemas.microsoft.com/office/drawing/2014/main" id="{A7ECB5CE-31F2-48D8-A5F0-B6761B9BFECB}"/>
              </a:ext>
            </a:extLst>
          </p:cNvPr>
          <p:cNvPicPr>
            <a:picLocks xmlns:a="http://schemas.openxmlformats.org/drawingml/2006/main" noChangeAspect="1"/>
          </p:cNvPicPr>
          <p:nvPr/>
        </p:nvPicPr>
        <p:blipFill>
          <a:blip xmlns:r="http://schemas.openxmlformats.org/officeDocument/2006/relationships" xmlns:a="http://schemas.openxmlformats.org/drawingml/2006/main" r:embed="R1f490ab68f2f4d2d"/>
          <a:stretch xmlns:a="http://schemas.openxmlformats.org/drawingml/2006/main"/>
        </p:blipFill>
        <p:spPr>
          <a:xfrm xmlns:a="http://schemas.openxmlformats.org/drawingml/2006/main">
            <a:off x="4962525" y="2187308"/>
            <a:ext cx="6524625" cy="559335"/>
          </a:xfrm>
          <a:prstGeom xmlns:a="http://schemas.openxmlformats.org/drawingml/2006/main" prst="rect">
            <a:avLst/>
          </a:prstGeom>
        </p:spPr>
      </p:pic>
      <p:graphicFrame>
        <p:nvGraphicFramePr>
          <p:cNvPr id="13" name="">
            <a:extLst xmlns:a="http://schemas.openxmlformats.org/drawingml/2006/main">
              <a:ext uri="{FF2B5EF4-FFF2-40B4-BE49-F238E27FC236}">
                <a16:creationId xmlns:a16="http://schemas.microsoft.com/office/drawing/2014/main" id="{5A696399-7EBB-4815-9D56-4CA937469392}"/>
              </a:ext>
            </a:extLst>
          </p:cNvPr>
          <p:cNvGraphicFramePr/>
          <p:nvPr/>
        </p:nvGraphicFramePr>
        <p:xfrm>
          <a:off xmlns:a="http://schemas.openxmlformats.org/drawingml/2006/main" x="609600" y="4086225"/>
          <a:ext xmlns:a="http://schemas.openxmlformats.org/drawingml/2006/main" cx="10972800" cy="2038350"/>
        </p:xfrm>
        <a:graphic xmlns:a="http://schemas.openxmlformats.org/drawingml/2006/main">
          <a:graphicData uri="http://schemas.openxmlformats.org/drawingml/2006/table">
            <a:tbl>
              <a:tblPr firstRow="1" bandRow="0"/>
              <a:tblGrid>
                <a:gridCol w="3238500"/>
                <a:gridCol w="3295650"/>
                <a:gridCol w="4438650"/>
              </a:tblGrid>
              <a:tr h="407670">
                <a:tc>
                  <a:txBody>
                    <a:bodyPr wrap="square">
                      <a:noAutofit/>
                    </a:bodyPr>
                    <a:lstStyle/>
                    <a:p>
                      <a:pPr algn="l">
                        <a:lnSpc>
                          <a:spcPct val="100000"/>
                        </a:lnSpc>
                        <a:buNone/>
                      </a:pPr>
                      <a:r>
                        <a:rPr sz="1800" b="1">
                          <a:solidFill>
                            <a:srgbClr val="587C95"/>
                          </a:solidFill>
                          <a:latin typeface="Noto Sans CJK SC"/>
                          <a:ea typeface="Noto Sans CJK SC"/>
                          <a:cs typeface="Noto Sans CJK SC"/>
                        </a:rPr>
                        <a:t>策略／治理分支</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边际收益 w</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候选准确度 A*</a:t>
                      </a:r>
                    </a:p>
                  </a:txBody>
                  <a:tcPr marL="95250" marR="95250" marT="66675" marB="66675" anchor="ctr">
                    <a:solidFill>
                      <a:srgbClr val="EDF2F5"/>
                    </a:solidFill>
                  </a:tcPr>
                </a:tc>
              </a:tr>
              <a:tr h="407670">
                <a:tc>
                  <a:txBody>
                    <a:bodyPr wrap="square">
                      <a:noAutofit/>
                    </a:bodyPr>
                    <a:lstStyle/>
                    <a:p>
                      <a:pPr algn="l">
                        <a:lnSpc>
                          <a:spcPct val="100000"/>
                        </a:lnSpc>
                        <a:buNone/>
                      </a:pPr>
                      <a:r>
                        <a:rPr sz="1800" b="0">
                          <a:solidFill>
                            <a:srgbClr val="111111"/>
                          </a:solidFill>
                          <a:latin typeface="Noto Sans CJK SC"/>
                          <a:ea typeface="Noto Sans CJK SC"/>
                          <a:cs typeface="Noto Sans CJK SC"/>
                        </a:rPr>
                        <a:t>N + 整改</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Dβ−Δr</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(Dβ−Δr)/c</a:t>
                      </a:r>
                    </a:p>
                  </a:txBody>
                  <a:tcPr marL="95250" marR="95250" marT="66675" marB="66675" anchor="ctr">
                    <a:solidFill>
                      <a:srgbClr val="FFFFFF"/>
                    </a:solidFill>
                  </a:tcPr>
                </a:tc>
              </a:tr>
              <a:tr h="407670">
                <a:tc>
                  <a:txBody>
                    <a:bodyPr wrap="square">
                      <a:noAutofit/>
                    </a:bodyPr>
                    <a:lstStyle/>
                    <a:p>
                      <a:pPr algn="l">
                        <a:lnSpc>
                          <a:spcPct val="100000"/>
                        </a:lnSpc>
                        <a:buNone/>
                      </a:pPr>
                      <a:r>
                        <a:rPr sz="1800" b="0">
                          <a:solidFill>
                            <a:srgbClr val="111111"/>
                          </a:solidFill>
                          <a:latin typeface="Noto Sans CJK SC"/>
                          <a:ea typeface="Noto Sans CJK SC"/>
                          <a:cs typeface="Noto Sans CJK SC"/>
                        </a:rPr>
                        <a:t>C + 整改</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Δr</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Δr/c</a:t>
                      </a:r>
                    </a:p>
                  </a:txBody>
                  <a:tcPr marL="95250" marR="95250" marT="66675" marB="66675" anchor="ctr">
                    <a:solidFill>
                      <a:srgbClr val="FFFFFF"/>
                    </a:solidFill>
                  </a:tcPr>
                </a:tc>
              </a:tr>
              <a:tr h="407670">
                <a:tc>
                  <a:txBody>
                    <a:bodyPr wrap="square">
                      <a:noAutofit/>
                    </a:bodyPr>
                    <a:lstStyle/>
                    <a:p>
                      <a:pPr algn="l">
                        <a:lnSpc>
                          <a:spcPct val="100000"/>
                        </a:lnSpc>
                        <a:buNone/>
                      </a:pPr>
                      <a:r>
                        <a:rPr sz="1800" b="0">
                          <a:solidFill>
                            <a:srgbClr val="111111"/>
                          </a:solidFill>
                          <a:latin typeface="Noto Sans CJK SC"/>
                          <a:ea typeface="Noto Sans CJK SC"/>
                          <a:cs typeface="Noto Sans CJK SC"/>
                        </a:rPr>
                        <a:t>N + 替换</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Dβ−Δs</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(Dβ−Δs)/c</a:t>
                      </a:r>
                    </a:p>
                  </a:txBody>
                  <a:tcPr marL="95250" marR="95250" marT="66675" marB="66675" anchor="ctr">
                    <a:solidFill>
                      <a:srgbClr val="FFFFFF"/>
                    </a:solidFill>
                  </a:tcPr>
                </a:tc>
              </a:tr>
              <a:tr h="407670">
                <a:tc>
                  <a:txBody>
                    <a:bodyPr wrap="square">
                      <a:noAutofit/>
                    </a:bodyPr>
                    <a:lstStyle/>
                    <a:p>
                      <a:pPr algn="l">
                        <a:lnSpc>
                          <a:spcPct val="100000"/>
                        </a:lnSpc>
                        <a:buNone/>
                      </a:pPr>
                      <a:r>
                        <a:rPr sz="1800" b="0">
                          <a:solidFill>
                            <a:srgbClr val="111111"/>
                          </a:solidFill>
                          <a:latin typeface="Noto Sans CJK SC"/>
                          <a:ea typeface="Noto Sans CJK SC"/>
                          <a:cs typeface="Noto Sans CJK SC"/>
                        </a:rPr>
                        <a:t>C + 替换</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Dα+Δs</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(Dα+Δs)/c</a:t>
                      </a:r>
                    </a:p>
                  </a:txBody>
                  <a:tcPr marL="95250" marR="95250" marT="66675" marB="66675" anchor="ctr">
                    <a:solidFill>
                      <a:srgbClr val="FFFFFF"/>
                    </a:solidFill>
                  </a:tcPr>
                </a:tc>
              </a:tr>
            </a:tbl>
          </a:graphicData>
        </a:graphic>
      </p:graphicFrame>
      <p:sp>
        <p:nvSpPr>
          <p:cNvPr id="14" name="解释-2">
            <a:extLst xmlns:a="http://schemas.openxmlformats.org/drawingml/2006/main">
              <a:ext uri="{FF2B5EF4-FFF2-40B4-BE49-F238E27FC236}">
                <a16:creationId xmlns:a16="http://schemas.microsoft.com/office/drawing/2014/main" id="{4B5D13AE-3AAD-4AAC-83D9-C91B78102584}"/>
              </a:ext>
            </a:extLst>
          </p:cNvPr>
          <p:cNvSpPr>
            <a:spLocks xmlns:a="http://schemas.openxmlformats.org/drawingml/2006/main" noGrp="1"/>
          </p:cNvSpPr>
          <p:nvPr/>
        </p:nvSpPr>
        <p:spPr>
          <a:xfrm xmlns:a="http://schemas.openxmlformats.org/drawingml/2006/main">
            <a:off x="609600" y="622935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725" b="0">
                <a:solidFill>
                  <a:srgbClr val="111111"/>
                </a:solidFill>
                <a:latin typeface="Noto Sans CJK SC"/>
                <a:ea typeface="Noto Sans CJK SC"/>
                <a:cs typeface="Noto Sans CJK SC"/>
              </a:defRPr>
            </a:defPPr>
          </a:lstStyle>
          <a:p xmlns:a="http://schemas.openxmlformats.org/drawingml/2006/main">
            <a:pPr algn="l">
              <a:lnSpc>
                <a:spcPct val="108000"/>
              </a:lnSpc>
              <a:buNone/>
              <a:defRPr sz="1725" b="0">
                <a:solidFill>
                  <a:srgbClr val="111111"/>
                </a:solidFill>
                <a:latin typeface="Noto Sans CJK SC"/>
                <a:ea typeface="Noto Sans CJK SC"/>
                <a:cs typeface="Noto Sans CJK SC"/>
              </a:defRPr>
            </a:pPr>
            <a:r>
              <a:rPr sz="1725" b="0">
                <a:solidFill>
                  <a:srgbClr val="111111"/>
                </a:solidFill>
                <a:latin typeface="Noto Sans CJK SC"/>
                <a:ea typeface="Noto Sans CJK SC"/>
                <a:cs typeface="Noto Sans CJK SC"/>
              </a:rPr>
              <a:t>候选还须满足分支条件和 e&lt;A*≤1，并与 A=1 及不审计方案比较。</a:t>
            </a:r>
          </a:p>
        </p:txBody>
      </p:sp>
      <p:sp>
        <p:nvSpPr>
          <p:cNvPr id="15" name="解释-3">
            <a:extLst xmlns:a="http://schemas.openxmlformats.org/drawingml/2006/main">
              <a:ext uri="{FF2B5EF4-FFF2-40B4-BE49-F238E27FC236}">
                <a16:creationId xmlns:a16="http://schemas.microsoft.com/office/drawing/2014/main" id="{1EF421A7-1A33-44B5-A370-34B0F7A1CD7A}"/>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§6.2，p. 17，Eqs. (18)–(21)，Proposition 10</a:t>
            </a:r>
          </a:p>
        </p:txBody>
      </p:sp>
      <p:sp>
        <p:nvSpPr>
          <p:cNvPr id="16" name="解释-4">
            <a:extLst xmlns:a="http://schemas.openxmlformats.org/drawingml/2006/main">
              <a:ext uri="{FF2B5EF4-FFF2-40B4-BE49-F238E27FC236}">
                <a16:creationId xmlns:a16="http://schemas.microsoft.com/office/drawing/2014/main" id="{2465FBEF-BAF2-4856-B334-29D1E8D50DFA}"/>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31</a:t>
            </a:r>
          </a:p>
        </p:txBody>
      </p:sp>
    </p:spTree>
    <p:extLst>
      <p:ext uri="{BB962C8B-B14F-4D97-AF65-F5344CB8AC3E}">
        <p14:creationId xmlns:p14="http://schemas.microsoft.com/office/powerpoint/2010/main" val="1860606611"/>
      </p:ext>
    </p:extLst>
  </p:cSld>
</p:sld>
</file>

<file path=ppt/slides/slide32.xml><?xml version="1.0" encoding="utf-8"?>
<p:sld xmlns:p="http://schemas.openxmlformats.org/presentationml/2006/main">
  <p:cSld>
    <p:spTree>
      <p:nvGrpSpPr>
        <p:cNvPr id="1" name=""/>
        <p:cNvGrpSpPr/>
        <p:nvPr/>
      </p:nvGrpSpPr>
      <p:grpSpPr>
        <a:xfrm xmlns:a="http://schemas.openxmlformats.org/drawingml/2006/main"/>
      </p:grpSpPr>
      <p:sp>
        <p:nvSpPr>
          <p:cNvPr id="2" name="文本框 1">
            <a:extLst xmlns:a="http://schemas.openxmlformats.org/drawingml/2006/main">
              <a:ext uri="{FF2B5EF4-FFF2-40B4-BE49-F238E27FC236}">
                <a16:creationId xmlns:a16="http://schemas.microsoft.com/office/drawing/2014/main" id="{B3B97853-59C1-4793-B4FB-F3EB1BC7C921}"/>
              </a:ext>
            </a:extLst>
          </p:cNvPr>
          <p:cNvSpPr>
            <a:spLocks xmlns:a="http://schemas.openxmlformats.org/drawingml/2006/main" noGrp="1"/>
          </p:cNvSpPr>
          <p:nvPr/>
        </p:nvSpPr>
        <p:spPr>
          <a:xfrm xmlns:a="http://schemas.openxmlformats.org/drawingml/2006/main">
            <a:off x="1657350" y="695325"/>
            <a:ext cx="10096500" cy="572872"/>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marL="0" marR="0" algn="l">
              <a:lnSpc>
                <a:spcPct val="108000"/>
              </a:lnSpc>
              <a:spcBef>
                <a:spcPts val="100"/>
              </a:spcBef>
              <a:buClrTx/>
              <a:buSzTx/>
              <a:buFontTx/>
              <a:buNone/>
              <a:defRPr sz="2925" b="1">
                <a:solidFill>
                  <a:srgbClr val="111111"/>
                </a:solidFill>
                <a:latin typeface="Noto Sans CJK SC"/>
                <a:ea typeface="Noto Sans CJK SC"/>
                <a:cs typeface="Noto Sans CJK SC"/>
              </a:defRPr>
            </a:pPr>
            <a:r>
              <a:rPr sz="2925" b="1" i="0" u="none" strike="noStrike" cap="none" spc="75" baseline="0">
                <a:solidFill>
                  <a:srgbClr val="111111"/>
                </a:solidFill>
                <a:latin typeface="Noto Sans CJK SC"/>
                <a:ea typeface="Noto Sans CJK SC"/>
                <a:cs typeface="Noto Sans CJK SC"/>
              </a:rPr>
              <a:t>七、结论与未来展望</a:t>
            </a:r>
            <a:endParaRPr sz="3000" b="1" i="0" u="none" strike="noStrike" kern="0" cap="none" spc="75" baseline="0">
              <a:latin typeface="微软雅黑"/>
              <a:ea typeface="微软雅黑"/>
              <a:cs typeface="微软雅黑"/>
            </a:endParaRPr>
          </a:p>
        </p:txBody>
      </p:sp>
      <p:sp>
        <p:nvSpPr>
          <p:cNvPr id="3" name="文本框 2">
            <a:extLst xmlns:a="http://schemas.openxmlformats.org/drawingml/2006/main">
              <a:ext uri="{FF2B5EF4-FFF2-40B4-BE49-F238E27FC236}">
                <a16:creationId xmlns:a16="http://schemas.microsoft.com/office/drawing/2014/main" id="{AA0A4BFE-0313-44F5-8676-42B00939CE49}"/>
              </a:ext>
            </a:extLst>
          </p:cNvPr>
          <p:cNvSpPr>
            <a:spLocks xmlns:a="http://schemas.openxmlformats.org/drawingml/2006/main" noGrp="1"/>
          </p:cNvSpPr>
          <p:nvPr/>
        </p:nvSpPr>
        <p:spPr>
          <a:xfrm xmlns:a="http://schemas.openxmlformats.org/drawingml/2006/main">
            <a:off x="609600" y="1971675"/>
            <a:ext cx="10972800" cy="685800"/>
          </a:xfrm>
          <a:prstGeom xmlns:a="http://schemas.openxmlformats.org/drawingml/2006/main" prst="rect">
            <a:avLst/>
          </a:prstGeom>
          <a:noFill xmlns:a="http://schemas.openxmlformats.org/drawingml/2006/main"/>
        </p:spPr>
        <p:txBody>
          <a:bodyPr xmlns:a="http://schemas.openxmlformats.org/drawingml/2006/main" wrap="square" lIns="9525" tIns="9525" rIns="9525" bIns="9525" anchor="t">
            <a:noAutofit/>
          </a:bodyPr>
          <a:lstStyle xmlns:a="http://schemas.openxmlformats.org/drawingml/2006/main">
            <a:defPPr algn="l">
              <a:defRPr sz="2175" b="1">
                <a:solidFill>
                  <a:srgbClr val="111111"/>
                </a:solidFill>
                <a:latin typeface="Noto Sans CJK SC"/>
                <a:ea typeface="Noto Sans CJK SC"/>
                <a:cs typeface="Noto Sans CJK SC"/>
              </a:defRPr>
            </a:defPPr>
          </a:lstStyle>
          <a:p xmlns:a="http://schemas.openxmlformats.org/drawingml/2006/main">
            <a:pPr marL="0" indent="0" algn="l">
              <a:lnSpc>
                <a:spcPct val="108000"/>
              </a:lnSpc>
              <a:buNone/>
              <a:defRPr sz="2175" b="1">
                <a:solidFill>
                  <a:srgbClr val="111111"/>
                </a:solidFill>
                <a:latin typeface="Noto Sans CJK SC"/>
                <a:ea typeface="Noto Sans CJK SC"/>
                <a:cs typeface="Noto Sans CJK SC"/>
              </a:defRPr>
            </a:pPr>
            <a:r>
              <a:rPr sz="2175" b="1">
                <a:solidFill>
                  <a:srgbClr val="111111"/>
                </a:solidFill>
                <a:latin typeface="Noto Sans CJK SC"/>
                <a:ea typeface="Noto Sans CJK SC"/>
                <a:cs typeface="Noto Sans CJK SC"/>
              </a:rPr>
              <a:t>两类错误要联合管理：错误政策必须与整改、替换一起判断。</a:t>
            </a:r>
            <a:endParaRPr sz="2000">
              <a:latin typeface="微软雅黑"/>
              <a:ea typeface="微软雅黑"/>
              <a:cs typeface="微软雅黑"/>
            </a:endParaRPr>
          </a:p>
        </p:txBody>
      </p:sp>
      <p:sp>
        <p:nvSpPr>
          <p:cNvPr id="4" name="解释-2">
            <a:extLst xmlns:a="http://schemas.openxmlformats.org/drawingml/2006/main">
              <a:ext uri="{FF2B5EF4-FFF2-40B4-BE49-F238E27FC236}">
                <a16:creationId xmlns:a16="http://schemas.microsoft.com/office/drawing/2014/main" id="{EBEED138-FE2A-4C0C-BBC8-9418D2B83AF1}"/>
              </a:ext>
            </a:extLst>
          </p:cNvPr>
          <p:cNvSpPr>
            <a:spLocks xmlns:a="http://schemas.openxmlformats.org/drawingml/2006/main" noGrp="1"/>
          </p:cNvSpPr>
          <p:nvPr/>
        </p:nvSpPr>
        <p:spPr>
          <a:xfrm xmlns:a="http://schemas.openxmlformats.org/drawingml/2006/main">
            <a:off x="609600" y="2952750"/>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对称网络也可能不均分预算，更多预算也可能暂时缩小审计范围。</a:t>
            </a:r>
          </a:p>
        </p:txBody>
      </p:sp>
      <p:sp>
        <p:nvSpPr>
          <p:cNvPr id="5" name="解释-3">
            <a:extLst xmlns:a="http://schemas.openxmlformats.org/drawingml/2006/main">
              <a:ext uri="{FF2B5EF4-FFF2-40B4-BE49-F238E27FC236}">
                <a16:creationId xmlns:a16="http://schemas.microsoft.com/office/drawing/2014/main" id="{661CBB93-21C9-44F3-AF90-CA9E9F5BB4FE}"/>
              </a:ext>
            </a:extLst>
          </p:cNvPr>
          <p:cNvSpPr>
            <a:spLocks xmlns:a="http://schemas.openxmlformats.org/drawingml/2006/main" noGrp="1"/>
          </p:cNvSpPr>
          <p:nvPr/>
        </p:nvSpPr>
        <p:spPr>
          <a:xfrm xmlns:a="http://schemas.openxmlformats.org/drawingml/2006/main">
            <a:off x="609600" y="395287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100" b="0">
                <a:solidFill>
                  <a:srgbClr val="111111"/>
                </a:solidFill>
                <a:latin typeface="Noto Sans CJK SC"/>
                <a:ea typeface="Noto Sans CJK SC"/>
                <a:cs typeface="Noto Sans CJK SC"/>
              </a:defRPr>
            </a:pPr>
            <a:r>
              <a:rPr sz="2100" b="0">
                <a:solidFill>
                  <a:srgbClr val="111111"/>
                </a:solidFill>
                <a:latin typeface="Noto Sans CJK SC"/>
                <a:ea typeface="Noto Sans CJK SC"/>
                <a:cs typeface="Noto Sans CJK SC"/>
              </a:rPr>
              <a:t>企业收益改善与社会筛查改善可能分离，政策切换时风险可上升。</a:t>
            </a:r>
          </a:p>
        </p:txBody>
      </p:sp>
      <p:sp>
        <p:nvSpPr>
          <p:cNvPr id="6" name="解释-4">
            <a:extLst xmlns:a="http://schemas.openxmlformats.org/drawingml/2006/main">
              <a:ext uri="{FF2B5EF4-FFF2-40B4-BE49-F238E27FC236}">
                <a16:creationId xmlns:a16="http://schemas.microsoft.com/office/drawing/2014/main" id="{563B4687-A317-4EC2-BE37-A8F72225255E}"/>
              </a:ext>
            </a:extLst>
          </p:cNvPr>
          <p:cNvSpPr>
            <a:spLocks xmlns:a="http://schemas.openxmlformats.org/drawingml/2006/main" noGrp="1"/>
          </p:cNvSpPr>
          <p:nvPr/>
        </p:nvSpPr>
        <p:spPr>
          <a:xfrm xmlns:a="http://schemas.openxmlformats.org/drawingml/2006/main">
            <a:off x="609600" y="5210175"/>
            <a:ext cx="109728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未来方向：竞争买方共享供应商、多层网络、动态审计与采购。</a:t>
            </a:r>
          </a:p>
        </p:txBody>
      </p:sp>
      <p:sp>
        <p:nvSpPr>
          <p:cNvPr id="7" name="解释-5">
            <a:extLst xmlns:a="http://schemas.openxmlformats.org/drawingml/2006/main">
              <a:ext uri="{FF2B5EF4-FFF2-40B4-BE49-F238E27FC236}">
                <a16:creationId xmlns:a16="http://schemas.microsoft.com/office/drawing/2014/main" id="{99363581-0685-4354-9025-14ED5D467FB8}"/>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§7，pp. 17–18</a:t>
            </a:r>
          </a:p>
        </p:txBody>
      </p:sp>
      <p:sp>
        <p:nvSpPr>
          <p:cNvPr id="8" name="解释-6">
            <a:extLst xmlns:a="http://schemas.openxmlformats.org/drawingml/2006/main">
              <a:ext uri="{FF2B5EF4-FFF2-40B4-BE49-F238E27FC236}">
                <a16:creationId xmlns:a16="http://schemas.microsoft.com/office/drawing/2014/main" id="{93EDC8C5-EFBD-4A95-B523-5F49ACAF9CF9}"/>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32</a:t>
            </a:r>
          </a:p>
        </p:txBody>
      </p:sp>
    </p:spTree>
    <p:extLst>
      <p:ext uri="{BB962C8B-B14F-4D97-AF65-F5344CB8AC3E}">
        <p14:creationId xmlns:p14="http://schemas.microsoft.com/office/powerpoint/2010/main" val="655747383"/>
      </p:ext>
    </p:extLst>
  </p:cSld>
</p:sld>
</file>

<file path=ppt/slides/slide33.xml><?xml version="1.0" encoding="utf-8"?>
<p:sld xmlns:p="http://schemas.openxmlformats.org/presentationml/2006/main">
  <p:cSld>
    <p:spTree>
      <p:nvGrpSpPr>
        <p:cNvPr id="1" name=""/>
        <p:cNvGrpSpPr/>
        <p:nvPr/>
      </p:nvGrpSpPr>
      <p:grpSpPr>
        <a:xfrm xmlns:a="http://schemas.openxmlformats.org/drawingml/2006/main"/>
      </p:grpSpPr>
      <p:sp>
        <p:nvSpPr>
          <p:cNvPr id="8" name="解释-0">
            <a:extLst xmlns:a="http://schemas.openxmlformats.org/drawingml/2006/main">
              <a:ext uri="{FF2B5EF4-FFF2-40B4-BE49-F238E27FC236}">
                <a16:creationId xmlns:a16="http://schemas.microsoft.com/office/drawing/2014/main" id="{517388EA-AD39-4CDE-A166-6CF811C7A295}"/>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七、讨论：模型适用条件</a:t>
            </a:r>
          </a:p>
        </p:txBody>
      </p:sp>
      <p:sp>
        <p:nvSpPr>
          <p:cNvPr id="2" name="解释-1">
            <a:extLst xmlns:a="http://schemas.openxmlformats.org/drawingml/2006/main">
              <a:ext uri="{FF2B5EF4-FFF2-40B4-BE49-F238E27FC236}">
                <a16:creationId xmlns:a16="http://schemas.microsoft.com/office/drawing/2014/main" id="{EAD02315-5FC0-4428-A5F6-54973DEAFC5B}"/>
              </a:ext>
            </a:extLst>
          </p:cNvPr>
          <p:cNvSpPr>
            <a:spLocks xmlns:a="http://schemas.openxmlformats.org/drawingml/2006/main" noGrp="1"/>
          </p:cNvSpPr>
          <p:nvPr/>
        </p:nvSpPr>
        <p:spPr>
          <a:xfrm xmlns:a="http://schemas.openxmlformats.org/drawingml/2006/main">
            <a:off x="609600" y="1952625"/>
            <a:ext cx="109728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75" b="0">
                <a:solidFill>
                  <a:srgbClr val="111111"/>
                </a:solidFill>
                <a:latin typeface="Noto Sans CJK SC"/>
                <a:ea typeface="Noto Sans CJK SC"/>
                <a:cs typeface="Noto Sans CJK SC"/>
              </a:defRPr>
            </a:defPPr>
          </a:lstStyle>
          <a:p xmlns:a="http://schemas.openxmlformats.org/drawingml/2006/main">
            <a:pPr algn="l">
              <a:lnSpc>
                <a:spcPct val="108000"/>
              </a:lnSpc>
              <a:buNone/>
              <a:defRPr sz="2175" b="0">
                <a:solidFill>
                  <a:srgbClr val="111111"/>
                </a:solidFill>
                <a:latin typeface="Noto Sans CJK SC"/>
                <a:ea typeface="Noto Sans CJK SC"/>
                <a:cs typeface="Noto Sans CJK SC"/>
              </a:defRPr>
            </a:pPr>
            <a:r>
              <a:rPr sz="2175" b="0">
                <a:solidFill>
                  <a:srgbClr val="111111"/>
                </a:solidFill>
                <a:latin typeface="Noto Sans CJK SC"/>
                <a:ea typeface="Noto Sans CJK SC"/>
                <a:cs typeface="Noto Sans CJK SC"/>
              </a:rPr>
              <a:t>误差可行集合：固定准确度时，现实审计能否达到两个端点？</a:t>
            </a:r>
          </a:p>
        </p:txBody>
      </p:sp>
      <p:sp>
        <p:nvSpPr>
          <p:cNvPr id="3" name="解释-2">
            <a:extLst xmlns:a="http://schemas.openxmlformats.org/drawingml/2006/main">
              <a:ext uri="{FF2B5EF4-FFF2-40B4-BE49-F238E27FC236}">
                <a16:creationId xmlns:a16="http://schemas.microsoft.com/office/drawing/2014/main" id="{C888E451-80CA-4CB5-9857-BE47B5CE3886}"/>
              </a:ext>
            </a:extLst>
          </p:cNvPr>
          <p:cNvSpPr>
            <a:spLocks xmlns:a="http://schemas.openxmlformats.org/drawingml/2006/main" noGrp="1"/>
          </p:cNvSpPr>
          <p:nvPr/>
        </p:nvSpPr>
        <p:spPr>
          <a:xfrm xmlns:a="http://schemas.openxmlformats.org/drawingml/2006/main">
            <a:off x="609600" y="3181350"/>
            <a:ext cx="109728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75" b="0">
                <a:solidFill>
                  <a:srgbClr val="111111"/>
                </a:solidFill>
                <a:latin typeface="Noto Sans CJK SC"/>
                <a:ea typeface="Noto Sans CJK SC"/>
                <a:cs typeface="Noto Sans CJK SC"/>
              </a:defRPr>
            </a:defPPr>
          </a:lstStyle>
          <a:p xmlns:a="http://schemas.openxmlformats.org/drawingml/2006/main">
            <a:pPr algn="l">
              <a:lnSpc>
                <a:spcPct val="108000"/>
              </a:lnSpc>
              <a:buNone/>
              <a:defRPr sz="2175" b="0">
                <a:solidFill>
                  <a:srgbClr val="111111"/>
                </a:solidFill>
                <a:latin typeface="Noto Sans CJK SC"/>
                <a:ea typeface="Noto Sans CJK SC"/>
                <a:cs typeface="Noto Sans CJK SC"/>
              </a:defRPr>
            </a:pPr>
            <a:r>
              <a:rPr sz="2175" b="0">
                <a:solidFill>
                  <a:srgbClr val="111111"/>
                </a:solidFill>
                <a:latin typeface="Noto Sans CJK SC"/>
                <a:ea typeface="Noto Sans CJK SC"/>
                <a:cs typeface="Noto Sans CJK SC"/>
              </a:rPr>
              <a:t>治理效果：如果整改可能失败，或替换需要时间，结论如何变化？</a:t>
            </a:r>
          </a:p>
        </p:txBody>
      </p:sp>
      <p:sp>
        <p:nvSpPr>
          <p:cNvPr id="4" name="解释-3">
            <a:extLst xmlns:a="http://schemas.openxmlformats.org/drawingml/2006/main">
              <a:ext uri="{FF2B5EF4-FFF2-40B4-BE49-F238E27FC236}">
                <a16:creationId xmlns:a16="http://schemas.microsoft.com/office/drawing/2014/main" id="{D3985EA3-D26F-44E4-8E10-DAE2E62157D1}"/>
              </a:ext>
            </a:extLst>
          </p:cNvPr>
          <p:cNvSpPr>
            <a:spLocks xmlns:a="http://schemas.openxmlformats.org/drawingml/2006/main" noGrp="1"/>
          </p:cNvSpPr>
          <p:nvPr/>
        </p:nvSpPr>
        <p:spPr>
          <a:xfrm xmlns:a="http://schemas.openxmlformats.org/drawingml/2006/main">
            <a:off x="609600" y="4429125"/>
            <a:ext cx="109728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175" b="0">
                <a:solidFill>
                  <a:srgbClr val="111111"/>
                </a:solidFill>
                <a:latin typeface="Noto Sans CJK SC"/>
                <a:ea typeface="Noto Sans CJK SC"/>
                <a:cs typeface="Noto Sans CJK SC"/>
              </a:defRPr>
            </a:defPPr>
          </a:lstStyle>
          <a:p xmlns:a="http://schemas.openxmlformats.org/drawingml/2006/main">
            <a:pPr algn="l">
              <a:lnSpc>
                <a:spcPct val="108000"/>
              </a:lnSpc>
              <a:buNone/>
              <a:defRPr sz="2175" b="0">
                <a:solidFill>
                  <a:srgbClr val="111111"/>
                </a:solidFill>
                <a:latin typeface="Noto Sans CJK SC"/>
                <a:ea typeface="Noto Sans CJK SC"/>
                <a:cs typeface="Noto Sans CJK SC"/>
              </a:defRPr>
            </a:pPr>
            <a:r>
              <a:rPr sz="2175" b="0">
                <a:solidFill>
                  <a:srgbClr val="111111"/>
                </a:solidFill>
                <a:latin typeface="Noto Sans CJK SC"/>
                <a:ea typeface="Noto Sans CJK SC"/>
                <a:cs typeface="Noto Sans CJK SC"/>
              </a:rPr>
              <a:t>网络风险：若两家违规高度相关，最终产品风险应如何合并？</a:t>
            </a:r>
          </a:p>
        </p:txBody>
      </p:sp>
      <p:sp>
        <p:nvSpPr>
          <p:cNvPr id="5" name="解释-4">
            <a:extLst xmlns:a="http://schemas.openxmlformats.org/drawingml/2006/main">
              <a:ext uri="{FF2B5EF4-FFF2-40B4-BE49-F238E27FC236}">
                <a16:creationId xmlns:a16="http://schemas.microsoft.com/office/drawing/2014/main" id="{0F7F3C8C-637A-412F-B87D-2BB0B4600E19}"/>
              </a:ext>
            </a:extLst>
          </p:cNvPr>
          <p:cNvSpPr>
            <a:spLocks xmlns:a="http://schemas.openxmlformats.org/drawingml/2006/main" noGrp="1"/>
          </p:cNvSpPr>
          <p:nvPr/>
        </p:nvSpPr>
        <p:spPr>
          <a:xfrm xmlns:a="http://schemas.openxmlformats.org/drawingml/2006/main">
            <a:off x="609600" y="5724525"/>
            <a:ext cx="10972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1">
                <a:solidFill>
                  <a:srgbClr val="587C95"/>
                </a:solidFill>
                <a:latin typeface="Noto Sans CJK SC"/>
                <a:ea typeface="Noto Sans CJK SC"/>
                <a:cs typeface="Noto Sans CJK SC"/>
              </a:defRPr>
            </a:defPPr>
          </a:lstStyle>
          <a:p xmlns:a="http://schemas.openxmlformats.org/drawingml/2006/main">
            <a:pPr algn="l">
              <a:lnSpc>
                <a:spcPct val="108000"/>
              </a:lnSpc>
              <a:buNone/>
              <a:defRPr sz="2025" b="1">
                <a:solidFill>
                  <a:srgbClr val="587C95"/>
                </a:solidFill>
                <a:latin typeface="Noto Sans CJK SC"/>
                <a:ea typeface="Noto Sans CJK SC"/>
                <a:cs typeface="Noto Sans CJK SC"/>
              </a:defRPr>
            </a:pPr>
            <a:r>
              <a:rPr sz="2025" b="1">
                <a:solidFill>
                  <a:srgbClr val="587C95"/>
                </a:solidFill>
                <a:latin typeface="Noto Sans CJK SC"/>
                <a:ea typeface="Noto Sans CJK SC"/>
                <a:cs typeface="Noto Sans CJK SC"/>
              </a:rPr>
              <a:t>研究延伸：用真实审计数据估计误报、漏报与纠正措施的成本。</a:t>
            </a:r>
          </a:p>
        </p:txBody>
      </p:sp>
      <p:sp>
        <p:nvSpPr>
          <p:cNvPr id="6" name="解释-5">
            <a:extLst xmlns:a="http://schemas.openxmlformats.org/drawingml/2006/main">
              <a:ext uri="{FF2B5EF4-FFF2-40B4-BE49-F238E27FC236}">
                <a16:creationId xmlns:a16="http://schemas.microsoft.com/office/drawing/2014/main" id="{03D51BFD-BB37-4842-97AB-7476C9B246DB}"/>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 模型假设；本页问题为汇报讨论</a:t>
            </a:r>
          </a:p>
        </p:txBody>
      </p:sp>
      <p:sp>
        <p:nvSpPr>
          <p:cNvPr id="7" name="解释-6">
            <a:extLst xmlns:a="http://schemas.openxmlformats.org/drawingml/2006/main">
              <a:ext uri="{FF2B5EF4-FFF2-40B4-BE49-F238E27FC236}">
                <a16:creationId xmlns:a16="http://schemas.microsoft.com/office/drawing/2014/main" id="{A4649AF3-E253-4E46-B292-DE151885CDA4}"/>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33</a:t>
            </a:r>
          </a:p>
        </p:txBody>
      </p:sp>
    </p:spTree>
    <p:extLst>
      <p:ext uri="{BB962C8B-B14F-4D97-AF65-F5344CB8AC3E}">
        <p14:creationId xmlns:p14="http://schemas.microsoft.com/office/powerpoint/2010/main" val="1074352320"/>
      </p:ext>
    </p:extLst>
  </p:cSld>
</p:sld>
</file>

<file path=ppt/slides/slide34.xml><?xml version="1.0" encoding="utf-8"?>
<p:sld xmlns:p="http://schemas.openxmlformats.org/presentationml/2006/main">
  <p:cSld>
    <p:spTree>
      <p:nvGrpSpPr>
        <p:cNvPr id="1" name=""/>
        <p:cNvGrpSpPr/>
        <p:nvPr/>
      </p:nvGrpSpPr>
      <p:grpSpPr>
        <a:xfrm xmlns:a="http://schemas.openxmlformats.org/drawingml/2006/main"/>
      </p:grpSpPr>
      <p:sp>
        <p:nvSpPr>
          <p:cNvPr id="2" name="object 2">
            <a:extLst xmlns:a="http://schemas.openxmlformats.org/drawingml/2006/main">
              <a:ext uri="{FF2B5EF4-FFF2-40B4-BE49-F238E27FC236}">
                <a16:creationId xmlns:a16="http://schemas.microsoft.com/office/drawing/2014/main" id="{2A69FC78-FC9F-4E5F-8117-B1E2C6DA3FE2}"/>
              </a:ext>
            </a:extLst>
          </p:cNvPr>
          <p:cNvSpPr>
            <a:spLocks xmlns:a="http://schemas.openxmlformats.org/drawingml/2006/main" noGrp="1"/>
          </p:cNvSpPr>
          <p:nvPr>
            <p:ph type="title" idx="0"/>
          </p:nvPr>
        </p:nvSpPr>
        <p:spPr>
          <a:xfrm xmlns:a="http://schemas.openxmlformats.org/drawingml/2006/main">
            <a:off x="2819400" y="2438400"/>
            <a:ext cx="6553200" cy="2070100"/>
          </a:xfrm>
          <a:prstGeom xmlns:a="http://schemas.openxmlformats.org/drawingml/2006/main" prst="rect">
            <a:avLst/>
          </a:prstGeom>
        </p:spPr>
        <p:txBody>
          <a:bodyPr xmlns:a="http://schemas.openxmlformats.org/drawingml/2006/main" vert="horz" wrap="square" lIns="0" tIns="12700" rIns="0" bIns="0" anchor="ctr">
            <a:spAutoFit/>
          </a:bodyPr>
          <a:lstStyle xmlns:a="http://schemas.openxmlformats.org/drawingml/2006/main">
            <a:defPPr algn="ctr">
              <a:defRPr sz="4500" b="1">
                <a:solidFill>
                  <a:srgbClr val="111111"/>
                </a:solidFill>
                <a:latin typeface="Noto Sans CJK SC"/>
                <a:ea typeface="Noto Sans CJK SC"/>
                <a:cs typeface="Noto Sans CJK SC"/>
              </a:defRPr>
            </a:defPPr>
          </a:lstStyle>
          <a:p xmlns:a="http://schemas.openxmlformats.org/drawingml/2006/main">
            <a:pPr marL="12700" algn="ctr">
              <a:lnSpc>
                <a:spcPct val="100000"/>
              </a:lnSpc>
              <a:spcBef>
                <a:spcPts val="100"/>
              </a:spcBef>
              <a:buNone/>
              <a:defRPr sz="4500" b="1">
                <a:solidFill>
                  <a:srgbClr val="111111"/>
                </a:solidFill>
                <a:latin typeface="Noto Sans CJK SC"/>
                <a:ea typeface="Noto Sans CJK SC"/>
                <a:cs typeface="Noto Sans CJK SC"/>
              </a:defRPr>
            </a:pPr>
            <a:r>
              <a:rPr sz="4500" b="1">
                <a:solidFill>
                  <a:srgbClr val="111111"/>
                </a:solidFill>
                <a:latin typeface="Noto Sans CJK SC"/>
                <a:ea typeface="Noto Sans CJK SC"/>
                <a:cs typeface="Noto Sans CJK SC"/>
              </a:rPr>
              <a:t>感谢聆听</a:t>
            </a:r>
            <a:br>
              <a:rPr sz="4500" b="1" spc="75">
                <a:solidFill>
                  <a:srgbClr val="111111"/>
                </a:solidFill>
                <a:latin typeface="Noto Sans CJK SC"/>
                <a:ea typeface="Noto Sans CJK SC"/>
                <a:cs typeface="Noto Sans CJK SC"/>
              </a:rPr>
            </a:br>
            <a:br>
              <a:rPr sz="4500" b="1" spc="75">
                <a:solidFill>
                  <a:srgbClr val="111111"/>
                </a:solidFill>
                <a:latin typeface="Noto Sans CJK SC"/>
                <a:ea typeface="Noto Sans CJK SC"/>
                <a:cs typeface="Noto Sans CJK SC"/>
              </a:rPr>
            </a:br>
            <a:r>
              <a:rPr sz="4500" b="1">
                <a:solidFill>
                  <a:srgbClr val="111111"/>
                </a:solidFill>
                <a:latin typeface="Noto Sans CJK SC"/>
                <a:ea typeface="Noto Sans CJK SC"/>
                <a:cs typeface="Noto Sans CJK SC"/>
              </a:rPr>
              <a:t>敬请批评指正</a:t>
            </a:r>
            <a:endParaRPr sz="5400">
              <a:latin typeface="宋体"/>
              <a:ea typeface="宋体"/>
              <a:cs typeface="宋体"/>
            </a:endParaRPr>
          </a:p>
        </p:txBody>
      </p:sp>
    </p:spTree>
    <p:extLst>
      <p:ext uri="{BB962C8B-B14F-4D97-AF65-F5344CB8AC3E}">
        <p14:creationId xmlns:p14="http://schemas.microsoft.com/office/powerpoint/2010/main" val="619114201"/>
      </p:ext>
    </p:extLst>
  </p:cSld>
</p:sld>
</file>

<file path=ppt/slides/slide35.xml><?xml version="1.0" encoding="utf-8"?>
<p:sld xmlns:p="http://schemas.openxmlformats.org/presentationml/2006/main">
  <p:cSld>
    <p:spTree>
      <p:nvGrpSpPr>
        <p:cNvPr id="1" name=""/>
        <p:cNvGrpSpPr/>
        <p:nvPr/>
      </p:nvGrpSpPr>
      <p:grpSpPr>
        <a:xfrm xmlns:a="http://schemas.openxmlformats.org/drawingml/2006/main"/>
      </p:grpSpPr>
      <p:sp>
        <p:nvSpPr>
          <p:cNvPr id="5" name="解释-0">
            <a:extLst xmlns:a="http://schemas.openxmlformats.org/drawingml/2006/main">
              <a:ext uri="{FF2B5EF4-FFF2-40B4-BE49-F238E27FC236}">
                <a16:creationId xmlns:a16="http://schemas.microsoft.com/office/drawing/2014/main" id="{E68EFFA4-CDCE-43DF-9004-31B47495EA6D}"/>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附录：完整符号：索引与决策变量</a:t>
            </a:r>
          </a:p>
        </p:txBody>
      </p:sp>
      <p:graphicFrame>
        <p:nvGraphicFramePr>
          <p:cNvPr id="2" name="">
            <a:extLst xmlns:a="http://schemas.openxmlformats.org/drawingml/2006/main">
              <a:ext uri="{FF2B5EF4-FFF2-40B4-BE49-F238E27FC236}">
                <a16:creationId xmlns:a16="http://schemas.microsoft.com/office/drawing/2014/main" id="{11CF913E-92DF-4C17-8F86-D14E3357F456}"/>
              </a:ext>
            </a:extLst>
          </p:cNvPr>
          <p:cNvGraphicFramePr/>
          <p:nvPr/>
        </p:nvGraphicFramePr>
        <p:xfrm>
          <a:off xmlns:a="http://schemas.openxmlformats.org/drawingml/2006/main" x="658368" y="2414016"/>
          <a:ext xmlns:a="http://schemas.openxmlformats.org/drawingml/2006/main" cx="10872216" cy="3794760"/>
        </p:xfrm>
        <a:graphic xmlns:a="http://schemas.openxmlformats.org/drawingml/2006/main">
          <a:graphicData uri="http://schemas.openxmlformats.org/drawingml/2006/table">
            <a:tbl>
              <a:tblPr firstRow="1" bandRow="0"/>
              <a:tblGrid>
                <a:gridCol w="2770632"/>
                <a:gridCol w="8101584"/>
              </a:tblGrid>
              <a:tr h="421640">
                <a:tc>
                  <a:txBody>
                    <a:bodyPr wrap="square">
                      <a:noAutofit/>
                    </a:bodyPr>
                    <a:lstStyle/>
                    <a:p>
                      <a:pPr algn="l">
                        <a:lnSpc>
                          <a:spcPct val="100000"/>
                        </a:lnSpc>
                        <a:buNone/>
                      </a:pPr>
                      <a:r>
                        <a:rPr sz="1750" b="1">
                          <a:solidFill>
                            <a:srgbClr val="587C95"/>
                          </a:solidFill>
                          <a:latin typeface="Noto Sans CJK SC"/>
                          <a:ea typeface="Noto Sans CJK SC"/>
                          <a:cs typeface="Noto Sans CJK SC"/>
                        </a:rPr>
                        <a:t>符号</a:t>
                      </a:r>
                    </a:p>
                  </a:txBody>
                  <a:tcPr marL="95250" marR="95250" marT="66675" marB="66675" anchor="ctr">
                    <a:solidFill>
                      <a:srgbClr val="EDF2F5"/>
                    </a:solidFill>
                  </a:tcPr>
                </a:tc>
                <a:tc>
                  <a:txBody>
                    <a:bodyPr wrap="square">
                      <a:noAutofit/>
                    </a:bodyPr>
                    <a:lstStyle/>
                    <a:p>
                      <a:pPr algn="l">
                        <a:lnSpc>
                          <a:spcPct val="100000"/>
                        </a:lnSpc>
                        <a:buNone/>
                      </a:pPr>
                      <a:r>
                        <a:rPr sz="1750" b="1">
                          <a:solidFill>
                            <a:srgbClr val="587C95"/>
                          </a:solidFill>
                          <a:latin typeface="Noto Sans CJK SC"/>
                          <a:ea typeface="Noto Sans CJK SC"/>
                          <a:cs typeface="Noto Sans CJK SC"/>
                        </a:rPr>
                        <a:t>定义</a:t>
                      </a:r>
                    </a:p>
                  </a:txBody>
                  <a:tcPr marL="95250" marR="95250" marT="66675" marB="66675" anchor="ctr">
                    <a:solidFill>
                      <a:srgbClr val="EDF2F5"/>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i∈{1,2}</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供应商索引，分别提供两种不同投入品</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xᵢ∈{0,1}</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是否审计供应商 i</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fᵢ∈{s,r,∅}</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替换、整改或无行动</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Aᵢ</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实际审计准确度：1−eαᵢ−(1−e)βᵢ</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αᵢ</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合规者被判未通过的条件概率，第一类错误率</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βᵢ</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违规者被判通过的条件概率，第二类错误率</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bᵢ</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审计供应商 i 的最大可达准确度</a:t>
                      </a:r>
                    </a:p>
                  </a:txBody>
                  <a:tcPr marL="95250" marR="95250" marT="66675" marB="66675" anchor="ctr">
                    <a:solidFill>
                      <a:srgbClr val="FFFFFF"/>
                    </a:solidFill>
                  </a:tcPr>
                </a:tc>
              </a:tr>
              <a:tr h="421640">
                <a:tc>
                  <a:txBody>
                    <a:bodyPr wrap="square">
                      <a:noAutofit/>
                    </a:bodyPr>
                    <a:lstStyle/>
                    <a:p>
                      <a:pPr algn="l">
                        <a:lnSpc>
                          <a:spcPct val="100000"/>
                        </a:lnSpc>
                        <a:buNone/>
                      </a:pPr>
                      <a:r>
                        <a:rPr sz="1750" b="0">
                          <a:solidFill>
                            <a:srgbClr val="111111"/>
                          </a:solidFill>
                          <a:latin typeface="Noto Sans CJK SC"/>
                          <a:ea typeface="Noto Sans CJK SC"/>
                          <a:cs typeface="Noto Sans CJK SC"/>
                        </a:rPr>
                        <a:t>b0</a:t>
                      </a:r>
                    </a:p>
                  </a:txBody>
                  <a:tcPr marL="95250" marR="95250" marT="66675" marB="66675" anchor="ctr">
                    <a:solidFill>
                      <a:srgbClr val="FFFFFF"/>
                    </a:solidFill>
                  </a:tcPr>
                </a:tc>
                <a:tc>
                  <a:txBody>
                    <a:bodyPr wrap="square">
                      <a:noAutofit/>
                    </a:bodyPr>
                    <a:lstStyle/>
                    <a:p>
                      <a:pPr algn="l">
                        <a:lnSpc>
                          <a:spcPct val="100000"/>
                        </a:lnSpc>
                        <a:buNone/>
                      </a:pPr>
                      <a:r>
                        <a:rPr sz="1750" b="0">
                          <a:solidFill>
                            <a:srgbClr val="111111"/>
                          </a:solidFill>
                          <a:latin typeface="Noto Sans CJK SC"/>
                          <a:ea typeface="Noto Sans CJK SC"/>
                          <a:cs typeface="Noto Sans CJK SC"/>
                        </a:rPr>
                        <a:t>一对一最大准确度：min{1,√(2B)}</a:t>
                      </a:r>
                    </a:p>
                  </a:txBody>
                  <a:tcPr marL="95250" marR="95250" marT="66675" marB="66675" anchor="ctr">
                    <a:solidFill>
                      <a:srgbClr val="FFFFFF"/>
                    </a:solidFill>
                  </a:tcPr>
                </a:tc>
              </a:tr>
            </a:tbl>
          </a:graphicData>
        </a:graphic>
      </p:graphicFrame>
      <p:sp>
        <p:nvSpPr>
          <p:cNvPr id="3" name="解释-1">
            <a:extLst xmlns:a="http://schemas.openxmlformats.org/drawingml/2006/main">
              <a:ext uri="{FF2B5EF4-FFF2-40B4-BE49-F238E27FC236}">
                <a16:creationId xmlns:a16="http://schemas.microsoft.com/office/drawing/2014/main" id="{EBDD5248-82D3-482C-BFAE-132F8EC41FFF}"/>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§3，pp. 5–6；Appendix EC.4</a:t>
            </a:r>
          </a:p>
        </p:txBody>
      </p:sp>
      <p:sp>
        <p:nvSpPr>
          <p:cNvPr id="4" name="解释-2">
            <a:extLst xmlns:a="http://schemas.openxmlformats.org/drawingml/2006/main">
              <a:ext uri="{FF2B5EF4-FFF2-40B4-BE49-F238E27FC236}">
                <a16:creationId xmlns:a16="http://schemas.microsoft.com/office/drawing/2014/main" id="{4F3F3493-5C66-4F4E-9A12-E9CED5DC5E5A}"/>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35</a:t>
            </a:r>
          </a:p>
        </p:txBody>
      </p:sp>
    </p:spTree>
    <p:extLst>
      <p:ext uri="{BB962C8B-B14F-4D97-AF65-F5344CB8AC3E}">
        <p14:creationId xmlns:p14="http://schemas.microsoft.com/office/powerpoint/2010/main" val="36472317"/>
      </p:ext>
    </p:extLst>
  </p:cSld>
</p:sld>
</file>

<file path=ppt/slides/slide36.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7A9267A4-45AF-4A39-9174-463DF0D23BDC}"/>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附录：完整符号：基准参数与审计结果</a:t>
            </a:r>
          </a:p>
        </p:txBody>
      </p:sp>
      <p:graphicFrame>
        <p:nvGraphicFramePr>
          <p:cNvPr id="2" name="">
            <a:extLst xmlns:a="http://schemas.openxmlformats.org/drawingml/2006/main">
              <a:ext uri="{FF2B5EF4-FFF2-40B4-BE49-F238E27FC236}">
                <a16:creationId xmlns:a16="http://schemas.microsoft.com/office/drawing/2014/main" id="{8A04A980-CEF4-47AC-A26A-4AF478840489}"/>
              </a:ext>
            </a:extLst>
          </p:cNvPr>
          <p:cNvGraphicFramePr/>
          <p:nvPr/>
        </p:nvGraphicFramePr>
        <p:xfrm>
          <a:off xmlns:a="http://schemas.openxmlformats.org/drawingml/2006/main" x="658368" y="2414016"/>
          <a:ext xmlns:a="http://schemas.openxmlformats.org/drawingml/2006/main" cx="10872216" cy="2660904"/>
        </p:xfrm>
        <a:graphic xmlns:a="http://schemas.openxmlformats.org/drawingml/2006/main">
          <a:graphicData uri="http://schemas.openxmlformats.org/drawingml/2006/table">
            <a:tbl>
              <a:tblPr firstRow="1" bandRow="0"/>
              <a:tblGrid>
                <a:gridCol w="2770632"/>
                <a:gridCol w="8101584"/>
              </a:tblGrid>
              <a:tr h="443484">
                <a:tc>
                  <a:txBody>
                    <a:bodyPr wrap="square">
                      <a:noAutofit/>
                    </a:bodyPr>
                    <a:lstStyle/>
                    <a:p>
                      <a:pPr algn="l">
                        <a:lnSpc>
                          <a:spcPct val="100000"/>
                        </a:lnSpc>
                        <a:buNone/>
                      </a:pPr>
                      <a:r>
                        <a:rPr sz="2000" b="1">
                          <a:solidFill>
                            <a:srgbClr val="587C95"/>
                          </a:solidFill>
                          <a:latin typeface="Noto Sans CJK SC"/>
                          <a:ea typeface="Noto Sans CJK SC"/>
                          <a:cs typeface="Noto Sans CJK SC"/>
                        </a:rPr>
                        <a:t>符号</a:t>
                      </a:r>
                    </a:p>
                  </a:txBody>
                  <a:tcPr marL="95250" marR="95250" marT="66675" marB="66675" anchor="ctr">
                    <a:solidFill>
                      <a:srgbClr val="EDF2F5"/>
                    </a:solidFill>
                  </a:tcPr>
                </a:tc>
                <a:tc>
                  <a:txBody>
                    <a:bodyPr wrap="square">
                      <a:noAutofit/>
                    </a:bodyPr>
                    <a:lstStyle/>
                    <a:p>
                      <a:pPr algn="l">
                        <a:lnSpc>
                          <a:spcPct val="100000"/>
                        </a:lnSpc>
                        <a:buNone/>
                      </a:pPr>
                      <a:r>
                        <a:rPr sz="2000" b="1">
                          <a:solidFill>
                            <a:srgbClr val="587C95"/>
                          </a:solidFill>
                          <a:latin typeface="Noto Sans CJK SC"/>
                          <a:ea typeface="Noto Sans CJK SC"/>
                          <a:cs typeface="Noto Sans CJK SC"/>
                        </a:rPr>
                        <a:t>定义</a:t>
                      </a:r>
                    </a:p>
                  </a:txBody>
                  <a:tcPr marL="95250" marR="95250" marT="66675" marB="66675" anchor="ctr">
                    <a:solidFill>
                      <a:srgbClr val="EDF2F5"/>
                    </a:solidFill>
                  </a:tcPr>
                </a:tc>
              </a:tr>
              <a:tr h="443484">
                <a:tc>
                  <a:txBody>
                    <a:bodyPr wrap="square">
                      <a:noAutofit/>
                    </a:bodyPr>
                    <a:lstStyle/>
                    <a:p>
                      <a:pPr algn="l">
                        <a:lnSpc>
                          <a:spcPct val="100000"/>
                        </a:lnSpc>
                        <a:buNone/>
                      </a:pPr>
                      <a:r>
                        <a:rPr sz="2000" b="0">
                          <a:solidFill>
                            <a:srgbClr val="111111"/>
                          </a:solidFill>
                          <a:latin typeface="Noto Sans CJK SC"/>
                          <a:ea typeface="Noto Sans CJK SC"/>
                          <a:cs typeface="Noto Sans CJK SC"/>
                        </a:rPr>
                        <a:t>B</a:t>
                      </a:r>
                    </a:p>
                  </a:txBody>
                  <a:tcPr marL="95250" marR="95250" marT="66675" marB="66675" anchor="ctr">
                    <a:solidFill>
                      <a:srgbClr val="FFFFFF"/>
                    </a:solidFill>
                  </a:tcPr>
                </a:tc>
                <a:tc>
                  <a:txBody>
                    <a:bodyPr wrap="square">
                      <a:noAutofit/>
                    </a:bodyPr>
                    <a:lstStyle/>
                    <a:p>
                      <a:pPr algn="l">
                        <a:lnSpc>
                          <a:spcPct val="100000"/>
                        </a:lnSpc>
                        <a:buNone/>
                      </a:pPr>
                      <a:r>
                        <a:rPr sz="2000" b="0">
                          <a:solidFill>
                            <a:srgbClr val="111111"/>
                          </a:solidFill>
                          <a:latin typeface="Noto Sans CJK SC"/>
                          <a:ea typeface="Noto Sans CJK SC"/>
                          <a:cs typeface="Noto Sans CJK SC"/>
                        </a:rPr>
                        <a:t>外生审计预算上限</a:t>
                      </a:r>
                    </a:p>
                  </a:txBody>
                  <a:tcPr marL="95250" marR="95250" marT="66675" marB="66675" anchor="ctr">
                    <a:solidFill>
                      <a:srgbClr val="FFFFFF"/>
                    </a:solidFill>
                  </a:tcPr>
                </a:tc>
              </a:tr>
              <a:tr h="443484">
                <a:tc>
                  <a:txBody>
                    <a:bodyPr wrap="square">
                      <a:noAutofit/>
                    </a:bodyPr>
                    <a:lstStyle/>
                    <a:p>
                      <a:pPr algn="l">
                        <a:lnSpc>
                          <a:spcPct val="100000"/>
                        </a:lnSpc>
                        <a:buNone/>
                      </a:pPr>
                      <a:r>
                        <a:rPr sz="2000" b="0">
                          <a:solidFill>
                            <a:srgbClr val="111111"/>
                          </a:solidFill>
                          <a:latin typeface="Noto Sans CJK SC"/>
                          <a:ea typeface="Noto Sans CJK SC"/>
                          <a:cs typeface="Noto Sans CJK SC"/>
                        </a:rPr>
                        <a:t>c</a:t>
                      </a:r>
                    </a:p>
                  </a:txBody>
                  <a:tcPr marL="95250" marR="95250" marT="66675" marB="66675" anchor="ctr">
                    <a:solidFill>
                      <a:srgbClr val="FFFFFF"/>
                    </a:solidFill>
                  </a:tcPr>
                </a:tc>
                <a:tc>
                  <a:txBody>
                    <a:bodyPr wrap="square">
                      <a:noAutofit/>
                    </a:bodyPr>
                    <a:lstStyle/>
                    <a:p>
                      <a:pPr algn="l">
                        <a:lnSpc>
                          <a:spcPct val="100000"/>
                        </a:lnSpc>
                        <a:buNone/>
                      </a:pPr>
                      <a:r>
                        <a:rPr sz="2000" b="0">
                          <a:solidFill>
                            <a:srgbClr val="111111"/>
                          </a:solidFill>
                          <a:latin typeface="Noto Sans CJK SC"/>
                          <a:ea typeface="Noto Sans CJK SC"/>
                          <a:cs typeface="Noto Sans CJK SC"/>
                        </a:rPr>
                        <a:t>审计成本系数；基准 c=1</a:t>
                      </a:r>
                    </a:p>
                  </a:txBody>
                  <a:tcPr marL="95250" marR="95250" marT="66675" marB="66675" anchor="ctr">
                    <a:solidFill>
                      <a:srgbClr val="FFFFFF"/>
                    </a:solidFill>
                  </a:tcPr>
                </a:tc>
              </a:tr>
              <a:tr h="443484">
                <a:tc>
                  <a:txBody>
                    <a:bodyPr wrap="square">
                      <a:noAutofit/>
                    </a:bodyPr>
                    <a:lstStyle/>
                    <a:p>
                      <a:pPr algn="l">
                        <a:lnSpc>
                          <a:spcPct val="100000"/>
                        </a:lnSpc>
                        <a:buNone/>
                      </a:pPr>
                      <a:r>
                        <a:rPr sz="2000" b="0">
                          <a:solidFill>
                            <a:srgbClr val="111111"/>
                          </a:solidFill>
                          <a:latin typeface="Noto Sans CJK SC"/>
                          <a:ea typeface="Noto Sans CJK SC"/>
                          <a:cs typeface="Noto Sans CJK SC"/>
                        </a:rPr>
                        <a:t>e</a:t>
                      </a:r>
                    </a:p>
                  </a:txBody>
                  <a:tcPr marL="95250" marR="95250" marT="66675" marB="66675" anchor="ctr">
                    <a:solidFill>
                      <a:srgbClr val="FFFFFF"/>
                    </a:solidFill>
                  </a:tcPr>
                </a:tc>
                <a:tc>
                  <a:txBody>
                    <a:bodyPr wrap="square">
                      <a:noAutofit/>
                    </a:bodyPr>
                    <a:lstStyle/>
                    <a:p>
                      <a:pPr algn="l">
                        <a:lnSpc>
                          <a:spcPct val="100000"/>
                        </a:lnSpc>
                        <a:buNone/>
                      </a:pPr>
                      <a:r>
                        <a:rPr sz="2000" b="0">
                          <a:solidFill>
                            <a:srgbClr val="111111"/>
                          </a:solidFill>
                          <a:latin typeface="Noto Sans CJK SC"/>
                          <a:ea typeface="Noto Sans CJK SC"/>
                          <a:cs typeface="Noto Sans CJK SC"/>
                        </a:rPr>
                        <a:t>供应商先验合规概率，基准 e∈[1/2,1]</a:t>
                      </a:r>
                    </a:p>
                  </a:txBody>
                  <a:tcPr marL="95250" marR="95250" marT="66675" marB="66675" anchor="ctr">
                    <a:solidFill>
                      <a:srgbClr val="FFFFFF"/>
                    </a:solidFill>
                  </a:tcPr>
                </a:tc>
              </a:tr>
              <a:tr h="443484">
                <a:tc>
                  <a:txBody>
                    <a:bodyPr wrap="square">
                      <a:noAutofit/>
                    </a:bodyPr>
                    <a:lstStyle/>
                    <a:p>
                      <a:pPr algn="l">
                        <a:lnSpc>
                          <a:spcPct val="100000"/>
                        </a:lnSpc>
                        <a:buNone/>
                      </a:pPr>
                      <a:r>
                        <a:rPr sz="2000" b="0">
                          <a:solidFill>
                            <a:srgbClr val="111111"/>
                          </a:solidFill>
                          <a:latin typeface="Noto Sans CJK SC"/>
                          <a:ea typeface="Noto Sans CJK SC"/>
                          <a:cs typeface="Noto Sans CJK SC"/>
                        </a:rPr>
                        <a:t>Π</a:t>
                      </a:r>
                    </a:p>
                  </a:txBody>
                  <a:tcPr marL="95250" marR="95250" marT="66675" marB="66675" anchor="ctr">
                    <a:solidFill>
                      <a:srgbClr val="FFFFFF"/>
                    </a:solidFill>
                  </a:tcPr>
                </a:tc>
                <a:tc>
                  <a:txBody>
                    <a:bodyPr wrap="square">
                      <a:noAutofit/>
                    </a:bodyPr>
                    <a:lstStyle/>
                    <a:p>
                      <a:pPr algn="l">
                        <a:lnSpc>
                          <a:spcPct val="100000"/>
                        </a:lnSpc>
                        <a:buNone/>
                      </a:pPr>
                      <a:r>
                        <a:rPr sz="2000" b="0">
                          <a:solidFill>
                            <a:srgbClr val="111111"/>
                          </a:solidFill>
                          <a:latin typeface="Noto Sans CJK SC"/>
                          <a:ea typeface="Noto Sans CJK SC"/>
                          <a:cs typeface="Noto Sans CJK SC"/>
                        </a:rPr>
                        <a:t>无治理成本及损害时的最大交易利润</a:t>
                      </a:r>
                    </a:p>
                  </a:txBody>
                  <a:tcPr marL="95250" marR="95250" marT="66675" marB="66675" anchor="ctr">
                    <a:solidFill>
                      <a:srgbClr val="FFFFFF"/>
                    </a:solidFill>
                  </a:tcPr>
                </a:tc>
              </a:tr>
              <a:tr h="443484">
                <a:tc>
                  <a:txBody>
                    <a:bodyPr wrap="square">
                      <a:noAutofit/>
                    </a:bodyPr>
                    <a:lstStyle/>
                    <a:p>
                      <a:pPr algn="l">
                        <a:lnSpc>
                          <a:spcPct val="100000"/>
                        </a:lnSpc>
                        <a:buNone/>
                      </a:pPr>
                      <a:r>
                        <a:rPr sz="2000" b="0">
                          <a:solidFill>
                            <a:srgbClr val="111111"/>
                          </a:solidFill>
                          <a:latin typeface="Noto Sans CJK SC"/>
                          <a:ea typeface="Noto Sans CJK SC"/>
                          <a:cs typeface="Noto Sans CJK SC"/>
                        </a:rPr>
                        <a:t>oᵢ∈{1,0,∅}</a:t>
                      </a:r>
                    </a:p>
                  </a:txBody>
                  <a:tcPr marL="95250" marR="95250" marT="66675" marB="66675" anchor="ctr">
                    <a:solidFill>
                      <a:srgbClr val="FFFFFF"/>
                    </a:solidFill>
                  </a:tcPr>
                </a:tc>
                <a:tc>
                  <a:txBody>
                    <a:bodyPr wrap="square">
                      <a:noAutofit/>
                    </a:bodyPr>
                    <a:lstStyle/>
                    <a:p>
                      <a:pPr algn="l">
                        <a:lnSpc>
                          <a:spcPct val="100000"/>
                        </a:lnSpc>
                        <a:buNone/>
                      </a:pPr>
                      <a:r>
                        <a:rPr sz="2000" b="0">
                          <a:solidFill>
                            <a:srgbClr val="111111"/>
                          </a:solidFill>
                          <a:latin typeface="Noto Sans CJK SC"/>
                          <a:ea typeface="Noto Sans CJK SC"/>
                          <a:cs typeface="Noto Sans CJK SC"/>
                        </a:rPr>
                        <a:t>审计未通过、通过或未被审计</a:t>
                      </a:r>
                    </a:p>
                  </a:txBody>
                  <a:tcPr marL="95250" marR="95250" marT="66675" marB="66675" anchor="ctr">
                    <a:solidFill>
                      <a:srgbClr val="FFFFFF"/>
                    </a:solidFill>
                  </a:tcPr>
                </a:tc>
              </a:tr>
            </a:tbl>
          </a:graphicData>
        </a:graphic>
      </p:graphicFrame>
      <p:pic>
        <p:nvPicPr>
          <p:cNvPr id="3" name="">
            <a:extLst xmlns:a="http://schemas.openxmlformats.org/drawingml/2006/main">
              <a:ext uri="{FF2B5EF4-FFF2-40B4-BE49-F238E27FC236}">
                <a16:creationId xmlns:a16="http://schemas.microsoft.com/office/drawing/2014/main" id="{049D64DB-F1B9-48C3-AF5F-9519AAF82599}"/>
              </a:ext>
            </a:extLst>
          </p:cNvPr>
          <p:cNvPicPr>
            <a:picLocks xmlns:a="http://schemas.openxmlformats.org/drawingml/2006/main" noChangeAspect="1"/>
          </p:cNvPicPr>
          <p:nvPr/>
        </p:nvPicPr>
        <p:blipFill>
          <a:blip xmlns:r="http://schemas.openxmlformats.org/officeDocument/2006/relationships" xmlns:a="http://schemas.openxmlformats.org/drawingml/2006/main" r:embed="R188688ae3164404e"/>
          <a:stretch xmlns:a="http://schemas.openxmlformats.org/drawingml/2006/main"/>
        </p:blipFill>
        <p:spPr>
          <a:xfrm xmlns:a="http://schemas.openxmlformats.org/drawingml/2006/main">
            <a:off x="4190104" y="5458968"/>
            <a:ext cx="3817889" cy="713232"/>
          </a:xfrm>
          <a:prstGeom xmlns:a="http://schemas.openxmlformats.org/drawingml/2006/main" prst="rect">
            <a:avLst/>
          </a:prstGeom>
        </p:spPr>
      </p:pic>
      <p:sp>
        <p:nvSpPr>
          <p:cNvPr id="4" name="解释-1">
            <a:extLst xmlns:a="http://schemas.openxmlformats.org/drawingml/2006/main">
              <a:ext uri="{FF2B5EF4-FFF2-40B4-BE49-F238E27FC236}">
                <a16:creationId xmlns:a16="http://schemas.microsoft.com/office/drawing/2014/main" id="{6EB10A94-ECD3-40A6-AAAB-EE98BC20F7F5}"/>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§3，pp. 5–6；Appendix EC.4</a:t>
            </a:r>
          </a:p>
        </p:txBody>
      </p:sp>
      <p:sp>
        <p:nvSpPr>
          <p:cNvPr id="5" name="解释-2">
            <a:extLst xmlns:a="http://schemas.openxmlformats.org/drawingml/2006/main">
              <a:ext uri="{FF2B5EF4-FFF2-40B4-BE49-F238E27FC236}">
                <a16:creationId xmlns:a16="http://schemas.microsoft.com/office/drawing/2014/main" id="{AB4659BF-3738-4AA0-8941-848DC3A406D3}"/>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36</a:t>
            </a:r>
          </a:p>
        </p:txBody>
      </p:sp>
    </p:spTree>
    <p:extLst>
      <p:ext uri="{BB962C8B-B14F-4D97-AF65-F5344CB8AC3E}">
        <p14:creationId xmlns:p14="http://schemas.microsoft.com/office/powerpoint/2010/main" val="1886512483"/>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5" name="解释-0">
            <a:extLst xmlns:a="http://schemas.openxmlformats.org/drawingml/2006/main">
              <a:ext uri="{FF2B5EF4-FFF2-40B4-BE49-F238E27FC236}">
                <a16:creationId xmlns:a16="http://schemas.microsoft.com/office/drawing/2014/main" id="{E8303EAD-ECB5-446B-87A9-DDEA203939B6}"/>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附录：完整符号：成本、损害与责任努力</a:t>
            </a:r>
          </a:p>
        </p:txBody>
      </p:sp>
      <p:graphicFrame>
        <p:nvGraphicFramePr>
          <p:cNvPr id="2" name="">
            <a:extLst xmlns:a="http://schemas.openxmlformats.org/drawingml/2006/main">
              <a:ext uri="{FF2B5EF4-FFF2-40B4-BE49-F238E27FC236}">
                <a16:creationId xmlns:a16="http://schemas.microsoft.com/office/drawing/2014/main" id="{94E35CA6-AED9-41F6-943D-A25D5667C97F}"/>
              </a:ext>
            </a:extLst>
          </p:cNvPr>
          <p:cNvGraphicFramePr/>
          <p:nvPr/>
        </p:nvGraphicFramePr>
        <p:xfrm>
          <a:off xmlns:a="http://schemas.openxmlformats.org/drawingml/2006/main" x="658368" y="2414016"/>
          <a:ext xmlns:a="http://schemas.openxmlformats.org/drawingml/2006/main" cx="10872216" cy="3621024"/>
        </p:xfrm>
        <a:graphic xmlns:a="http://schemas.openxmlformats.org/drawingml/2006/main">
          <a:graphicData uri="http://schemas.openxmlformats.org/drawingml/2006/table">
            <a:tbl>
              <a:tblPr firstRow="1" bandRow="0"/>
              <a:tblGrid>
                <a:gridCol w="2770632"/>
                <a:gridCol w="8101584"/>
              </a:tblGrid>
              <a:tr h="452628">
                <a:tc>
                  <a:txBody>
                    <a:bodyPr wrap="square">
                      <a:noAutofit/>
                    </a:bodyPr>
                    <a:lstStyle/>
                    <a:p>
                      <a:pPr algn="l">
                        <a:lnSpc>
                          <a:spcPct val="100000"/>
                        </a:lnSpc>
                        <a:buNone/>
                      </a:pPr>
                      <a:r>
                        <a:rPr sz="1800" b="1">
                          <a:solidFill>
                            <a:srgbClr val="587C95"/>
                          </a:solidFill>
                          <a:latin typeface="Noto Sans CJK SC"/>
                          <a:ea typeface="Noto Sans CJK SC"/>
                          <a:cs typeface="Noto Sans CJK SC"/>
                        </a:rPr>
                        <a:t>符号</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定义</a:t>
                      </a:r>
                    </a:p>
                  </a:txBody>
                  <a:tcPr marL="95250" marR="95250" marT="66675" marB="66675" anchor="ctr">
                    <a:solidFill>
                      <a:srgbClr val="EDF2F5"/>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Δs，Δr</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买方替换成本、整改成本</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D̃α，D̃β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两类损害实际发生时的金额</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rα，rβ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两类损害被外部发现的概率</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Dα，Dβ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预期损害：Dα=rαD̃α，Dβ=rβD̃β</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δ(α,β)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整改相对替换可避免的条件预期误报损害</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eS，κ</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供应商责任努力及其二次成本系数</a:t>
                      </a:r>
                    </a:p>
                  </a:txBody>
                  <a:tcPr marL="95250" marR="95250" marT="66675" marB="66675" anchor="ctr">
                    <a:solidFill>
                      <a:srgbClr val="FFFFFF"/>
                    </a:solidFill>
                  </a:tcPr>
                </a:tc>
              </a:tr>
              <a:tr h="452628">
                <a:tc>
                  <a:txBody>
                    <a:bodyPr wrap="square">
                      <a:noAutofit/>
                    </a:bodyPr>
                    <a:lstStyle/>
                    <a:p>
                      <a:pPr algn="l">
                        <a:lnSpc>
                          <a:spcPct val="100000"/>
                        </a:lnSpc>
                        <a:buNone/>
                      </a:pPr>
                      <a:r>
                        <a:rPr sz="1800" b="0">
                          <a:solidFill>
                            <a:srgbClr val="111111"/>
                          </a:solidFill>
                          <a:latin typeface="Noto Sans CJK SC"/>
                          <a:ea typeface="Noto Sans CJK SC"/>
                          <a:cs typeface="Noto Sans CJK SC"/>
                        </a:rPr>
                        <a:t>δr，ΠS</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供应商整改成本、与买方交易所得利润</a:t>
                      </a:r>
                    </a:p>
                  </a:txBody>
                  <a:tcPr marL="95250" marR="95250" marT="66675" marB="66675" anchor="ctr">
                    <a:solidFill>
                      <a:srgbClr val="FFFFFF"/>
                    </a:solidFill>
                  </a:tcPr>
                </a:tc>
              </a:tr>
            </a:tbl>
          </a:graphicData>
        </a:graphic>
      </p:graphicFrame>
      <p:sp>
        <p:nvSpPr>
          <p:cNvPr id="3" name="解释-1">
            <a:extLst xmlns:a="http://schemas.openxmlformats.org/drawingml/2006/main">
              <a:ext uri="{FF2B5EF4-FFF2-40B4-BE49-F238E27FC236}">
                <a16:creationId xmlns:a16="http://schemas.microsoft.com/office/drawing/2014/main" id="{99B2E1B7-C98D-4A5B-8138-3B64E236800D}"/>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按用户参考稿 Table EC.1 与原文 §3、§6 整理</a:t>
            </a:r>
          </a:p>
        </p:txBody>
      </p:sp>
      <p:sp>
        <p:nvSpPr>
          <p:cNvPr id="4" name="解释-2">
            <a:extLst xmlns:a="http://schemas.openxmlformats.org/drawingml/2006/main">
              <a:ext uri="{FF2B5EF4-FFF2-40B4-BE49-F238E27FC236}">
                <a16:creationId xmlns:a16="http://schemas.microsoft.com/office/drawing/2014/main" id="{6FE55383-812E-477A-B33F-8146D12FBFB8}"/>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37</a:t>
            </a:r>
          </a:p>
        </p:txBody>
      </p:sp>
    </p:spTree>
    <p:extLst>
      <p:ext uri="{BB962C8B-B14F-4D97-AF65-F5344CB8AC3E}">
        <p14:creationId xmlns:p14="http://schemas.microsoft.com/office/powerpoint/2010/main" val="515405273"/>
      </p:ext>
    </p:extLst>
  </p:cSld>
</p:sld>
</file>

<file path=ppt/slides/slide38.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45C3BDBD-E633-4E6D-841D-EC6D1F015F51}"/>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附录：固定准确度下的四条损失分支</a:t>
            </a:r>
          </a:p>
        </p:txBody>
      </p:sp>
      <p:graphicFrame>
        <p:nvGraphicFramePr>
          <p:cNvPr id="2" name="">
            <a:extLst xmlns:a="http://schemas.openxmlformats.org/drawingml/2006/main">
              <a:ext uri="{FF2B5EF4-FFF2-40B4-BE49-F238E27FC236}">
                <a16:creationId xmlns:a16="http://schemas.microsoft.com/office/drawing/2014/main" id="{892AD222-63CA-4C6B-A52E-3B9C695AB1C6}"/>
              </a:ext>
            </a:extLst>
          </p:cNvPr>
          <p:cNvGraphicFramePr/>
          <p:nvPr/>
        </p:nvGraphicFramePr>
        <p:xfrm>
          <a:off xmlns:a="http://schemas.openxmlformats.org/drawingml/2006/main" x="658368" y="2414016"/>
          <a:ext xmlns:a="http://schemas.openxmlformats.org/drawingml/2006/main" cx="10872216" cy="2743200"/>
        </p:xfrm>
        <a:graphic xmlns:a="http://schemas.openxmlformats.org/drawingml/2006/main">
          <a:graphicData uri="http://schemas.openxmlformats.org/drawingml/2006/table">
            <a:tbl>
              <a:tblPr firstRow="1" bandRow="0"/>
              <a:tblGrid>
                <a:gridCol w="2523744"/>
                <a:gridCol w="6016752"/>
                <a:gridCol w="2331720"/>
              </a:tblGrid>
              <a:tr h="548640">
                <a:tc>
                  <a:txBody>
                    <a:bodyPr wrap="square">
                      <a:noAutofit/>
                    </a:bodyPr>
                    <a:lstStyle/>
                    <a:p>
                      <a:pPr algn="l">
                        <a:lnSpc>
                          <a:spcPct val="100000"/>
                        </a:lnSpc>
                        <a:buNone/>
                      </a:pPr>
                      <a:r>
                        <a:rPr sz="1800" b="1">
                          <a:solidFill>
                            <a:srgbClr val="587C95"/>
                          </a:solidFill>
                          <a:latin typeface="Noto Sans CJK SC"/>
                          <a:ea typeface="Noto Sans CJK SC"/>
                          <a:cs typeface="Noto Sans CJK SC"/>
                        </a:rPr>
                        <a:t>政策与治理</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每家期望损失 ℓ(b)</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准确度边际收益 w</a:t>
                      </a:r>
                    </a:p>
                  </a:txBody>
                  <a:tcPr marL="95250" marR="95250" marT="66675" marB="66675" anchor="ctr">
                    <a:solidFill>
                      <a:srgbClr val="EDF2F5"/>
                    </a:solidFill>
                  </a:tcPr>
                </a:tc>
              </a:tr>
              <a:tr h="548640">
                <a:tc>
                  <a:txBody>
                    <a:bodyPr wrap="square">
                      <a:noAutofit/>
                    </a:bodyPr>
                    <a:lstStyle/>
                    <a:p>
                      <a:pPr algn="l">
                        <a:lnSpc>
                          <a:spcPct val="100000"/>
                        </a:lnSpc>
                        <a:buNone/>
                      </a:pPr>
                      <a:r>
                        <a:rPr sz="1800" b="0">
                          <a:solidFill>
                            <a:srgbClr val="111111"/>
                          </a:solidFill>
                          <a:latin typeface="Noto Sans CJK SC"/>
                          <a:ea typeface="Noto Sans CJK SC"/>
                          <a:cs typeface="Noto Sans CJK SC"/>
                        </a:rPr>
                        <a:t>N + 整改</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(b−e)Δr+(1−b)Dβ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Dβ−Δr</a:t>
                      </a:r>
                    </a:p>
                  </a:txBody>
                  <a:tcPr marL="95250" marR="95250" marT="66675" marB="66675" anchor="ctr">
                    <a:solidFill>
                      <a:srgbClr val="FFFFFF"/>
                    </a:solidFill>
                  </a:tcPr>
                </a:tc>
              </a:tr>
              <a:tr h="548640">
                <a:tc>
                  <a:txBody>
                    <a:bodyPr wrap="square">
                      <a:noAutofit/>
                    </a:bodyPr>
                    <a:lstStyle/>
                    <a:p>
                      <a:pPr algn="l">
                        <a:lnSpc>
                          <a:spcPct val="100000"/>
                        </a:lnSpc>
                        <a:buNone/>
                      </a:pPr>
                      <a:r>
                        <a:rPr sz="1800" b="0">
                          <a:solidFill>
                            <a:srgbClr val="111111"/>
                          </a:solidFill>
                          <a:latin typeface="Noto Sans CJK SC"/>
                          <a:ea typeface="Noto Sans CJK SC"/>
                          <a:cs typeface="Noto Sans CJK SC"/>
                        </a:rPr>
                        <a:t>N + 替换</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(b−e)Δs+(1−b)Dβ</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Dβ−Δs</a:t>
                      </a:r>
                    </a:p>
                  </a:txBody>
                  <a:tcPr marL="95250" marR="95250" marT="66675" marB="66675" anchor="ctr">
                    <a:solidFill>
                      <a:srgbClr val="FFFFFF"/>
                    </a:solidFill>
                  </a:tcPr>
                </a:tc>
              </a:tr>
              <a:tr h="548640">
                <a:tc>
                  <a:txBody>
                    <a:bodyPr wrap="square">
                      <a:noAutofit/>
                    </a:bodyPr>
                    <a:lstStyle/>
                    <a:p>
                      <a:pPr algn="l">
                        <a:lnSpc>
                          <a:spcPct val="100000"/>
                        </a:lnSpc>
                        <a:buNone/>
                      </a:pPr>
                      <a:r>
                        <a:rPr sz="1800" b="0">
                          <a:solidFill>
                            <a:srgbClr val="111111"/>
                          </a:solidFill>
                          <a:latin typeface="Noto Sans CJK SC"/>
                          <a:ea typeface="Noto Sans CJK SC"/>
                          <a:cs typeface="Noto Sans CJK SC"/>
                        </a:rPr>
                        <a:t>C + 整改</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(2−e−b)Δr</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Δr</a:t>
                      </a:r>
                    </a:p>
                  </a:txBody>
                  <a:tcPr marL="95250" marR="95250" marT="66675" marB="66675" anchor="ctr">
                    <a:solidFill>
                      <a:srgbClr val="FFFFFF"/>
                    </a:solidFill>
                  </a:tcPr>
                </a:tc>
              </a:tr>
              <a:tr h="548640">
                <a:tc>
                  <a:txBody>
                    <a:bodyPr wrap="square">
                      <a:noAutofit/>
                    </a:bodyPr>
                    <a:lstStyle/>
                    <a:p>
                      <a:pPr algn="l">
                        <a:lnSpc>
                          <a:spcPct val="100000"/>
                        </a:lnSpc>
                        <a:buNone/>
                      </a:pPr>
                      <a:r>
                        <a:rPr sz="1800" b="0">
                          <a:solidFill>
                            <a:srgbClr val="111111"/>
                          </a:solidFill>
                          <a:latin typeface="Noto Sans CJK SC"/>
                          <a:ea typeface="Noto Sans CJK SC"/>
                          <a:cs typeface="Noto Sans CJK SC"/>
                        </a:rPr>
                        <a:t>C + 替换</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(2−e−b)Δs+(1−b)Dα</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Dα+Δs</a:t>
                      </a:r>
                    </a:p>
                  </a:txBody>
                  <a:tcPr marL="95250" marR="95250" marT="66675" marB="66675" anchor="ctr">
                    <a:solidFill>
                      <a:srgbClr val="FFFFFF"/>
                    </a:solidFill>
                  </a:tcPr>
                </a:tc>
              </a:tr>
            </a:tbl>
          </a:graphicData>
        </a:graphic>
      </p:graphicFrame>
      <p:sp>
        <p:nvSpPr>
          <p:cNvPr id="3" name="解释-1">
            <a:extLst xmlns:a="http://schemas.openxmlformats.org/drawingml/2006/main">
              <a:ext uri="{FF2B5EF4-FFF2-40B4-BE49-F238E27FC236}">
                <a16:creationId xmlns:a16="http://schemas.microsoft.com/office/drawing/2014/main" id="{5D68A1A0-A206-4450-9F21-D87FBFCFFAFE}"/>
              </a:ext>
            </a:extLst>
          </p:cNvPr>
          <p:cNvSpPr>
            <a:spLocks xmlns:a="http://schemas.openxmlformats.org/drawingml/2006/main" noGrp="1"/>
          </p:cNvSpPr>
          <p:nvPr/>
        </p:nvSpPr>
        <p:spPr>
          <a:xfrm xmlns:a="http://schemas.openxmlformats.org/drawingml/2006/main">
            <a:off x="731520" y="5907024"/>
            <a:ext cx="10725912" cy="47548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800" b="1">
                <a:solidFill>
                  <a:srgbClr val="587C95"/>
                </a:solidFill>
                <a:latin typeface="Noto Sans CJK SC"/>
                <a:ea typeface="Noto Sans CJK SC"/>
                <a:cs typeface="Noto Sans CJK SC"/>
              </a:defRPr>
            </a:defPPr>
          </a:lstStyle>
          <a:p xmlns:a="http://schemas.openxmlformats.org/drawingml/2006/main">
            <a:pPr algn="l">
              <a:lnSpc>
                <a:spcPct val="108000"/>
              </a:lnSpc>
              <a:buNone/>
              <a:defRPr sz="1800" b="1">
                <a:solidFill>
                  <a:srgbClr val="587C95"/>
                </a:solidFill>
                <a:latin typeface="Noto Sans CJK SC"/>
                <a:ea typeface="Noto Sans CJK SC"/>
                <a:cs typeface="Noto Sans CJK SC"/>
              </a:defRPr>
            </a:pPr>
            <a:r>
              <a:rPr sz="1800" b="1">
                <a:solidFill>
                  <a:srgbClr val="587C95"/>
                </a:solidFill>
                <a:latin typeface="Noto Sans CJK SC"/>
                <a:ea typeface="Noto Sans CJK SC"/>
                <a:cs typeface="Noto Sans CJK SC"/>
              </a:rPr>
              <a:t>ℓ*(b) 为四项的最小值；π* = Π − 各供应商期望损失之和。</a:t>
            </a:r>
          </a:p>
        </p:txBody>
      </p:sp>
      <p:sp>
        <p:nvSpPr>
          <p:cNvPr id="4" name="解释-2">
            <a:extLst xmlns:a="http://schemas.openxmlformats.org/drawingml/2006/main">
              <a:ext uri="{FF2B5EF4-FFF2-40B4-BE49-F238E27FC236}">
                <a16:creationId xmlns:a16="http://schemas.microsoft.com/office/drawing/2014/main" id="{7951E02D-416C-469D-B921-8F94BF5FEC99}"/>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由 §3–4 的事件概率整理；与原文目标等价</a:t>
            </a:r>
          </a:p>
        </p:txBody>
      </p:sp>
      <p:sp>
        <p:nvSpPr>
          <p:cNvPr id="5" name="解释-3">
            <a:extLst xmlns:a="http://schemas.openxmlformats.org/drawingml/2006/main">
              <a:ext uri="{FF2B5EF4-FFF2-40B4-BE49-F238E27FC236}">
                <a16:creationId xmlns:a16="http://schemas.microsoft.com/office/drawing/2014/main" id="{75612487-86EC-469F-93C0-70224027602A}"/>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38</a:t>
            </a:r>
          </a:p>
        </p:txBody>
      </p:sp>
    </p:spTree>
    <p:extLst>
      <p:ext uri="{BB962C8B-B14F-4D97-AF65-F5344CB8AC3E}">
        <p14:creationId xmlns:p14="http://schemas.microsoft.com/office/powerpoint/2010/main" val="56820699"/>
      </p:ext>
    </p:extLst>
  </p:cSld>
</p:sld>
</file>

<file path=ppt/slides/slide39.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CFB24016-4C90-4E2C-952F-B49837BB68C0}"/>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附录：命题 8：稳定分支与极低替换成本区</a:t>
            </a:r>
          </a:p>
        </p:txBody>
      </p:sp>
      <p:pic>
        <p:nvPicPr>
          <p:cNvPr id="2" name="">
            <a:extLst xmlns:a="http://schemas.openxmlformats.org/drawingml/2006/main">
              <a:ext uri="{FF2B5EF4-FFF2-40B4-BE49-F238E27FC236}">
                <a16:creationId xmlns:a16="http://schemas.microsoft.com/office/drawing/2014/main" id="{5C99843E-0049-4087-BD76-A13F177DC9C4}"/>
              </a:ext>
            </a:extLst>
          </p:cNvPr>
          <p:cNvPicPr>
            <a:picLocks xmlns:a="http://schemas.openxmlformats.org/drawingml/2006/main" noChangeAspect="1"/>
          </p:cNvPicPr>
          <p:nvPr/>
        </p:nvPicPr>
        <p:blipFill>
          <a:blip xmlns:r="http://schemas.openxmlformats.org/officeDocument/2006/relationships" xmlns:a="http://schemas.openxmlformats.org/drawingml/2006/main" r:embed="Rf7e1f55b5c1a44a1"/>
          <a:stretch xmlns:a="http://schemas.openxmlformats.org/drawingml/2006/main"/>
        </p:blipFill>
        <p:spPr>
          <a:xfrm xmlns:a="http://schemas.openxmlformats.org/drawingml/2006/main">
            <a:off x="1733702" y="2377440"/>
            <a:ext cx="4762195" cy="3840480"/>
          </a:xfrm>
          <a:prstGeom xmlns:a="http://schemas.openxmlformats.org/drawingml/2006/main" prst="rect">
            <a:avLst/>
          </a:prstGeom>
        </p:spPr>
      </p:pic>
      <p:sp>
        <p:nvSpPr>
          <p:cNvPr id="3" name="解释-1">
            <a:extLst xmlns:a="http://schemas.openxmlformats.org/drawingml/2006/main">
              <a:ext uri="{FF2B5EF4-FFF2-40B4-BE49-F238E27FC236}">
                <a16:creationId xmlns:a16="http://schemas.microsoft.com/office/drawing/2014/main" id="{934C759D-541D-4A60-A9B4-B6A3E654B64A}"/>
              </a:ext>
            </a:extLst>
          </p:cNvPr>
          <p:cNvSpPr>
            <a:spLocks xmlns:a="http://schemas.openxmlformats.org/drawingml/2006/main" noGrp="1"/>
          </p:cNvSpPr>
          <p:nvPr/>
        </p:nvSpPr>
        <p:spPr>
          <a:xfrm xmlns:a="http://schemas.openxmlformats.org/drawingml/2006/main">
            <a:off x="7744968" y="2697480"/>
            <a:ext cx="3575304" cy="32461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900" b="0">
                <a:solidFill>
                  <a:srgbClr val="111111"/>
                </a:solidFill>
                <a:latin typeface="Noto Sans CJK SC"/>
                <a:ea typeface="Noto Sans CJK SC"/>
                <a:cs typeface="Noto Sans CJK SC"/>
              </a:defRPr>
            </a:defPPr>
          </a:lstStyle>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整改分支：δr/κ</a:t>
            </a:r>
          </a:p>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替换分支：ΠS/κ</a:t>
            </a:r>
          </a:p>
          <a:p xmlns:a="http://schemas.openxmlformats.org/drawingml/2006/main">
            <a:r>
              <a:t/>
            </a:r>
          </a:p>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中间区间可选择边界努力，</a:t>
            </a:r>
          </a:p>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改变买方的治理响应。</a:t>
            </a:r>
          </a:p>
          <a:p xmlns:a="http://schemas.openxmlformats.org/drawingml/2006/main">
            <a:r>
              <a:t/>
            </a:r>
          </a:p>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情形(iii)始终用 C。</a:t>
            </a:r>
          </a:p>
          <a:p xmlns:a="http://schemas.openxmlformats.org/drawingml/2006/main">
            <a:pPr algn="l">
              <a:lnSpc>
                <a:spcPct val="108000"/>
              </a:lnSpc>
              <a:buNone/>
              <a:defRPr sz="1900" b="0">
                <a:solidFill>
                  <a:srgbClr val="111111"/>
                </a:solidFill>
                <a:latin typeface="Noto Sans CJK SC"/>
                <a:ea typeface="Noto Sans CJK SC"/>
                <a:cs typeface="Noto Sans CJK SC"/>
              </a:defRPr>
            </a:pPr>
            <a:r>
              <a:rPr sz="1900" b="0">
                <a:solidFill>
                  <a:srgbClr val="111111"/>
                </a:solidFill>
                <a:latin typeface="Noto Sans CJK SC"/>
                <a:ea typeface="Noto Sans CJK SC"/>
                <a:cs typeface="Noto Sans CJK SC"/>
              </a:rPr>
              <a:t>治理动作随预算与ΠS变化。</a:t>
            </a:r>
          </a:p>
        </p:txBody>
      </p:sp>
      <p:sp>
        <p:nvSpPr>
          <p:cNvPr id="4" name="解释-2">
            <a:extLst xmlns:a="http://schemas.openxmlformats.org/drawingml/2006/main">
              <a:ext uri="{FF2B5EF4-FFF2-40B4-BE49-F238E27FC236}">
                <a16:creationId xmlns:a16="http://schemas.microsoft.com/office/drawing/2014/main" id="{5DECD7FC-94AE-497C-9174-DD60E0186570}"/>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Proposition 8(i)–(iii)，pp. 15–16；保留原文</a:t>
            </a:r>
          </a:p>
        </p:txBody>
      </p:sp>
      <p:sp>
        <p:nvSpPr>
          <p:cNvPr id="5" name="解释-3">
            <a:extLst xmlns:a="http://schemas.openxmlformats.org/drawingml/2006/main">
              <a:ext uri="{FF2B5EF4-FFF2-40B4-BE49-F238E27FC236}">
                <a16:creationId xmlns:a16="http://schemas.microsoft.com/office/drawing/2014/main" id="{7812206F-462C-461C-9DF8-B38F6C655AC2}"/>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39</a:t>
            </a:r>
          </a:p>
        </p:txBody>
      </p:sp>
    </p:spTree>
    <p:extLst>
      <p:ext uri="{BB962C8B-B14F-4D97-AF65-F5344CB8AC3E}">
        <p14:creationId xmlns:p14="http://schemas.microsoft.com/office/powerpoint/2010/main" val="321964829"/>
      </p:ext>
    </p:extLst>
  </p:cSld>
</p:sld>
</file>

<file path=ppt/slides/slide40.xml><?xml version="1.0" encoding="utf-8"?>
<p:sld xmlns:p="http://schemas.openxmlformats.org/presentationml/2006/main">
  <p:cSld>
    <p:spTree>
      <p:nvGrpSpPr>
        <p:cNvPr id="1" name=""/>
        <p:cNvGrpSpPr/>
        <p:nvPr/>
      </p:nvGrpSpPr>
      <p:grpSpPr>
        <a:xfrm xmlns:a="http://schemas.openxmlformats.org/drawingml/2006/main"/>
      </p:grpSpPr>
      <p:sp>
        <p:nvSpPr>
          <p:cNvPr id="10" name="解释-0">
            <a:extLst xmlns:a="http://schemas.openxmlformats.org/drawingml/2006/main">
              <a:ext uri="{FF2B5EF4-FFF2-40B4-BE49-F238E27FC236}">
                <a16:creationId xmlns:a16="http://schemas.microsoft.com/office/drawing/2014/main" id="{AF6625CA-5201-4702-8EEB-24ACBC189810}"/>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附录：命题 8：中等成本区的策略反馈</a:t>
            </a:r>
          </a:p>
        </p:txBody>
      </p:sp>
      <p:sp>
        <p:nvSpPr>
          <p:cNvPr id="2" name="解释-1">
            <a:extLst xmlns:a="http://schemas.openxmlformats.org/drawingml/2006/main">
              <a:ext uri="{FF2B5EF4-FFF2-40B4-BE49-F238E27FC236}">
                <a16:creationId xmlns:a16="http://schemas.microsoft.com/office/drawing/2014/main" id="{93D98D6E-7D4B-4A17-BA59-7E348257CC8F}"/>
              </a:ext>
            </a:extLst>
          </p:cNvPr>
          <p:cNvSpPr>
            <a:spLocks xmlns:a="http://schemas.openxmlformats.org/drawingml/2006/main" noGrp="1"/>
          </p:cNvSpPr>
          <p:nvPr/>
        </p:nvSpPr>
        <p:spPr>
          <a:xfrm xmlns:a="http://schemas.openxmlformats.org/drawingml/2006/main">
            <a:off x="795528" y="2395728"/>
            <a:ext cx="10515600" cy="43891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1750" b="0">
                <a:solidFill>
                  <a:srgbClr val="111111"/>
                </a:solidFill>
                <a:latin typeface="Noto Sans CJK SC"/>
                <a:ea typeface="Noto Sans CJK SC"/>
                <a:cs typeface="Noto Sans CJK SC"/>
              </a:defRPr>
            </a:defPPr>
          </a:lstStyle>
          <a:p xmlns:a="http://schemas.openxmlformats.org/drawingml/2006/main">
            <a:pPr algn="l">
              <a:lnSpc>
                <a:spcPct val="108000"/>
              </a:lnSpc>
              <a:buNone/>
              <a:defRPr sz="1750" b="0">
                <a:solidFill>
                  <a:srgbClr val="111111"/>
                </a:solidFill>
                <a:latin typeface="Noto Sans CJK SC"/>
                <a:ea typeface="Noto Sans CJK SC"/>
                <a:cs typeface="Noto Sans CJK SC"/>
              </a:defRPr>
            </a:pPr>
            <a:r>
              <a:rPr sz="1750" b="0">
                <a:solidFill>
                  <a:srgbClr val="111111"/>
                </a:solidFill>
                <a:latin typeface="Noto Sans CJK SC"/>
                <a:ea typeface="Noto Sans CJK SC"/>
                <a:cs typeface="Noto Sans CJK SC"/>
              </a:rPr>
              <a:t>成本区域：(Dβ−Dα)/2 &lt; Δs &lt; Δr &lt; Dβ/2。式中 [ ] 对应较低 ΠS；ε 足够小。</a:t>
            </a:r>
          </a:p>
        </p:txBody>
      </p:sp>
      <p:pic>
        <p:nvPicPr>
          <p:cNvPr id="3" name="">
            <a:extLst xmlns:a="http://schemas.openxmlformats.org/drawingml/2006/main">
              <a:ext uri="{FF2B5EF4-FFF2-40B4-BE49-F238E27FC236}">
                <a16:creationId xmlns:a16="http://schemas.microsoft.com/office/drawing/2014/main" id="{A491D60E-DAAA-47BC-933B-6E83853FD5B4}"/>
              </a:ext>
            </a:extLst>
          </p:cNvPr>
          <p:cNvPicPr>
            <a:picLocks xmlns:a="http://schemas.openxmlformats.org/drawingml/2006/main" noChangeAspect="1"/>
          </p:cNvPicPr>
          <p:nvPr/>
        </p:nvPicPr>
        <p:blipFill>
          <a:blip xmlns:r="http://schemas.openxmlformats.org/officeDocument/2006/relationships" xmlns:a="http://schemas.openxmlformats.org/drawingml/2006/main" r:embed="Rc08fa84444464461"/>
          <a:stretch xmlns:a="http://schemas.openxmlformats.org/drawingml/2006/main"/>
        </p:blipFill>
        <p:spPr>
          <a:xfrm xmlns:a="http://schemas.openxmlformats.org/drawingml/2006/main">
            <a:off x="4778829" y="2926080"/>
            <a:ext cx="2640439" cy="438912"/>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A20042E3-E41A-417B-99DA-C438BFF0FDE8}"/>
              </a:ext>
            </a:extLst>
          </p:cNvPr>
          <p:cNvPicPr>
            <a:picLocks xmlns:a="http://schemas.openxmlformats.org/drawingml/2006/main" noChangeAspect="1"/>
          </p:cNvPicPr>
          <p:nvPr/>
        </p:nvPicPr>
        <p:blipFill>
          <a:blip xmlns:r="http://schemas.openxmlformats.org/officeDocument/2006/relationships" xmlns:a="http://schemas.openxmlformats.org/drawingml/2006/main" r:embed="R3d9b6d64bb634f57"/>
          <a:stretch xmlns:a="http://schemas.openxmlformats.org/drawingml/2006/main"/>
        </p:blipFill>
        <p:spPr>
          <a:xfrm xmlns:a="http://schemas.openxmlformats.org/drawingml/2006/main">
            <a:off x="1914289" y="3529584"/>
            <a:ext cx="8369518" cy="621792"/>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027ABBA5-2982-4FF0-BB01-6107AEBE98AE}"/>
              </a:ext>
            </a:extLst>
          </p:cNvPr>
          <p:cNvPicPr>
            <a:picLocks xmlns:a="http://schemas.openxmlformats.org/drawingml/2006/main" noChangeAspect="1"/>
          </p:cNvPicPr>
          <p:nvPr/>
        </p:nvPicPr>
        <p:blipFill>
          <a:blip xmlns:r="http://schemas.openxmlformats.org/officeDocument/2006/relationships" xmlns:a="http://schemas.openxmlformats.org/drawingml/2006/main" r:embed="Rf5760902fa2e4a1f"/>
          <a:stretch xmlns:a="http://schemas.openxmlformats.org/drawingml/2006/main"/>
        </p:blipFill>
        <p:spPr>
          <a:xfrm xmlns:a="http://schemas.openxmlformats.org/drawingml/2006/main">
            <a:off x="1914289" y="4297680"/>
            <a:ext cx="8369518" cy="621792"/>
          </a:xfrm>
          <a:prstGeom xmlns:a="http://schemas.openxmlformats.org/drawingml/2006/main" prst="rect">
            <a:avLst/>
          </a:prstGeom>
        </p:spPr>
      </p:pic>
      <p:pic>
        <p:nvPicPr>
          <p:cNvPr id="6" name="">
            <a:extLst xmlns:a="http://schemas.openxmlformats.org/drawingml/2006/main">
              <a:ext uri="{FF2B5EF4-FFF2-40B4-BE49-F238E27FC236}">
                <a16:creationId xmlns:a16="http://schemas.microsoft.com/office/drawing/2014/main" id="{BD21C8A9-4CD4-4858-958E-B54782DFA933}"/>
              </a:ext>
            </a:extLst>
          </p:cNvPr>
          <p:cNvPicPr>
            <a:picLocks xmlns:a="http://schemas.openxmlformats.org/drawingml/2006/main" noChangeAspect="1"/>
          </p:cNvPicPr>
          <p:nvPr/>
        </p:nvPicPr>
        <p:blipFill>
          <a:blip xmlns:r="http://schemas.openxmlformats.org/officeDocument/2006/relationships" xmlns:a="http://schemas.openxmlformats.org/drawingml/2006/main" r:embed="R1f93c4df86fd4837"/>
          <a:stretch xmlns:a="http://schemas.openxmlformats.org/drawingml/2006/main"/>
        </p:blipFill>
        <p:spPr>
          <a:xfrm xmlns:a="http://schemas.openxmlformats.org/drawingml/2006/main">
            <a:off x="2779534" y="5065776"/>
            <a:ext cx="6639028" cy="621792"/>
          </a:xfrm>
          <a:prstGeom xmlns:a="http://schemas.openxmlformats.org/drawingml/2006/main" prst="rect">
            <a:avLst/>
          </a:prstGeom>
        </p:spPr>
      </p:pic>
      <p:pic>
        <p:nvPicPr>
          <p:cNvPr id="7" name="">
            <a:extLst xmlns:a="http://schemas.openxmlformats.org/drawingml/2006/main">
              <a:ext uri="{FF2B5EF4-FFF2-40B4-BE49-F238E27FC236}">
                <a16:creationId xmlns:a16="http://schemas.microsoft.com/office/drawing/2014/main" id="{1B1C6983-C2EC-4FEF-897F-AFDCFB37660A}"/>
              </a:ext>
            </a:extLst>
          </p:cNvPr>
          <p:cNvPicPr>
            <a:picLocks xmlns:a="http://schemas.openxmlformats.org/drawingml/2006/main" noChangeAspect="1"/>
          </p:cNvPicPr>
          <p:nvPr/>
        </p:nvPicPr>
        <p:blipFill>
          <a:blip xmlns:r="http://schemas.openxmlformats.org/officeDocument/2006/relationships" xmlns:a="http://schemas.openxmlformats.org/drawingml/2006/main" r:embed="R5adae839eada4b39"/>
          <a:stretch xmlns:a="http://schemas.openxmlformats.org/drawingml/2006/main"/>
        </p:blipFill>
        <p:spPr>
          <a:xfrm xmlns:a="http://schemas.openxmlformats.org/drawingml/2006/main">
            <a:off x="2966065" y="5943600"/>
            <a:ext cx="6265967" cy="429768"/>
          </a:xfrm>
          <a:prstGeom xmlns:a="http://schemas.openxmlformats.org/drawingml/2006/main" prst="rect">
            <a:avLst/>
          </a:prstGeom>
        </p:spPr>
      </p:pic>
      <p:sp>
        <p:nvSpPr>
          <p:cNvPr id="8" name="解释-2">
            <a:extLst xmlns:a="http://schemas.openxmlformats.org/drawingml/2006/main">
              <a:ext uri="{FF2B5EF4-FFF2-40B4-BE49-F238E27FC236}">
                <a16:creationId xmlns:a16="http://schemas.microsoft.com/office/drawing/2014/main" id="{A5EA68B9-0B9D-4F2E-B83C-61F69AD274DF}"/>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Proposition 8(iv)，p. 16；按原文公式重排</a:t>
            </a:r>
          </a:p>
        </p:txBody>
      </p:sp>
      <p:sp>
        <p:nvSpPr>
          <p:cNvPr id="9" name="解释-3">
            <a:extLst xmlns:a="http://schemas.openxmlformats.org/drawingml/2006/main">
              <a:ext uri="{FF2B5EF4-FFF2-40B4-BE49-F238E27FC236}">
                <a16:creationId xmlns:a16="http://schemas.microsoft.com/office/drawing/2014/main" id="{A31E750F-24E6-4753-ABB2-D6D5ED2C97BE}"/>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40</a:t>
            </a:r>
          </a:p>
        </p:txBody>
      </p:sp>
    </p:spTree>
    <p:extLst>
      <p:ext uri="{BB962C8B-B14F-4D97-AF65-F5344CB8AC3E}">
        <p14:creationId xmlns:p14="http://schemas.microsoft.com/office/powerpoint/2010/main" val="1512543380"/>
      </p:ext>
    </p:extLst>
  </p:cSld>
</p:sld>
</file>

<file path=ppt/slides/slide41.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1955F7C1-E2DD-4DBC-ADAF-3148C6C25078}"/>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附录：命题 10：内生预算的完整分区</a:t>
            </a:r>
          </a:p>
        </p:txBody>
      </p:sp>
      <p:pic>
        <p:nvPicPr>
          <p:cNvPr id="2" name="">
            <a:extLst xmlns:a="http://schemas.openxmlformats.org/drawingml/2006/main">
              <a:ext uri="{FF2B5EF4-FFF2-40B4-BE49-F238E27FC236}">
                <a16:creationId xmlns:a16="http://schemas.microsoft.com/office/drawing/2014/main" id="{E5602831-5F86-4FEC-9DC1-1686E7A13844}"/>
              </a:ext>
            </a:extLst>
          </p:cNvPr>
          <p:cNvPicPr>
            <a:picLocks xmlns:a="http://schemas.openxmlformats.org/drawingml/2006/main" noChangeAspect="1"/>
          </p:cNvPicPr>
          <p:nvPr/>
        </p:nvPicPr>
        <p:blipFill>
          <a:blip xmlns:r="http://schemas.openxmlformats.org/officeDocument/2006/relationships" xmlns:a="http://schemas.openxmlformats.org/drawingml/2006/main" r:embed="R4c1ed8c6386f4215"/>
          <a:stretch xmlns:a="http://schemas.openxmlformats.org/drawingml/2006/main"/>
        </p:blipFill>
        <p:spPr>
          <a:xfrm xmlns:a="http://schemas.openxmlformats.org/drawingml/2006/main">
            <a:off x="1863876" y="2350008"/>
            <a:ext cx="3797760" cy="3858768"/>
          </a:xfrm>
          <a:prstGeom xmlns:a="http://schemas.openxmlformats.org/drawingml/2006/main" prst="rect">
            <a:avLst/>
          </a:prstGeom>
        </p:spPr>
      </p:pic>
      <p:sp>
        <p:nvSpPr>
          <p:cNvPr id="3" name="解释-1">
            <a:extLst xmlns:a="http://schemas.openxmlformats.org/drawingml/2006/main">
              <a:ext uri="{FF2B5EF4-FFF2-40B4-BE49-F238E27FC236}">
                <a16:creationId xmlns:a16="http://schemas.microsoft.com/office/drawing/2014/main" id="{F1DFA628-738F-499C-8FFA-6B2538F1B88C}"/>
              </a:ext>
            </a:extLst>
          </p:cNvPr>
          <p:cNvSpPr>
            <a:spLocks xmlns:a="http://schemas.openxmlformats.org/drawingml/2006/main" noGrp="1"/>
          </p:cNvSpPr>
          <p:nvPr/>
        </p:nvSpPr>
        <p:spPr>
          <a:xfrm xmlns:a="http://schemas.openxmlformats.org/drawingml/2006/main">
            <a:off x="7004304" y="2560320"/>
            <a:ext cx="4343400" cy="3364992"/>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00" b="0">
                <a:solidFill>
                  <a:srgbClr val="111111"/>
                </a:solidFill>
                <a:latin typeface="Noto Sans CJK SC"/>
                <a:ea typeface="Noto Sans CJK SC"/>
                <a:cs typeface="Noto Sans CJK SC"/>
              </a:defRPr>
            </a:defPPr>
          </a:lstStyle>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内点候选：A*=w/c</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预算关系：B*=c(A*)²/2</a:t>
            </a:r>
          </a:p>
          <a:p xmlns:a="http://schemas.openxmlformats.org/drawingml/2006/main">
            <a:r>
              <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使用前检查：</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审计是否值得启动。</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所选分支是否自洽。</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e &lt; A* ≤ 1。</a:t>
            </a:r>
          </a:p>
          <a:p xmlns:a="http://schemas.openxmlformats.org/drawingml/2006/main">
            <a:pPr algn="l">
              <a:lnSpc>
                <a:spcPct val="108000"/>
              </a:lnSpc>
              <a:buNone/>
              <a:defRPr sz="2000" b="0">
                <a:solidFill>
                  <a:srgbClr val="111111"/>
                </a:solidFill>
                <a:latin typeface="Noto Sans CJK SC"/>
                <a:ea typeface="Noto Sans CJK SC"/>
                <a:cs typeface="Noto Sans CJK SC"/>
              </a:defRPr>
            </a:pPr>
            <a:r>
              <a:rPr sz="2000" b="0">
                <a:solidFill>
                  <a:srgbClr val="111111"/>
                </a:solidFill>
                <a:latin typeface="Noto Sans CJK SC"/>
                <a:ea typeface="Noto Sans CJK SC"/>
                <a:cs typeface="Noto Sans CJK SC"/>
              </a:rPr>
              <a:t>与边界方案比较净收益。</a:t>
            </a:r>
          </a:p>
        </p:txBody>
      </p:sp>
      <p:sp>
        <p:nvSpPr>
          <p:cNvPr id="4" name="解释-2">
            <a:extLst xmlns:a="http://schemas.openxmlformats.org/drawingml/2006/main">
              <a:ext uri="{FF2B5EF4-FFF2-40B4-BE49-F238E27FC236}">
                <a16:creationId xmlns:a16="http://schemas.microsoft.com/office/drawing/2014/main" id="{7A3EB3BF-E12E-4171-9E31-C6ADE366F0B6}"/>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Proposition 10，p. 17；保留原文</a:t>
            </a:r>
          </a:p>
        </p:txBody>
      </p:sp>
      <p:sp>
        <p:nvSpPr>
          <p:cNvPr id="5" name="解释-3">
            <a:extLst xmlns:a="http://schemas.openxmlformats.org/drawingml/2006/main">
              <a:ext uri="{FF2B5EF4-FFF2-40B4-BE49-F238E27FC236}">
                <a16:creationId xmlns:a16="http://schemas.microsoft.com/office/drawing/2014/main" id="{DB019E9A-EE83-4EAA-9890-FB758072C0BB}"/>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41</a:t>
            </a:r>
          </a:p>
        </p:txBody>
      </p:sp>
    </p:spTree>
    <p:extLst>
      <p:ext uri="{BB962C8B-B14F-4D97-AF65-F5344CB8AC3E}">
        <p14:creationId xmlns:p14="http://schemas.microsoft.com/office/powerpoint/2010/main" val="1302145800"/>
      </p:ext>
    </p:extLst>
  </p:cSld>
</p:sld>
</file>

<file path=ppt/slides/slide42.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B6431394-6E64-42A3-9522-09E7EEC49E02}"/>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附录：命题 1 的完整成本分区</a:t>
            </a:r>
          </a:p>
        </p:txBody>
      </p:sp>
      <p:graphicFrame>
        <p:nvGraphicFramePr>
          <p:cNvPr id="2" name="">
            <a:extLst xmlns:a="http://schemas.openxmlformats.org/drawingml/2006/main">
              <a:ext uri="{FF2B5EF4-FFF2-40B4-BE49-F238E27FC236}">
                <a16:creationId xmlns:a16="http://schemas.microsoft.com/office/drawing/2014/main" id="{2D6EABD0-5676-4CE7-B9F5-32FB58B24C1A}"/>
              </a:ext>
            </a:extLst>
          </p:cNvPr>
          <p:cNvGraphicFramePr/>
          <p:nvPr/>
        </p:nvGraphicFramePr>
        <p:xfrm>
          <a:off xmlns:a="http://schemas.openxmlformats.org/drawingml/2006/main" x="609600" y="1933575"/>
          <a:ext xmlns:a="http://schemas.openxmlformats.org/drawingml/2006/main" cx="10972800" cy="3209925"/>
        </p:xfrm>
        <a:graphic xmlns:a="http://schemas.openxmlformats.org/drawingml/2006/main">
          <a:graphicData uri="http://schemas.openxmlformats.org/drawingml/2006/table">
            <a:tbl>
              <a:tblPr firstRow="1" bandRow="0"/>
              <a:tblGrid>
                <a:gridCol w="4552950"/>
                <a:gridCol w="3714750"/>
                <a:gridCol w="2705100"/>
              </a:tblGrid>
              <a:tr h="641985">
                <a:tc>
                  <a:txBody>
                    <a:bodyPr wrap="square">
                      <a:noAutofit/>
                    </a:bodyPr>
                    <a:lstStyle/>
                    <a:p>
                      <a:pPr algn="l">
                        <a:lnSpc>
                          <a:spcPct val="100000"/>
                        </a:lnSpc>
                        <a:buNone/>
                      </a:pPr>
                      <a:r>
                        <a:rPr sz="1800" b="1">
                          <a:solidFill>
                            <a:srgbClr val="587C95"/>
                          </a:solidFill>
                          <a:latin typeface="Noto Sans CJK SC"/>
                          <a:ea typeface="Noto Sans CJK SC"/>
                          <a:cs typeface="Noto Sans CJK SC"/>
                        </a:rPr>
                        <a:t>成本区域</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比较条件</a:t>
                      </a:r>
                    </a:p>
                  </a:txBody>
                  <a:tcPr marL="95250" marR="95250" marT="66675" marB="66675" anchor="ctr">
                    <a:solidFill>
                      <a:srgbClr val="EDF2F5"/>
                    </a:solidFill>
                  </a:tcPr>
                </a:tc>
                <a:tc>
                  <a:txBody>
                    <a:bodyPr wrap="square">
                      <a:noAutofit/>
                    </a:bodyPr>
                    <a:lstStyle/>
                    <a:p>
                      <a:pPr algn="l">
                        <a:lnSpc>
                          <a:spcPct val="100000"/>
                        </a:lnSpc>
                        <a:buNone/>
                      </a:pPr>
                      <a:r>
                        <a:rPr sz="1800" b="1">
                          <a:solidFill>
                            <a:srgbClr val="587C95"/>
                          </a:solidFill>
                          <a:latin typeface="Noto Sans CJK SC"/>
                          <a:ea typeface="Noto Sans CJK SC"/>
                          <a:cs typeface="Noto Sans CJK SC"/>
                        </a:rPr>
                        <a:t>最优政策</a:t>
                      </a:r>
                    </a:p>
                  </a:txBody>
                  <a:tcPr marL="95250" marR="95250" marT="66675" marB="66675" anchor="ctr">
                    <a:solidFill>
                      <a:srgbClr val="EDF2F5"/>
                    </a:solidFill>
                  </a:tcPr>
                </a:tc>
              </a:tr>
              <a:tr h="641985">
                <a:tc>
                  <a:txBody>
                    <a:bodyPr wrap="square">
                      <a:noAutofit/>
                    </a:bodyPr>
                    <a:lstStyle/>
                    <a:p>
                      <a:pPr algn="l">
                        <a:lnSpc>
                          <a:spcPct val="100000"/>
                        </a:lnSpc>
                        <a:buNone/>
                      </a:pPr>
                      <a:r>
                        <a:rPr sz="1800" b="0">
                          <a:solidFill>
                            <a:srgbClr val="111111"/>
                          </a:solidFill>
                          <a:latin typeface="Noto Sans CJK SC"/>
                          <a:ea typeface="Noto Sans CJK SC"/>
                          <a:cs typeface="Noto Sans CJK SC"/>
                        </a:rPr>
                        <a:t>(i) Δs &gt; Δr</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Δr &gt; Dβ/2；反之</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N；反之 C</a:t>
                      </a:r>
                    </a:p>
                  </a:txBody>
                  <a:tcPr marL="95250" marR="95250" marT="66675" marB="66675" anchor="ctr">
                    <a:solidFill>
                      <a:srgbClr val="FFFFFF"/>
                    </a:solidFill>
                  </a:tcPr>
                </a:tc>
              </a:tr>
              <a:tr h="641985">
                <a:tc>
                  <a:txBody>
                    <a:bodyPr wrap="square">
                      <a:noAutofit/>
                    </a:bodyPr>
                    <a:lstStyle/>
                    <a:p>
                      <a:pPr algn="l">
                        <a:lnSpc>
                          <a:spcPct val="100000"/>
                        </a:lnSpc>
                        <a:buNone/>
                      </a:pPr>
                      <a:r>
                        <a:rPr sz="1800" b="0">
                          <a:solidFill>
                            <a:srgbClr val="111111"/>
                          </a:solidFill>
                          <a:latin typeface="Noto Sans CJK SC"/>
                          <a:ea typeface="Noto Sans CJK SC"/>
                          <a:cs typeface="Noto Sans CJK SC"/>
                        </a:rPr>
                        <a:t>(ii) Δr &gt; Δs，且</a:t>
                      </a:r>
                    </a:p>
                    <a:p>
                      <a:pPr algn="l">
                        <a:lnSpc>
                          <a:spcPct val="100000"/>
                        </a:lnSpc>
                        <a:buNone/>
                      </a:pPr>
                      <a:r>
                        <a:rPr sz="1800" b="0">
                          <a:solidFill>
                            <a:srgbClr val="111111"/>
                          </a:solidFill>
                          <a:latin typeface="Noto Sans CJK SC"/>
                          <a:ea typeface="Noto Sans CJK SC"/>
                          <a:cs typeface="Noto Sans CJK SC"/>
                        </a:rPr>
                        <a:t>Δr &gt; min{Δs+Dα/2,Dβ/2}</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Δs &gt; (Dβ−Dα)/2；反之</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N；反之 C</a:t>
                      </a:r>
                    </a:p>
                  </a:txBody>
                  <a:tcPr marL="95250" marR="95250" marT="66675" marB="66675" anchor="ctr">
                    <a:solidFill>
                      <a:srgbClr val="FFFFFF"/>
                    </a:solidFill>
                  </a:tcPr>
                </a:tc>
              </a:tr>
              <a:tr h="641985">
                <a:tc>
                  <a:txBody>
                    <a:bodyPr wrap="square">
                      <a:noAutofit/>
                    </a:bodyPr>
                    <a:lstStyle/>
                    <a:p>
                      <a:pPr algn="l">
                        <a:lnSpc>
                          <a:spcPct val="100000"/>
                        </a:lnSpc>
                        <a:buNone/>
                      </a:pPr>
                      <a:r>
                        <a:rPr sz="1800" b="0">
                          <a:solidFill>
                            <a:srgbClr val="111111"/>
                          </a:solidFill>
                          <a:latin typeface="Noto Sans CJK SC"/>
                          <a:ea typeface="Noto Sans CJK SC"/>
                          <a:cs typeface="Noto Sans CJK SC"/>
                        </a:rPr>
                        <a:t>(iii.a) Δs &lt; Δr &lt; min{Δs+Dα/2,Dβ/2}</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Δs &lt; (Dβ−Dα)/2</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始终 C</a:t>
                      </a:r>
                    </a:p>
                  </a:txBody>
                  <a:tcPr marL="95250" marR="95250" marT="66675" marB="66675" anchor="ctr">
                    <a:solidFill>
                      <a:srgbClr val="FFFFFF"/>
                    </a:solidFill>
                  </a:tcPr>
                </a:tc>
              </a:tr>
              <a:tr h="641985">
                <a:tc>
                  <a:txBody>
                    <a:bodyPr wrap="square">
                      <a:noAutofit/>
                    </a:bodyPr>
                    <a:lstStyle/>
                    <a:p>
                      <a:pPr algn="l">
                        <a:lnSpc>
                          <a:spcPct val="100000"/>
                        </a:lnSpc>
                        <a:buNone/>
                      </a:pPr>
                      <a:r>
                        <a:rPr sz="1800" b="0">
                          <a:solidFill>
                            <a:srgbClr val="111111"/>
                          </a:solidFill>
                          <a:latin typeface="Noto Sans CJK SC"/>
                          <a:ea typeface="Noto Sans CJK SC"/>
                          <a:cs typeface="Noto Sans CJK SC"/>
                        </a:rPr>
                        <a:t>(iii.b) 同一切换区</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Δs &gt; (Dβ−Dα)/2；</a:t>
                      </a:r>
                    </a:p>
                    <a:p>
                      <a:pPr algn="l">
                        <a:lnSpc>
                          <a:spcPct val="100000"/>
                        </a:lnSpc>
                        <a:buNone/>
                      </a:pPr>
                      <a:r>
                        <a:rPr sz="1800" b="0">
                          <a:solidFill>
                            <a:srgbClr val="111111"/>
                          </a:solidFill>
                          <a:latin typeface="Noto Sans CJK SC"/>
                          <a:ea typeface="Noto Sans CJK SC"/>
                          <a:cs typeface="Noto Sans CJK SC"/>
                        </a:rPr>
                        <a:t>b0 &gt; 双横线阈值；反之</a:t>
                      </a:r>
                    </a:p>
                  </a:txBody>
                  <a:tcPr marL="95250" marR="95250" marT="66675" marB="66675" anchor="ctr">
                    <a:solidFill>
                      <a:srgbClr val="FFFFFF"/>
                    </a:solidFill>
                  </a:tcPr>
                </a:tc>
                <a:tc>
                  <a:txBody>
                    <a:bodyPr wrap="square">
                      <a:noAutofit/>
                    </a:bodyPr>
                    <a:lstStyle/>
                    <a:p>
                      <a:pPr algn="l">
                        <a:lnSpc>
                          <a:spcPct val="100000"/>
                        </a:lnSpc>
                        <a:buNone/>
                      </a:pPr>
                      <a:r>
                        <a:rPr sz="1800" b="0">
                          <a:solidFill>
                            <a:srgbClr val="111111"/>
                          </a:solidFill>
                          <a:latin typeface="Noto Sans CJK SC"/>
                          <a:ea typeface="Noto Sans CJK SC"/>
                          <a:cs typeface="Noto Sans CJK SC"/>
                        </a:rPr>
                        <a:t>N；反之 C</a:t>
                      </a:r>
                    </a:p>
                  </a:txBody>
                  <a:tcPr marL="95250" marR="95250" marT="66675" marB="66675" anchor="ctr">
                    <a:solidFill>
                      <a:srgbClr val="FFFFFF"/>
                    </a:solidFill>
                  </a:tcPr>
                </a:tc>
              </a:tr>
            </a:tbl>
          </a:graphicData>
        </a:graphic>
      </p:graphicFrame>
      <p:pic>
        <p:nvPicPr>
          <p:cNvPr id="3" name="">
            <a:extLst xmlns:a="http://schemas.openxmlformats.org/drawingml/2006/main">
              <a:ext uri="{FF2B5EF4-FFF2-40B4-BE49-F238E27FC236}">
                <a16:creationId xmlns:a16="http://schemas.microsoft.com/office/drawing/2014/main" id="{4AFB2E2F-D79A-4F50-BCFC-821095E9B227}"/>
              </a:ext>
            </a:extLst>
          </p:cNvPr>
          <p:cNvPicPr>
            <a:picLocks xmlns:a="http://schemas.openxmlformats.org/drawingml/2006/main" noChangeAspect="1"/>
          </p:cNvPicPr>
          <p:nvPr/>
        </p:nvPicPr>
        <p:blipFill>
          <a:blip xmlns:r="http://schemas.openxmlformats.org/officeDocument/2006/relationships" xmlns:a="http://schemas.openxmlformats.org/drawingml/2006/main" r:embed="R9108e3bf17a64b34"/>
          <a:stretch xmlns:a="http://schemas.openxmlformats.org/drawingml/2006/main"/>
        </p:blipFill>
        <p:spPr>
          <a:xfrm xmlns:a="http://schemas.openxmlformats.org/drawingml/2006/main">
            <a:off x="4588146" y="5524500"/>
            <a:ext cx="3015709" cy="723900"/>
          </a:xfrm>
          <a:prstGeom xmlns:a="http://schemas.openxmlformats.org/drawingml/2006/main" prst="rect">
            <a:avLst/>
          </a:prstGeom>
        </p:spPr>
      </p:pic>
      <p:sp>
        <p:nvSpPr>
          <p:cNvPr id="4" name="解释-1">
            <a:extLst xmlns:a="http://schemas.openxmlformats.org/drawingml/2006/main">
              <a:ext uri="{FF2B5EF4-FFF2-40B4-BE49-F238E27FC236}">
                <a16:creationId xmlns:a16="http://schemas.microsoft.com/office/drawing/2014/main" id="{1DCA9F3C-AA0C-494A-9F8C-2D9EDFAB8EE3}"/>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§4，pp. 7–9，Proposition 1</a:t>
            </a:r>
          </a:p>
        </p:txBody>
      </p:sp>
      <p:sp>
        <p:nvSpPr>
          <p:cNvPr id="5" name="解释-2">
            <a:extLst xmlns:a="http://schemas.openxmlformats.org/drawingml/2006/main">
              <a:ext uri="{FF2B5EF4-FFF2-40B4-BE49-F238E27FC236}">
                <a16:creationId xmlns:a16="http://schemas.microsoft.com/office/drawing/2014/main" id="{FA227E30-04AF-45EC-8284-0E0584FD809F}"/>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42</a:t>
            </a:r>
          </a:p>
        </p:txBody>
      </p:sp>
    </p:spTree>
    <p:extLst>
      <p:ext uri="{BB962C8B-B14F-4D97-AF65-F5344CB8AC3E}">
        <p14:creationId xmlns:p14="http://schemas.microsoft.com/office/powerpoint/2010/main" val="1204470176"/>
      </p:ext>
    </p:extLst>
  </p:cSld>
</p:sld>
</file>

<file path=ppt/slides/slide43.xml><?xml version="1.0" encoding="utf-8"?>
<p:sld xmlns:p="http://schemas.openxmlformats.org/presentationml/2006/main">
  <p:cSld>
    <p:spTree>
      <p:nvGrpSpPr>
        <p:cNvPr id="1" name=""/>
        <p:cNvGrpSpPr/>
        <p:nvPr/>
      </p:nvGrpSpPr>
      <p:grpSpPr>
        <a:xfrm xmlns:a="http://schemas.openxmlformats.org/drawingml/2006/main"/>
      </p:grpSpPr>
      <p:sp>
        <p:nvSpPr>
          <p:cNvPr id="6" name="解释-0">
            <a:extLst xmlns:a="http://schemas.openxmlformats.org/drawingml/2006/main">
              <a:ext uri="{FF2B5EF4-FFF2-40B4-BE49-F238E27FC236}">
                <a16:creationId xmlns:a16="http://schemas.microsoft.com/office/drawing/2014/main" id="{D828CD79-2C09-4C75-B2E7-6506639250FC}"/>
              </a:ext>
            </a:extLst>
          </p:cNvPr>
          <p:cNvSpPr>
            <a:spLocks xmlns:a="http://schemas.openxmlformats.org/drawingml/2006/main" noGrp="1"/>
          </p:cNvSpPr>
          <p:nvPr/>
        </p:nvSpPr>
        <p:spPr>
          <a:xfrm xmlns:a="http://schemas.openxmlformats.org/drawingml/2006/main">
            <a:off x="1657350" y="695325"/>
            <a:ext cx="100965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925" b="1">
                <a:solidFill>
                  <a:srgbClr val="111111"/>
                </a:solidFill>
                <a:latin typeface="Noto Sans CJK SC"/>
                <a:ea typeface="Noto Sans CJK SC"/>
                <a:cs typeface="Noto Sans CJK SC"/>
              </a:defRPr>
            </a:defPPr>
          </a:lstStyle>
          <a:p xmlns:a="http://schemas.openxmlformats.org/drawingml/2006/main">
            <a:pPr algn="l">
              <a:lnSpc>
                <a:spcPct val="108000"/>
              </a:lnSpc>
              <a:buNone/>
              <a:defRPr sz="2925" b="1">
                <a:solidFill>
                  <a:srgbClr val="111111"/>
                </a:solidFill>
                <a:latin typeface="Noto Sans CJK SC"/>
                <a:ea typeface="Noto Sans CJK SC"/>
                <a:cs typeface="Noto Sans CJK SC"/>
              </a:defRPr>
            </a:pPr>
            <a:r>
              <a:rPr sz="2925" b="1">
                <a:solidFill>
                  <a:srgbClr val="111111"/>
                </a:solidFill>
                <a:latin typeface="Noto Sans CJK SC"/>
                <a:ea typeface="Noto Sans CJK SC"/>
                <a:cs typeface="Noto Sans CJK SC"/>
              </a:rPr>
              <a:t>附录：推论 1 的额外损失与条件</a:t>
            </a:r>
          </a:p>
        </p:txBody>
      </p:sp>
      <p:pic>
        <p:nvPicPr>
          <p:cNvPr id="2" name="">
            <a:extLst xmlns:a="http://schemas.openxmlformats.org/drawingml/2006/main">
              <a:ext uri="{FF2B5EF4-FFF2-40B4-BE49-F238E27FC236}">
                <a16:creationId xmlns:a16="http://schemas.microsoft.com/office/drawing/2014/main" id="{8B43DDF5-991B-45D7-8674-AE135D48D0F6}"/>
              </a:ext>
            </a:extLst>
          </p:cNvPr>
          <p:cNvPicPr>
            <a:picLocks xmlns:a="http://schemas.openxmlformats.org/drawingml/2006/main" noChangeAspect="1"/>
          </p:cNvPicPr>
          <p:nvPr/>
        </p:nvPicPr>
        <p:blipFill>
          <a:blip xmlns:r="http://schemas.openxmlformats.org/officeDocument/2006/relationships" xmlns:a="http://schemas.openxmlformats.org/drawingml/2006/main" r:embed="Rd2f2dd0f53c44656"/>
          <a:stretch xmlns:a="http://schemas.openxmlformats.org/drawingml/2006/main"/>
        </p:blipFill>
        <p:spPr>
          <a:xfrm xmlns:a="http://schemas.openxmlformats.org/drawingml/2006/main">
            <a:off x="609600" y="1883764"/>
            <a:ext cx="10972800" cy="3004747"/>
          </a:xfrm>
          <a:prstGeom xmlns:a="http://schemas.openxmlformats.org/drawingml/2006/main" prst="rect">
            <a:avLst/>
          </a:prstGeom>
        </p:spPr>
      </p:pic>
      <p:sp>
        <p:nvSpPr>
          <p:cNvPr id="3" name="解释-1">
            <a:extLst xmlns:a="http://schemas.openxmlformats.org/drawingml/2006/main">
              <a:ext uri="{FF2B5EF4-FFF2-40B4-BE49-F238E27FC236}">
                <a16:creationId xmlns:a16="http://schemas.microsoft.com/office/drawing/2014/main" id="{E35159C9-9AA2-40E4-8D42-594C9DBC33A2}"/>
              </a:ext>
            </a:extLst>
          </p:cNvPr>
          <p:cNvSpPr>
            <a:spLocks xmlns:a="http://schemas.openxmlformats.org/drawingml/2006/main" noGrp="1"/>
          </p:cNvSpPr>
          <p:nvPr/>
        </p:nvSpPr>
        <p:spPr>
          <a:xfrm xmlns:a="http://schemas.openxmlformats.org/drawingml/2006/main">
            <a:off x="752475" y="5276850"/>
            <a:ext cx="10687050" cy="1057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2025" b="0">
                <a:solidFill>
                  <a:srgbClr val="111111"/>
                </a:solidFill>
                <a:latin typeface="Noto Sans CJK SC"/>
                <a:ea typeface="Noto Sans CJK SC"/>
                <a:cs typeface="Noto Sans CJK SC"/>
              </a:defRPr>
            </a:defPPr>
          </a:lstStyle>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损失 1：错误的 N/C 政策选择。</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损失 2：错误的整改/替换选择。</a:t>
            </a:r>
          </a:p>
          <a:p xmlns:a="http://schemas.openxmlformats.org/drawingml/2006/main">
            <a:pPr algn="l">
              <a:lnSpc>
                <a:spcPct val="108000"/>
              </a:lnSpc>
              <a:buNone/>
              <a:defRPr sz="2025" b="0">
                <a:solidFill>
                  <a:srgbClr val="111111"/>
                </a:solidFill>
                <a:latin typeface="Noto Sans CJK SC"/>
                <a:ea typeface="Noto Sans CJK SC"/>
                <a:cs typeface="Noto Sans CJK SC"/>
              </a:defRPr>
            </a:pPr>
            <a:r>
              <a:rPr sz="2025" b="0">
                <a:solidFill>
                  <a:srgbClr val="111111"/>
                </a:solidFill>
                <a:latin typeface="Noto Sans CJK SC"/>
                <a:ea typeface="Noto Sans CJK SC"/>
                <a:cs typeface="Noto Sans CJK SC"/>
              </a:rPr>
              <a:t>两个损失公式只在对应的成本和预算区域成立。</a:t>
            </a:r>
          </a:p>
        </p:txBody>
      </p:sp>
      <p:sp>
        <p:nvSpPr>
          <p:cNvPr id="4" name="解释-2">
            <a:extLst xmlns:a="http://schemas.openxmlformats.org/drawingml/2006/main">
              <a:ext uri="{FF2B5EF4-FFF2-40B4-BE49-F238E27FC236}">
                <a16:creationId xmlns:a16="http://schemas.microsoft.com/office/drawing/2014/main" id="{FADF7ADD-2495-41A3-A197-8FE773543D64}"/>
              </a:ext>
            </a:extLst>
          </p:cNvPr>
          <p:cNvSpPr>
            <a:spLocks xmlns:a="http://schemas.openxmlformats.org/drawingml/2006/main" noGrp="1"/>
          </p:cNvSpPr>
          <p:nvPr/>
        </p:nvSpPr>
        <p:spPr>
          <a:xfrm xmlns:a="http://schemas.openxmlformats.org/drawingml/2006/main">
            <a:off x="590550" y="6572250"/>
            <a:ext cx="105537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l">
              <a:defRPr sz="975" b="0">
                <a:solidFill>
                  <a:srgbClr val="6B747A"/>
                </a:solidFill>
                <a:latin typeface="Noto Sans CJK SC"/>
                <a:ea typeface="Noto Sans CJK SC"/>
                <a:cs typeface="Noto Sans CJK SC"/>
              </a:defRPr>
            </a:defPPr>
          </a:lstStyle>
          <a:p xmlns:a="http://schemas.openxmlformats.org/drawingml/2006/main">
            <a:pPr algn="l">
              <a:lnSpc>
                <a:spcPct val="108000"/>
              </a:lnSpc>
              <a:buNone/>
              <a:defRPr sz="975" b="0">
                <a:solidFill>
                  <a:srgbClr val="6B747A"/>
                </a:solidFill>
                <a:latin typeface="Noto Sans CJK SC"/>
                <a:ea typeface="Noto Sans CJK SC"/>
                <a:cs typeface="Noto Sans CJK SC"/>
              </a:defRPr>
            </a:pPr>
            <a:r>
              <a:rPr sz="975" b="0">
                <a:solidFill>
                  <a:srgbClr val="6B747A"/>
                </a:solidFill>
                <a:latin typeface="Noto Sans CJK SC"/>
                <a:ea typeface="Noto Sans CJK SC"/>
                <a:cs typeface="Noto Sans CJK SC"/>
              </a:rPr>
              <a:t>§4，p. 9，Corollary 1</a:t>
            </a:r>
          </a:p>
        </p:txBody>
      </p:sp>
      <p:sp>
        <p:nvSpPr>
          <p:cNvPr id="5" name="解释-3">
            <a:extLst xmlns:a="http://schemas.openxmlformats.org/drawingml/2006/main">
              <a:ext uri="{FF2B5EF4-FFF2-40B4-BE49-F238E27FC236}">
                <a16:creationId xmlns:a16="http://schemas.microsoft.com/office/drawing/2014/main" id="{DF193C06-C23F-4F5B-9042-F349C84DC772}"/>
              </a:ext>
            </a:extLst>
          </p:cNvPr>
          <p:cNvSpPr>
            <a:spLocks xmlns:a="http://schemas.openxmlformats.org/drawingml/2006/main" noGrp="1"/>
          </p:cNvSpPr>
          <p:nvPr/>
        </p:nvSpPr>
        <p:spPr>
          <a:xfrm xmlns:a="http://schemas.openxmlformats.org/drawingml/2006/main">
            <a:off x="11268075" y="6572250"/>
            <a:ext cx="44767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9525" tIns="9525" rIns="9525" bIns="9525" anchor="t">
            <a:noAutofit/>
          </a:bodyPr>
          <a:lstStyle xmlns:a="http://schemas.openxmlformats.org/drawingml/2006/main">
            <a:defPPr algn="r">
              <a:defRPr sz="975" b="0">
                <a:solidFill>
                  <a:srgbClr val="587C95"/>
                </a:solidFill>
                <a:latin typeface="Noto Sans CJK SC"/>
                <a:ea typeface="Noto Sans CJK SC"/>
                <a:cs typeface="Noto Sans CJK SC"/>
              </a:defRPr>
            </a:defPPr>
          </a:lstStyle>
          <a:p xmlns:a="http://schemas.openxmlformats.org/drawingml/2006/main">
            <a:pPr algn="r">
              <a:lnSpc>
                <a:spcPct val="108000"/>
              </a:lnSpc>
              <a:buNone/>
              <a:defRPr sz="975" b="0">
                <a:solidFill>
                  <a:srgbClr val="587C95"/>
                </a:solidFill>
                <a:latin typeface="Noto Sans CJK SC"/>
                <a:ea typeface="Noto Sans CJK SC"/>
                <a:cs typeface="Noto Sans CJK SC"/>
              </a:defRPr>
            </a:pPr>
            <a:r>
              <a:rPr sz="975" b="0">
                <a:solidFill>
                  <a:srgbClr val="587C95"/>
                </a:solidFill>
                <a:latin typeface="Noto Sans CJK SC"/>
                <a:ea typeface="Noto Sans CJK SC"/>
                <a:cs typeface="Noto Sans CJK SC"/>
              </a:rPr>
              <a:t>43</a:t>
            </a:r>
          </a:p>
        </p:txBody>
      </p:sp>
    </p:spTree>
    <p:extLst>
      <p:ext uri="{BB962C8B-B14F-4D97-AF65-F5344CB8AC3E}">
        <p14:creationId xmlns:p14="http://schemas.microsoft.com/office/powerpoint/2010/main" val="1352169140"/>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2026-10-13T08:00:28.2220000Z</dcterms:created>
  <dcterms:modified xsi:type="dcterms:W3CDTF">2026-10-13T08:00:28.2220000Z</dcterms:modified>
</coreProperties>
</file>